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slideLayout" Target="../slideLayouts/slideLayout1.xml"/><Relationship Id="rId2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image" Target="../media/image-3-32.png"/><Relationship Id="rId33" Type="http://schemas.openxmlformats.org/officeDocument/2006/relationships/image" Target="../media/image-3-33.png"/><Relationship Id="rId34" Type="http://schemas.openxmlformats.org/officeDocument/2006/relationships/slideLayout" Target="../slideLayouts/slideLayout1.xml"/><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image" Target="../media/image-4-25.png"/><Relationship Id="rId26" Type="http://schemas.openxmlformats.org/officeDocument/2006/relationships/image" Target="../media/image-4-26.png"/><Relationship Id="rId27" Type="http://schemas.openxmlformats.org/officeDocument/2006/relationships/slideLayout" Target="../slideLayouts/slideLayout1.xml"/><Relationship Id="rId2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slideLayout" Target="../slideLayouts/slideLayout1.xml"/><Relationship Id="rId2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image" Target="../media/image-6-25.png"/><Relationship Id="rId26" Type="http://schemas.openxmlformats.org/officeDocument/2006/relationships/image" Target="../media/image-6-26.png"/><Relationship Id="rId27" Type="http://schemas.openxmlformats.org/officeDocument/2006/relationships/image" Target="../media/image-6-27.png"/><Relationship Id="rId28" Type="http://schemas.openxmlformats.org/officeDocument/2006/relationships/image" Target="../media/image-6-28.png"/><Relationship Id="rId29" Type="http://schemas.openxmlformats.org/officeDocument/2006/relationships/image" Target="../media/image-6-29.png"/><Relationship Id="rId30" Type="http://schemas.openxmlformats.org/officeDocument/2006/relationships/image" Target="../media/image-6-30.png"/><Relationship Id="rId31" Type="http://schemas.openxmlformats.org/officeDocument/2006/relationships/image" Target="../media/image-6-31.png"/><Relationship Id="rId32" Type="http://schemas.openxmlformats.org/officeDocument/2006/relationships/image" Target="../media/image-6-32.png"/><Relationship Id="rId33" Type="http://schemas.openxmlformats.org/officeDocument/2006/relationships/image" Target="../media/image-6-33.png"/><Relationship Id="rId34" Type="http://schemas.openxmlformats.org/officeDocument/2006/relationships/image" Target="../media/image-6-34.png"/><Relationship Id="rId35" Type="http://schemas.openxmlformats.org/officeDocument/2006/relationships/image" Target="../media/image-6-35.png"/><Relationship Id="rId36" Type="http://schemas.openxmlformats.org/officeDocument/2006/relationships/image" Target="../media/image-6-36.png"/><Relationship Id="rId37" Type="http://schemas.openxmlformats.org/officeDocument/2006/relationships/image" Target="../media/image-6-37.png"/><Relationship Id="rId38" Type="http://schemas.openxmlformats.org/officeDocument/2006/relationships/image" Target="../media/image-6-38.png"/><Relationship Id="rId39" Type="http://schemas.openxmlformats.org/officeDocument/2006/relationships/image" Target="../media/image-6-39.png"/><Relationship Id="rId40" Type="http://schemas.openxmlformats.org/officeDocument/2006/relationships/image" Target="../media/image-6-40.png"/><Relationship Id="rId41" Type="http://schemas.openxmlformats.org/officeDocument/2006/relationships/image" Target="../media/image-6-41.png"/><Relationship Id="rId42" Type="http://schemas.openxmlformats.org/officeDocument/2006/relationships/image" Target="../media/image-6-42.png"/><Relationship Id="rId43" Type="http://schemas.openxmlformats.org/officeDocument/2006/relationships/image" Target="../media/image-6-43.png"/><Relationship Id="rId44" Type="http://schemas.openxmlformats.org/officeDocument/2006/relationships/image" Target="../media/image-6-44.png"/><Relationship Id="rId45" Type="http://schemas.openxmlformats.org/officeDocument/2006/relationships/image" Target="../media/image-6-45.png"/><Relationship Id="rId46" Type="http://schemas.openxmlformats.org/officeDocument/2006/relationships/slideLayout" Target="../slideLayouts/slideLayout1.xml"/><Relationship Id="rId4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image" Target="../media/image-7-28.png"/><Relationship Id="rId29" Type="http://schemas.openxmlformats.org/officeDocument/2006/relationships/image" Target="../media/image-7-29.png"/><Relationship Id="rId30" Type="http://schemas.openxmlformats.org/officeDocument/2006/relationships/image" Target="../media/image-7-30.png"/><Relationship Id="rId31" Type="http://schemas.openxmlformats.org/officeDocument/2006/relationships/slideLayout" Target="../slideLayouts/slideLayout1.xml"/><Relationship Id="rId3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slideLayout" Target="../slideLayouts/slideLayout1.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image" Target="../media/image-10-30.png"/><Relationship Id="rId31" Type="http://schemas.openxmlformats.org/officeDocument/2006/relationships/image" Target="../media/image-10-31.png"/><Relationship Id="rId32" Type="http://schemas.openxmlformats.org/officeDocument/2006/relationships/image" Target="../media/image-10-32.png"/><Relationship Id="rId33" Type="http://schemas.openxmlformats.org/officeDocument/2006/relationships/image" Target="../media/image-10-33.png"/><Relationship Id="rId34" Type="http://schemas.openxmlformats.org/officeDocument/2006/relationships/image" Target="../media/image-10-34.png"/><Relationship Id="rId35" Type="http://schemas.openxmlformats.org/officeDocument/2006/relationships/image" Target="../media/image-10-35.png"/><Relationship Id="rId36" Type="http://schemas.openxmlformats.org/officeDocument/2006/relationships/slideLayout" Target="../slideLayouts/slideLayout1.xml"/><Relationship Id="rId3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slideLayout" Target="../slideLayouts/slideLayout1.xml"/><Relationship Id="rId3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image" Target="../media/image-12-30.png"/><Relationship Id="rId31" Type="http://schemas.openxmlformats.org/officeDocument/2006/relationships/image" Target="../media/image-12-31.png"/><Relationship Id="rId32" Type="http://schemas.openxmlformats.org/officeDocument/2006/relationships/image" Target="../media/image-12-32.png"/><Relationship Id="rId33" Type="http://schemas.openxmlformats.org/officeDocument/2006/relationships/image" Target="../media/image-12-33.png"/><Relationship Id="rId34" Type="http://schemas.openxmlformats.org/officeDocument/2006/relationships/image" Target="../media/image-12-34.png"/><Relationship Id="rId35" Type="http://schemas.openxmlformats.org/officeDocument/2006/relationships/image" Target="../media/image-12-35.png"/><Relationship Id="rId36" Type="http://schemas.openxmlformats.org/officeDocument/2006/relationships/image" Target="../media/image-12-36.png"/><Relationship Id="rId37" Type="http://schemas.openxmlformats.org/officeDocument/2006/relationships/image" Target="../media/image-12-37.png"/><Relationship Id="rId38" Type="http://schemas.openxmlformats.org/officeDocument/2006/relationships/image" Target="../media/image-12-38.png"/><Relationship Id="rId39" Type="http://schemas.openxmlformats.org/officeDocument/2006/relationships/image" Target="../media/image-12-39.png"/><Relationship Id="rId40" Type="http://schemas.openxmlformats.org/officeDocument/2006/relationships/image" Target="../media/image-12-40.png"/><Relationship Id="rId41" Type="http://schemas.openxmlformats.org/officeDocument/2006/relationships/image" Target="../media/image-12-41.png"/><Relationship Id="rId42" Type="http://schemas.openxmlformats.org/officeDocument/2006/relationships/image" Target="../media/image-12-42.png"/><Relationship Id="rId43" Type="http://schemas.openxmlformats.org/officeDocument/2006/relationships/image" Target="../media/image-12-43.png"/><Relationship Id="rId44" Type="http://schemas.openxmlformats.org/officeDocument/2006/relationships/image" Target="../media/image-12-44.png"/><Relationship Id="rId45" Type="http://schemas.openxmlformats.org/officeDocument/2006/relationships/image" Target="../media/image-12-45.png"/><Relationship Id="rId46" Type="http://schemas.openxmlformats.org/officeDocument/2006/relationships/image" Target="../media/image-12-46.png"/><Relationship Id="rId47" Type="http://schemas.openxmlformats.org/officeDocument/2006/relationships/image" Target="../media/image-12-47.png"/><Relationship Id="rId48" Type="http://schemas.openxmlformats.org/officeDocument/2006/relationships/image" Target="../media/image-12-48.png"/><Relationship Id="rId49" Type="http://schemas.openxmlformats.org/officeDocument/2006/relationships/image" Target="../media/image-12-49.png"/><Relationship Id="rId50" Type="http://schemas.openxmlformats.org/officeDocument/2006/relationships/image" Target="../media/image-12-50.png"/><Relationship Id="rId51" Type="http://schemas.openxmlformats.org/officeDocument/2006/relationships/image" Target="../media/image-12-51.png"/><Relationship Id="rId52" Type="http://schemas.openxmlformats.org/officeDocument/2006/relationships/slideLayout" Target="../slideLayouts/slideLayout1.xml"/><Relationship Id="rId5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image" Target="../media/image-13-24.png"/><Relationship Id="rId25" Type="http://schemas.openxmlformats.org/officeDocument/2006/relationships/image" Target="../media/image-13-25.png"/><Relationship Id="rId26" Type="http://schemas.openxmlformats.org/officeDocument/2006/relationships/image" Target="../media/image-13-26.png"/><Relationship Id="rId27" Type="http://schemas.openxmlformats.org/officeDocument/2006/relationships/image" Target="../media/image-13-27.png"/><Relationship Id="rId28" Type="http://schemas.openxmlformats.org/officeDocument/2006/relationships/image" Target="../media/image-13-28.png"/><Relationship Id="rId29" Type="http://schemas.openxmlformats.org/officeDocument/2006/relationships/image" Target="../media/image-13-29.png"/><Relationship Id="rId30" Type="http://schemas.openxmlformats.org/officeDocument/2006/relationships/image" Target="../media/image-13-30.png"/><Relationship Id="rId31" Type="http://schemas.openxmlformats.org/officeDocument/2006/relationships/image" Target="../media/image-13-31.png"/><Relationship Id="rId32" Type="http://schemas.openxmlformats.org/officeDocument/2006/relationships/image" Target="../media/image-13-32.png"/><Relationship Id="rId33" Type="http://schemas.openxmlformats.org/officeDocument/2006/relationships/slideLayout" Target="../slideLayouts/slideLayout1.xml"/><Relationship Id="rId3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slideLayout" Target="../slideLayouts/slideLayout1.xml"/><Relationship Id="rId4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image" Target="../media/image-15-23.png"/><Relationship Id="rId24" Type="http://schemas.openxmlformats.org/officeDocument/2006/relationships/image" Target="../media/image-15-24.png"/><Relationship Id="rId25" Type="http://schemas.openxmlformats.org/officeDocument/2006/relationships/image" Target="../media/image-15-25.png"/><Relationship Id="rId26" Type="http://schemas.openxmlformats.org/officeDocument/2006/relationships/image" Target="../media/image-15-26.png"/><Relationship Id="rId27" Type="http://schemas.openxmlformats.org/officeDocument/2006/relationships/image" Target="../media/image-15-27.png"/><Relationship Id="rId28" Type="http://schemas.openxmlformats.org/officeDocument/2006/relationships/slideLayout" Target="../slideLayouts/slideLayout1.xml"/><Relationship Id="rId2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slideLayout" Target="../slideLayouts/slideLayout1.xml"/><Relationship Id="rId21"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2000" cy="6858000"/>
          </a:xfrm>
          <a:prstGeom prst="rect">
            <a:avLst/>
          </a:prstGeom>
        </p:spPr>
      </p:pic>
      <p:pic>
        <p:nvPicPr>
          <p:cNvPr id="4" name="Image 2" descr="preencoded.png">    </p:cNvPr>
          <p:cNvPicPr>
            <a:picLocks noChangeAspect="1"/>
          </p:cNvPicPr>
          <p:nvPr/>
        </p:nvPicPr>
        <p:blipFill>
          <a:blip r:embed="rId3"/>
          <a:stretch>
            <a:fillRect/>
          </a:stretch>
        </p:blipFill>
        <p:spPr>
          <a:xfrm>
            <a:off x="3805237" y="2858776"/>
            <a:ext cx="1246859" cy="730873"/>
          </a:xfrm>
          <a:prstGeom prst="rect">
            <a:avLst/>
          </a:prstGeom>
        </p:spPr>
      </p:pic>
      <p:pic>
        <p:nvPicPr>
          <p:cNvPr id="5" name="Image 3" descr="preencoded.png">    </p:cNvPr>
          <p:cNvPicPr>
            <a:picLocks noChangeAspect="1"/>
          </p:cNvPicPr>
          <p:nvPr/>
        </p:nvPicPr>
        <p:blipFill>
          <a:blip r:embed="rId4"/>
          <a:stretch>
            <a:fillRect/>
          </a:stretch>
        </p:blipFill>
        <p:spPr>
          <a:xfrm>
            <a:off x="6948488" y="2144401"/>
            <a:ext cx="1246859" cy="730873"/>
          </a:xfrm>
          <a:prstGeom prst="rect">
            <a:avLst/>
          </a:prstGeom>
        </p:spPr>
      </p:pic>
      <p:pic>
        <p:nvPicPr>
          <p:cNvPr id="6" name="Image 4" descr="preencoded.png">    </p:cNvPr>
          <p:cNvPicPr>
            <a:picLocks noChangeAspect="1"/>
          </p:cNvPicPr>
          <p:nvPr/>
        </p:nvPicPr>
        <p:blipFill>
          <a:blip r:embed="rId5"/>
          <a:stretch>
            <a:fillRect/>
          </a:stretch>
        </p:blipFill>
        <p:spPr>
          <a:xfrm>
            <a:off x="4952851" y="1752600"/>
            <a:ext cx="609600" cy="609600"/>
          </a:xfrm>
          <a:prstGeom prst="rect">
            <a:avLst/>
          </a:prstGeom>
        </p:spPr>
      </p:pic>
      <p:pic>
        <p:nvPicPr>
          <p:cNvPr id="7" name="Image 5" descr="preencoded.png">    </p:cNvPr>
          <p:cNvPicPr>
            <a:picLocks noChangeAspect="1"/>
          </p:cNvPicPr>
          <p:nvPr/>
        </p:nvPicPr>
        <p:blipFill>
          <a:blip r:embed="rId6"/>
          <a:stretch>
            <a:fillRect/>
          </a:stretch>
        </p:blipFill>
        <p:spPr>
          <a:xfrm>
            <a:off x="5114776" y="1905000"/>
            <a:ext cx="285750" cy="304800"/>
          </a:xfrm>
          <a:prstGeom prst="rect">
            <a:avLst/>
          </a:prstGeom>
        </p:spPr>
      </p:pic>
      <p:pic>
        <p:nvPicPr>
          <p:cNvPr id="8" name="Image 6" descr="preencoded.png">    </p:cNvPr>
          <p:cNvPicPr>
            <a:picLocks noChangeAspect="1"/>
          </p:cNvPicPr>
          <p:nvPr/>
        </p:nvPicPr>
        <p:blipFill>
          <a:blip r:embed="rId7"/>
          <a:stretch>
            <a:fillRect/>
          </a:stretch>
        </p:blipFill>
        <p:spPr>
          <a:xfrm>
            <a:off x="5791051" y="1752600"/>
            <a:ext cx="609600" cy="609600"/>
          </a:xfrm>
          <a:prstGeom prst="rect">
            <a:avLst/>
          </a:prstGeom>
        </p:spPr>
      </p:pic>
      <p:pic>
        <p:nvPicPr>
          <p:cNvPr id="9" name="Image 7" descr="preencoded.png">    </p:cNvPr>
          <p:cNvPicPr>
            <a:picLocks noChangeAspect="1"/>
          </p:cNvPicPr>
          <p:nvPr/>
        </p:nvPicPr>
        <p:blipFill>
          <a:blip r:embed="rId8"/>
          <a:stretch>
            <a:fillRect/>
          </a:stretch>
        </p:blipFill>
        <p:spPr>
          <a:xfrm>
            <a:off x="5952976" y="1905000"/>
            <a:ext cx="285750" cy="304800"/>
          </a:xfrm>
          <a:prstGeom prst="rect">
            <a:avLst/>
          </a:prstGeom>
        </p:spPr>
      </p:pic>
      <p:pic>
        <p:nvPicPr>
          <p:cNvPr id="10" name="Image 8" descr="preencoded.png">    </p:cNvPr>
          <p:cNvPicPr>
            <a:picLocks noChangeAspect="1"/>
          </p:cNvPicPr>
          <p:nvPr/>
        </p:nvPicPr>
        <p:blipFill>
          <a:blip r:embed="rId9"/>
          <a:stretch>
            <a:fillRect/>
          </a:stretch>
        </p:blipFill>
        <p:spPr>
          <a:xfrm>
            <a:off x="6629251" y="1752600"/>
            <a:ext cx="609600" cy="609600"/>
          </a:xfrm>
          <a:prstGeom prst="rect">
            <a:avLst/>
          </a:prstGeom>
        </p:spPr>
      </p:pic>
      <p:pic>
        <p:nvPicPr>
          <p:cNvPr id="11" name="Image 9" descr="preencoded.png">    </p:cNvPr>
          <p:cNvPicPr>
            <a:picLocks noChangeAspect="1"/>
          </p:cNvPicPr>
          <p:nvPr/>
        </p:nvPicPr>
        <p:blipFill>
          <a:blip r:embed="rId10"/>
          <a:stretch>
            <a:fillRect/>
          </a:stretch>
        </p:blipFill>
        <p:spPr>
          <a:xfrm>
            <a:off x="6791176" y="1905000"/>
            <a:ext cx="285750" cy="304800"/>
          </a:xfrm>
          <a:prstGeom prst="rect">
            <a:avLst/>
          </a:prstGeom>
        </p:spPr>
      </p:pic>
      <p:pic>
        <p:nvPicPr>
          <p:cNvPr id="12" name="Image 10" descr="preencoded.png">    </p:cNvPr>
          <p:cNvPicPr>
            <a:picLocks noChangeAspect="1"/>
          </p:cNvPicPr>
          <p:nvPr/>
        </p:nvPicPr>
        <p:blipFill>
          <a:blip r:embed="rId11"/>
          <a:stretch>
            <a:fillRect/>
          </a:stretch>
        </p:blipFill>
        <p:spPr>
          <a:xfrm>
            <a:off x="3167807" y="4381500"/>
            <a:ext cx="5856387" cy="723900"/>
          </a:xfrm>
          <a:prstGeom prst="rect">
            <a:avLst/>
          </a:prstGeom>
        </p:spPr>
      </p:pic>
      <p:pic>
        <p:nvPicPr>
          <p:cNvPr id="13" name="Image 11" descr="preencoded.png">    </p:cNvPr>
          <p:cNvPicPr>
            <a:picLocks noChangeAspect="1"/>
          </p:cNvPicPr>
          <p:nvPr/>
        </p:nvPicPr>
        <p:blipFill>
          <a:blip r:embed="rId12"/>
          <a:stretch>
            <a:fillRect/>
          </a:stretch>
        </p:blipFill>
        <p:spPr>
          <a:xfrm>
            <a:off x="3396407" y="4648200"/>
            <a:ext cx="190500" cy="190500"/>
          </a:xfrm>
          <a:prstGeom prst="rect">
            <a:avLst/>
          </a:prstGeom>
        </p:spPr>
      </p:pic>
      <p:pic>
        <p:nvPicPr>
          <p:cNvPr id="14" name="Image 12" descr="preencoded.png">    </p:cNvPr>
          <p:cNvPicPr>
            <a:picLocks noChangeAspect="1"/>
          </p:cNvPicPr>
          <p:nvPr/>
        </p:nvPicPr>
        <p:blipFill>
          <a:blip r:embed="rId13"/>
          <a:stretch>
            <a:fillRect/>
          </a:stretch>
        </p:blipFill>
        <p:spPr>
          <a:xfrm>
            <a:off x="5167461" y="4648200"/>
            <a:ext cx="190500" cy="190500"/>
          </a:xfrm>
          <a:prstGeom prst="rect">
            <a:avLst/>
          </a:prstGeom>
        </p:spPr>
      </p:pic>
      <p:pic>
        <p:nvPicPr>
          <p:cNvPr id="15" name="Image 13" descr="preencoded.png">    </p:cNvPr>
          <p:cNvPicPr>
            <a:picLocks noChangeAspect="1"/>
          </p:cNvPicPr>
          <p:nvPr/>
        </p:nvPicPr>
        <p:blipFill>
          <a:blip r:embed="rId14"/>
          <a:stretch>
            <a:fillRect/>
          </a:stretch>
        </p:blipFill>
        <p:spPr>
          <a:xfrm>
            <a:off x="7129016" y="4648200"/>
            <a:ext cx="190500" cy="190500"/>
          </a:xfrm>
          <a:prstGeom prst="rect">
            <a:avLst/>
          </a:prstGeom>
        </p:spPr>
      </p:pic>
      <p:pic>
        <p:nvPicPr>
          <p:cNvPr id="16" name="Image 14" descr="preencoded.png">    </p:cNvPr>
          <p:cNvPicPr>
            <a:picLocks noChangeAspect="1"/>
          </p:cNvPicPr>
          <p:nvPr/>
        </p:nvPicPr>
        <p:blipFill>
          <a:blip r:embed="rId15"/>
          <a:stretch>
            <a:fillRect/>
          </a:stretch>
        </p:blipFill>
        <p:spPr>
          <a:xfrm>
            <a:off x="457200" y="6353175"/>
            <a:ext cx="133350" cy="152400"/>
          </a:xfrm>
          <a:prstGeom prst="rect">
            <a:avLst/>
          </a:prstGeom>
        </p:spPr>
      </p:pic>
      <p:pic>
        <p:nvPicPr>
          <p:cNvPr id="17" name="Image 15" descr="preencoded.png">    </p:cNvPr>
          <p:cNvPicPr>
            <a:picLocks noChangeAspect="1"/>
          </p:cNvPicPr>
          <p:nvPr/>
        </p:nvPicPr>
        <p:blipFill>
          <a:blip r:embed="rId16"/>
          <a:stretch>
            <a:fillRect/>
          </a:stretch>
        </p:blipFill>
        <p:spPr>
          <a:xfrm>
            <a:off x="9362182" y="6353175"/>
            <a:ext cx="114300" cy="152400"/>
          </a:xfrm>
          <a:prstGeom prst="rect">
            <a:avLst/>
          </a:prstGeom>
        </p:spPr>
      </p:pic>
      <p:sp>
        <p:nvSpPr>
          <p:cNvPr id="18" name="Text 0"/>
          <p:cNvSpPr/>
          <p:nvPr/>
        </p:nvSpPr>
        <p:spPr>
          <a:xfrm>
            <a:off x="2763991" y="2667000"/>
            <a:ext cx="6663869" cy="571500"/>
          </a:xfrm>
          <a:prstGeom prst="rect">
            <a:avLst/>
          </a:prstGeom>
          <a:noFill/>
          <a:ln/>
        </p:spPr>
        <p:txBody>
          <a:bodyPr wrap="square" lIns="0" tIns="0" rIns="0" bIns="0" rtlCol="0" anchor="t" vert="horz"/>
          <a:lstStyle/>
          <a:p>
            <a:pPr algn="ctr" indent="0" marL="0">
              <a:lnSpc>
                <a:spcPts val="4500"/>
              </a:lnSpc>
              <a:buNone/>
            </a:pPr>
            <a:r>
              <a:rPr lang="en-US" sz="4500" b="1" dirty="0">
                <a:solidFill>
                  <a:srgbClr val="FFFFFF"/>
                </a:solidFill>
                <a:latin typeface="ui-sans-serif" pitchFamily="34" charset="0"/>
                <a:ea typeface="ui-sans-serif" pitchFamily="34" charset="-122"/>
                <a:cs typeface="ui-sans-serif" pitchFamily="34" charset="-120"/>
              </a:rPr>
              <a:t>AGV 跨品牌協同系統</a:t>
            </a:r>
            <a:endParaRPr lang="en-US" sz="4500" dirty="0"/>
          </a:p>
        </p:txBody>
      </p:sp>
      <p:sp>
        <p:nvSpPr>
          <p:cNvPr id="19" name="Text 1"/>
          <p:cNvSpPr/>
          <p:nvPr/>
        </p:nvSpPr>
        <p:spPr>
          <a:xfrm>
            <a:off x="2763991" y="3467100"/>
            <a:ext cx="6663869" cy="304800"/>
          </a:xfrm>
          <a:prstGeom prst="rect">
            <a:avLst/>
          </a:prstGeom>
          <a:noFill/>
          <a:ln/>
        </p:spPr>
        <p:txBody>
          <a:bodyPr wrap="square" lIns="0" tIns="0" rIns="0" bIns="0" rtlCol="0" anchor="t" vert="horz"/>
          <a:lstStyle/>
          <a:p>
            <a:pPr algn="ctr" indent="0" marL="0">
              <a:lnSpc>
                <a:spcPts val="2400"/>
              </a:lnSpc>
              <a:buNone/>
            </a:pPr>
            <a:r>
              <a:rPr lang="en-US" sz="1800" dirty="0">
                <a:solidFill>
                  <a:srgbClr val="E5E7EB"/>
                </a:solidFill>
                <a:latin typeface="ui-sans-serif" pitchFamily="34" charset="0"/>
                <a:ea typeface="ui-sans-serif" pitchFamily="34" charset="-122"/>
                <a:cs typeface="ui-sans-serif" pitchFamily="34" charset="-120"/>
              </a:rPr>
              <a:t>解決多品牌機器人共空間衝突的創新方案</a:t>
            </a:r>
            <a:endParaRPr lang="en-US" sz="1800" dirty="0"/>
          </a:p>
        </p:txBody>
      </p:sp>
      <p:sp>
        <p:nvSpPr>
          <p:cNvPr id="20" name="Text 2"/>
          <p:cNvSpPr/>
          <p:nvPr/>
        </p:nvSpPr>
        <p:spPr>
          <a:xfrm>
            <a:off x="2856488" y="4610100"/>
            <a:ext cx="6479024"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統一協調架構 </a:t>
            </a:r>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輕量級通訊協議 </a:t>
            </a:r>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品牌適配器機制</a:t>
            </a:r>
            <a:endParaRPr lang="en-US" sz="1500" dirty="0"/>
          </a:p>
        </p:txBody>
      </p:sp>
      <p:sp>
        <p:nvSpPr>
          <p:cNvPr id="21" name="Text 3"/>
          <p:cNvSpPr/>
          <p:nvPr/>
        </p:nvSpPr>
        <p:spPr>
          <a:xfrm>
            <a:off x="666750" y="6324600"/>
            <a:ext cx="1372493"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 2025-12-06</a:t>
            </a:r>
            <a:endParaRPr lang="en-US" sz="1200" dirty="0"/>
          </a:p>
        </p:txBody>
      </p:sp>
      <p:sp>
        <p:nvSpPr>
          <p:cNvPr id="22" name="Text 4"/>
          <p:cNvSpPr/>
          <p:nvPr/>
        </p:nvSpPr>
        <p:spPr>
          <a:xfrm>
            <a:off x="9552682" y="6324600"/>
            <a:ext cx="284714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 让機器人學會禮讓，而不是對峙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181100"/>
            <a:ext cx="457200" cy="457200"/>
          </a:xfrm>
          <a:prstGeom prst="rect">
            <a:avLst/>
          </a:prstGeom>
        </p:spPr>
      </p:pic>
      <p:pic>
        <p:nvPicPr>
          <p:cNvPr id="5" name="Image 3" descr="preencoded.png">    </p:cNvPr>
          <p:cNvPicPr>
            <a:picLocks noChangeAspect="1"/>
          </p:cNvPicPr>
          <p:nvPr/>
        </p:nvPicPr>
        <p:blipFill>
          <a:blip r:embed="rId4"/>
          <a:stretch>
            <a:fillRect/>
          </a:stretch>
        </p:blipFill>
        <p:spPr>
          <a:xfrm>
            <a:off x="495300" y="1257300"/>
            <a:ext cx="228600" cy="304800"/>
          </a:xfrm>
          <a:prstGeom prst="rect">
            <a:avLst/>
          </a:prstGeom>
        </p:spPr>
      </p:pic>
      <p:pic>
        <p:nvPicPr>
          <p:cNvPr id="6" name="Image 4" descr="preencoded.png">    </p:cNvPr>
          <p:cNvPicPr>
            <a:picLocks noChangeAspect="1"/>
          </p:cNvPicPr>
          <p:nvPr/>
        </p:nvPicPr>
        <p:blipFill>
          <a:blip r:embed="rId5"/>
          <a:stretch>
            <a:fillRect/>
          </a:stretch>
        </p:blipFill>
        <p:spPr>
          <a:xfrm>
            <a:off x="381000" y="2514600"/>
            <a:ext cx="133350" cy="152400"/>
          </a:xfrm>
          <a:prstGeom prst="rect">
            <a:avLst/>
          </a:prstGeom>
        </p:spPr>
      </p:pic>
      <p:pic>
        <p:nvPicPr>
          <p:cNvPr id="7" name="Image 5" descr="preencoded.png">    </p:cNvPr>
          <p:cNvPicPr>
            <a:picLocks noChangeAspect="1"/>
          </p:cNvPicPr>
          <p:nvPr/>
        </p:nvPicPr>
        <p:blipFill>
          <a:blip r:embed="rId6"/>
          <a:stretch>
            <a:fillRect/>
          </a:stretch>
        </p:blipFill>
        <p:spPr>
          <a:xfrm>
            <a:off x="381000" y="2857500"/>
            <a:ext cx="133350" cy="152400"/>
          </a:xfrm>
          <a:prstGeom prst="rect">
            <a:avLst/>
          </a:prstGeom>
        </p:spPr>
      </p:pic>
      <p:pic>
        <p:nvPicPr>
          <p:cNvPr id="8" name="Image 6" descr="preencoded.png">    </p:cNvPr>
          <p:cNvPicPr>
            <a:picLocks noChangeAspect="1"/>
          </p:cNvPicPr>
          <p:nvPr/>
        </p:nvPicPr>
        <p:blipFill>
          <a:blip r:embed="rId7"/>
          <a:stretch>
            <a:fillRect/>
          </a:stretch>
        </p:blipFill>
        <p:spPr>
          <a:xfrm>
            <a:off x="381000" y="3200400"/>
            <a:ext cx="133350" cy="152400"/>
          </a:xfrm>
          <a:prstGeom prst="rect">
            <a:avLst/>
          </a:prstGeom>
        </p:spPr>
      </p:pic>
      <p:pic>
        <p:nvPicPr>
          <p:cNvPr id="9" name="Image 7" descr="preencoded.png">    </p:cNvPr>
          <p:cNvPicPr>
            <a:picLocks noChangeAspect="1"/>
          </p:cNvPicPr>
          <p:nvPr/>
        </p:nvPicPr>
        <p:blipFill>
          <a:blip r:embed="rId8"/>
          <a:stretch>
            <a:fillRect/>
          </a:stretch>
        </p:blipFill>
        <p:spPr>
          <a:xfrm>
            <a:off x="381000" y="3619500"/>
            <a:ext cx="5486400" cy="1104900"/>
          </a:xfrm>
          <a:prstGeom prst="rect">
            <a:avLst/>
          </a:prstGeom>
        </p:spPr>
      </p:pic>
      <p:pic>
        <p:nvPicPr>
          <p:cNvPr id="10" name="Image 8" descr="preencoded.png">    </p:cNvPr>
          <p:cNvPicPr>
            <a:picLocks noChangeAspect="1"/>
          </p:cNvPicPr>
          <p:nvPr/>
        </p:nvPicPr>
        <p:blipFill>
          <a:blip r:embed="rId9"/>
          <a:stretch>
            <a:fillRect/>
          </a:stretch>
        </p:blipFill>
        <p:spPr>
          <a:xfrm>
            <a:off x="6324600" y="1181100"/>
            <a:ext cx="5486400" cy="4838700"/>
          </a:xfrm>
          <a:prstGeom prst="rect">
            <a:avLst/>
          </a:prstGeom>
        </p:spPr>
      </p:pic>
      <p:pic>
        <p:nvPicPr>
          <p:cNvPr id="11" name="Image 9" descr="preencoded.png">    </p:cNvPr>
          <p:cNvPicPr>
            <a:picLocks noChangeAspect="1"/>
          </p:cNvPicPr>
          <p:nvPr/>
        </p:nvPicPr>
        <p:blipFill>
          <a:blip r:embed="rId10"/>
          <a:stretch>
            <a:fillRect/>
          </a:stretch>
        </p:blipFill>
        <p:spPr>
          <a:xfrm>
            <a:off x="6553200" y="2647950"/>
            <a:ext cx="5029200" cy="914400"/>
          </a:xfrm>
          <a:prstGeom prst="rect">
            <a:avLst/>
          </a:prstGeom>
        </p:spPr>
      </p:pic>
      <p:pic>
        <p:nvPicPr>
          <p:cNvPr id="12" name="Image 10" descr="preencoded.png">    </p:cNvPr>
          <p:cNvPicPr>
            <a:picLocks noChangeAspect="1"/>
          </p:cNvPicPr>
          <p:nvPr/>
        </p:nvPicPr>
        <p:blipFill>
          <a:blip r:embed="rId11"/>
          <a:stretch>
            <a:fillRect/>
          </a:stretch>
        </p:blipFill>
        <p:spPr>
          <a:xfrm>
            <a:off x="7162800" y="2647950"/>
            <a:ext cx="609600" cy="609600"/>
          </a:xfrm>
          <a:prstGeom prst="rect">
            <a:avLst/>
          </a:prstGeom>
        </p:spPr>
      </p:pic>
      <p:pic>
        <p:nvPicPr>
          <p:cNvPr id="13" name="Image 11" descr="preencoded.png">    </p:cNvPr>
          <p:cNvPicPr>
            <a:picLocks noChangeAspect="1"/>
          </p:cNvPicPr>
          <p:nvPr/>
        </p:nvPicPr>
        <p:blipFill>
          <a:blip r:embed="rId12"/>
          <a:stretch>
            <a:fillRect/>
          </a:stretch>
        </p:blipFill>
        <p:spPr>
          <a:xfrm>
            <a:off x="7324725" y="2800350"/>
            <a:ext cx="285750" cy="304800"/>
          </a:xfrm>
          <a:prstGeom prst="rect">
            <a:avLst/>
          </a:prstGeom>
        </p:spPr>
      </p:pic>
      <p:pic>
        <p:nvPicPr>
          <p:cNvPr id="14" name="Image 12" descr="preencoded.png">    </p:cNvPr>
          <p:cNvPicPr>
            <a:picLocks noChangeAspect="1"/>
          </p:cNvPicPr>
          <p:nvPr/>
        </p:nvPicPr>
        <p:blipFill>
          <a:blip r:embed="rId13"/>
          <a:stretch>
            <a:fillRect/>
          </a:stretch>
        </p:blipFill>
        <p:spPr>
          <a:xfrm>
            <a:off x="10106174" y="2647950"/>
            <a:ext cx="609600" cy="609600"/>
          </a:xfrm>
          <a:prstGeom prst="rect">
            <a:avLst/>
          </a:prstGeom>
        </p:spPr>
      </p:pic>
      <p:pic>
        <p:nvPicPr>
          <p:cNvPr id="15" name="Image 13" descr="preencoded.png">    </p:cNvPr>
          <p:cNvPicPr>
            <a:picLocks noChangeAspect="1"/>
          </p:cNvPicPr>
          <p:nvPr/>
        </p:nvPicPr>
        <p:blipFill>
          <a:blip r:embed="rId14"/>
          <a:stretch>
            <a:fillRect/>
          </a:stretch>
        </p:blipFill>
        <p:spPr>
          <a:xfrm>
            <a:off x="10268099" y="2800350"/>
            <a:ext cx="285750" cy="304800"/>
          </a:xfrm>
          <a:prstGeom prst="rect">
            <a:avLst/>
          </a:prstGeom>
        </p:spPr>
      </p:pic>
      <p:pic>
        <p:nvPicPr>
          <p:cNvPr id="16" name="Image 14" descr="preencoded.png">    </p:cNvPr>
          <p:cNvPicPr>
            <a:picLocks noChangeAspect="1"/>
          </p:cNvPicPr>
          <p:nvPr/>
        </p:nvPicPr>
        <p:blipFill>
          <a:blip r:embed="rId15"/>
          <a:stretch>
            <a:fillRect/>
          </a:stretch>
        </p:blipFill>
        <p:spPr>
          <a:xfrm>
            <a:off x="8915400" y="2952750"/>
            <a:ext cx="304800" cy="304800"/>
          </a:xfrm>
          <a:prstGeom prst="rect">
            <a:avLst/>
          </a:prstGeom>
        </p:spPr>
      </p:pic>
      <p:pic>
        <p:nvPicPr>
          <p:cNvPr id="17" name="Image 15" descr="preencoded.png">    </p:cNvPr>
          <p:cNvPicPr>
            <a:picLocks noChangeAspect="1"/>
          </p:cNvPicPr>
          <p:nvPr/>
        </p:nvPicPr>
        <p:blipFill>
          <a:blip r:embed="rId16"/>
          <a:stretch>
            <a:fillRect/>
          </a:stretch>
        </p:blipFill>
        <p:spPr>
          <a:xfrm>
            <a:off x="9048750" y="3028950"/>
            <a:ext cx="38100" cy="152400"/>
          </a:xfrm>
          <a:prstGeom prst="rect">
            <a:avLst/>
          </a:prstGeom>
        </p:spPr>
      </p:pic>
      <p:pic>
        <p:nvPicPr>
          <p:cNvPr id="18" name="Image 16" descr="preencoded.png">    </p:cNvPr>
          <p:cNvPicPr>
            <a:picLocks noChangeAspect="1"/>
          </p:cNvPicPr>
          <p:nvPr/>
        </p:nvPicPr>
        <p:blipFill>
          <a:blip r:embed="rId17"/>
          <a:stretch>
            <a:fillRect/>
          </a:stretch>
        </p:blipFill>
        <p:spPr>
          <a:xfrm>
            <a:off x="7162800" y="2495550"/>
            <a:ext cx="1219200" cy="1219200"/>
          </a:xfrm>
          <a:prstGeom prst="rect">
            <a:avLst/>
          </a:prstGeom>
        </p:spPr>
      </p:pic>
      <p:pic>
        <p:nvPicPr>
          <p:cNvPr id="19" name="Image 17" descr="preencoded.png">    </p:cNvPr>
          <p:cNvPicPr>
            <a:picLocks noChangeAspect="1"/>
          </p:cNvPicPr>
          <p:nvPr/>
        </p:nvPicPr>
        <p:blipFill>
          <a:blip r:embed="rId18"/>
          <a:stretch>
            <a:fillRect/>
          </a:stretch>
        </p:blipFill>
        <p:spPr>
          <a:xfrm>
            <a:off x="9753600" y="2495550"/>
            <a:ext cx="1219200" cy="1219200"/>
          </a:xfrm>
          <a:prstGeom prst="rect">
            <a:avLst/>
          </a:prstGeom>
        </p:spPr>
      </p:pic>
      <p:pic>
        <p:nvPicPr>
          <p:cNvPr id="20" name="Image 18" descr="preencoded.png">    </p:cNvPr>
          <p:cNvPicPr>
            <a:picLocks noChangeAspect="1"/>
          </p:cNvPicPr>
          <p:nvPr/>
        </p:nvPicPr>
        <p:blipFill>
          <a:blip r:embed="rId19"/>
          <a:stretch>
            <a:fillRect/>
          </a:stretch>
        </p:blipFill>
        <p:spPr>
          <a:xfrm>
            <a:off x="6477000" y="4533900"/>
            <a:ext cx="171450" cy="171450"/>
          </a:xfrm>
          <a:prstGeom prst="rect">
            <a:avLst/>
          </a:prstGeom>
        </p:spPr>
      </p:pic>
      <p:pic>
        <p:nvPicPr>
          <p:cNvPr id="21" name="Image 19" descr="preencoded.png">    </p:cNvPr>
          <p:cNvPicPr>
            <a:picLocks noChangeAspect="1"/>
          </p:cNvPicPr>
          <p:nvPr/>
        </p:nvPicPr>
        <p:blipFill>
          <a:blip r:embed="rId20"/>
          <a:stretch>
            <a:fillRect/>
          </a:stretch>
        </p:blipFill>
        <p:spPr>
          <a:xfrm>
            <a:off x="6477000" y="4876800"/>
            <a:ext cx="171450" cy="171450"/>
          </a:xfrm>
          <a:prstGeom prst="rect">
            <a:avLst/>
          </a:prstGeom>
        </p:spPr>
      </p:pic>
      <p:pic>
        <p:nvPicPr>
          <p:cNvPr id="22" name="Image 20" descr="preencoded.png">    </p:cNvPr>
          <p:cNvPicPr>
            <a:picLocks noChangeAspect="1"/>
          </p:cNvPicPr>
          <p:nvPr/>
        </p:nvPicPr>
        <p:blipFill>
          <a:blip r:embed="rId21"/>
          <a:stretch>
            <a:fillRect/>
          </a:stretch>
        </p:blipFill>
        <p:spPr>
          <a:xfrm>
            <a:off x="6477000" y="5219700"/>
            <a:ext cx="171450" cy="171450"/>
          </a:xfrm>
          <a:prstGeom prst="rect">
            <a:avLst/>
          </a:prstGeom>
        </p:spPr>
      </p:pic>
      <p:pic>
        <p:nvPicPr>
          <p:cNvPr id="23" name="Image 21" descr="preencoded.png">    </p:cNvPr>
          <p:cNvPicPr>
            <a:picLocks noChangeAspect="1"/>
          </p:cNvPicPr>
          <p:nvPr/>
        </p:nvPicPr>
        <p:blipFill>
          <a:blip r:embed="rId22"/>
          <a:stretch>
            <a:fillRect/>
          </a:stretch>
        </p:blipFill>
        <p:spPr>
          <a:xfrm>
            <a:off x="6477000" y="5562600"/>
            <a:ext cx="171450" cy="171450"/>
          </a:xfrm>
          <a:prstGeom prst="rect">
            <a:avLst/>
          </a:prstGeom>
        </p:spPr>
      </p:pic>
      <p:sp>
        <p:nvSpPr>
          <p:cNvPr id="24"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真實問題場景</a:t>
            </a:r>
            <a:endParaRPr lang="en-US" sz="2700" dirty="0"/>
          </a:p>
        </p:txBody>
      </p:sp>
      <p:sp>
        <p:nvSpPr>
          <p:cNvPr id="25" name="Text 1"/>
          <p:cNvSpPr/>
          <p:nvPr/>
        </p:nvSpPr>
        <p:spPr>
          <a:xfrm>
            <a:off x="990600" y="1257300"/>
            <a:ext cx="192024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餐廳走廊的困境</a:t>
            </a:r>
            <a:endParaRPr lang="en-US" sz="1800" dirty="0"/>
          </a:p>
        </p:txBody>
      </p:sp>
      <p:sp>
        <p:nvSpPr>
          <p:cNvPr id="26" name="Text 2"/>
          <p:cNvSpPr/>
          <p:nvPr/>
        </p:nvSpPr>
        <p:spPr>
          <a:xfrm>
            <a:off x="381000" y="1790700"/>
            <a:ext cx="5486400" cy="533400"/>
          </a:xfrm>
          <a:prstGeom prst="rect">
            <a:avLst/>
          </a:prstGeom>
          <a:noFill/>
          <a:ln/>
        </p:spPr>
        <p:txBody>
          <a:bodyPr wrap="square" lIns="0" tIns="0" rIns="0" bIns="0" rtlCol="0" anchor="t" vert="horz"/>
          <a:lstStyle/>
          <a:p>
            <a:pPr indent="0" marL="0">
              <a:lnSpc>
                <a:spcPts val="2100"/>
              </a:lnSpc>
              <a:buNone/>
            </a:pPr>
            <a:r>
              <a:rPr lang="en-US" sz="1350" dirty="0">
                <a:solidFill>
                  <a:srgbClr val="D1D5DB"/>
                </a:solidFill>
                <a:latin typeface="ui-sans-serif" pitchFamily="34" charset="0"/>
                <a:ea typeface="ui-sans-serif" pitchFamily="34" charset="-122"/>
                <a:cs typeface="ui-sans-serif" pitchFamily="34" charset="-120"/>
              </a:rPr>
              <a:t>兩台不同品牌送餐機器人同時進入狹窄走廊，各自用雷達嘗試避障，但感測器偵測失敗，導致：</a:t>
            </a:r>
            <a:endParaRPr lang="en-US" sz="1350" dirty="0"/>
          </a:p>
        </p:txBody>
      </p:sp>
      <p:sp>
        <p:nvSpPr>
          <p:cNvPr id="27" name="Text 3"/>
          <p:cNvSpPr/>
          <p:nvPr/>
        </p:nvSpPr>
        <p:spPr>
          <a:xfrm>
            <a:off x="590550" y="2476500"/>
            <a:ext cx="1463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卡在走廊互相等待</a:t>
            </a:r>
            <a:endParaRPr lang="en-US" sz="1200" dirty="0"/>
          </a:p>
        </p:txBody>
      </p:sp>
      <p:sp>
        <p:nvSpPr>
          <p:cNvPr id="28" name="Text 4"/>
          <p:cNvSpPr/>
          <p:nvPr/>
        </p:nvSpPr>
        <p:spPr>
          <a:xfrm>
            <a:off x="590550" y="2819400"/>
            <a:ext cx="1463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需要人工介入移動</a:t>
            </a:r>
            <a:endParaRPr lang="en-US" sz="1200" dirty="0"/>
          </a:p>
        </p:txBody>
      </p:sp>
      <p:sp>
        <p:nvSpPr>
          <p:cNvPr id="29" name="Text 5"/>
          <p:cNvSpPr/>
          <p:nvPr/>
        </p:nvSpPr>
        <p:spPr>
          <a:xfrm>
            <a:off x="590550" y="3162300"/>
            <a:ext cx="20116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造成配送延遲與客戶不滿</a:t>
            </a:r>
            <a:endParaRPr lang="en-US" sz="1200" dirty="0"/>
          </a:p>
        </p:txBody>
      </p:sp>
      <p:sp>
        <p:nvSpPr>
          <p:cNvPr id="30" name="Text 6"/>
          <p:cNvSpPr/>
          <p:nvPr/>
        </p:nvSpPr>
        <p:spPr>
          <a:xfrm>
            <a:off x="533400" y="3771900"/>
            <a:ext cx="51816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87171"/>
                </a:solidFill>
                <a:latin typeface="ui-sans-serif" pitchFamily="34" charset="0"/>
                <a:ea typeface="ui-sans-serif" pitchFamily="34" charset="-122"/>
                <a:cs typeface="ui-sans-serif" pitchFamily="34" charset="-120"/>
              </a:rPr>
              <a:t>問題根源</a:t>
            </a:r>
            <a:endParaRPr lang="en-US" sz="1500" dirty="0"/>
          </a:p>
        </p:txBody>
      </p:sp>
      <p:sp>
        <p:nvSpPr>
          <p:cNvPr id="31" name="Text 7"/>
          <p:cNvSpPr/>
          <p:nvPr/>
        </p:nvSpPr>
        <p:spPr>
          <a:xfrm>
            <a:off x="533400" y="4114800"/>
            <a:ext cx="51816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各品牌AGV採用專有通訊協議和獨立的導航、調度系統，缺乏統一標準和協同機制。</a:t>
            </a:r>
            <a:endParaRPr lang="en-US" sz="1200" dirty="0"/>
          </a:p>
        </p:txBody>
      </p:sp>
      <p:sp>
        <p:nvSpPr>
          <p:cNvPr id="32" name="Text 8"/>
          <p:cNvSpPr/>
          <p:nvPr/>
        </p:nvSpPr>
        <p:spPr>
          <a:xfrm>
            <a:off x="6553200" y="1409700"/>
            <a:ext cx="50292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問題場景示意</a:t>
            </a:r>
            <a:endParaRPr lang="en-US" sz="1500" dirty="0"/>
          </a:p>
        </p:txBody>
      </p:sp>
      <p:sp>
        <p:nvSpPr>
          <p:cNvPr id="33" name="Text 9"/>
          <p:cNvSpPr/>
          <p:nvPr/>
        </p:nvSpPr>
        <p:spPr>
          <a:xfrm>
            <a:off x="7076167" y="3333750"/>
            <a:ext cx="1039594"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93C5FD"/>
                </a:solidFill>
                <a:latin typeface="ui-sans-serif" pitchFamily="34" charset="0"/>
                <a:ea typeface="ui-sans-serif" pitchFamily="34" charset="-122"/>
                <a:cs typeface="ui-sans-serif" pitchFamily="34" charset="-120"/>
              </a:rPr>
              <a:t>品牌A機器人</a:t>
            </a:r>
            <a:endParaRPr lang="en-US" sz="1200" dirty="0"/>
          </a:p>
        </p:txBody>
      </p:sp>
      <p:sp>
        <p:nvSpPr>
          <p:cNvPr id="34" name="Text 10"/>
          <p:cNvSpPr/>
          <p:nvPr/>
        </p:nvSpPr>
        <p:spPr>
          <a:xfrm>
            <a:off x="10019511" y="3333750"/>
            <a:ext cx="1039951"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86EFAC"/>
                </a:solidFill>
                <a:latin typeface="ui-sans-serif" pitchFamily="34" charset="0"/>
                <a:ea typeface="ui-sans-serif" pitchFamily="34" charset="-122"/>
                <a:cs typeface="ui-sans-serif" pitchFamily="34" charset="-120"/>
              </a:rPr>
              <a:t>品牌B機器人</a:t>
            </a:r>
            <a:endParaRPr lang="en-US" sz="1200" dirty="0"/>
          </a:p>
        </p:txBody>
      </p:sp>
      <p:sp>
        <p:nvSpPr>
          <p:cNvPr id="35" name="Text 11"/>
          <p:cNvSpPr/>
          <p:nvPr/>
        </p:nvSpPr>
        <p:spPr>
          <a:xfrm>
            <a:off x="6838950" y="4533900"/>
            <a:ext cx="474345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機器人同時進入走廊</a:t>
            </a:r>
            <a:endParaRPr lang="en-US" sz="1200" dirty="0"/>
          </a:p>
        </p:txBody>
      </p:sp>
      <p:sp>
        <p:nvSpPr>
          <p:cNvPr id="36" name="Text 12"/>
          <p:cNvSpPr/>
          <p:nvPr/>
        </p:nvSpPr>
        <p:spPr>
          <a:xfrm>
            <a:off x="6838950" y="4876800"/>
            <a:ext cx="474345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感測器嘗試避障</a:t>
            </a:r>
            <a:endParaRPr lang="en-US" sz="1200" dirty="0"/>
          </a:p>
        </p:txBody>
      </p:sp>
      <p:sp>
        <p:nvSpPr>
          <p:cNvPr id="37" name="Text 13"/>
          <p:cNvSpPr/>
          <p:nvPr/>
        </p:nvSpPr>
        <p:spPr>
          <a:xfrm>
            <a:off x="6838950" y="5219700"/>
            <a:ext cx="474345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衝突發生，雙方停止</a:t>
            </a:r>
            <a:endParaRPr lang="en-US" sz="1200" dirty="0"/>
          </a:p>
        </p:txBody>
      </p:sp>
      <p:sp>
        <p:nvSpPr>
          <p:cNvPr id="38" name="Text 14"/>
          <p:cNvSpPr/>
          <p:nvPr/>
        </p:nvSpPr>
        <p:spPr>
          <a:xfrm>
            <a:off x="6838950" y="5562600"/>
            <a:ext cx="474345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需要人工干預</a:t>
            </a:r>
            <a:endParaRPr lang="en-US" sz="1200" dirty="0"/>
          </a:p>
        </p:txBody>
      </p:sp>
      <p:sp>
        <p:nvSpPr>
          <p:cNvPr id="39" name="Text 15"/>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跨品牌協同系統</a:t>
            </a:r>
            <a:endParaRPr lang="en-US" sz="1200" dirty="0"/>
          </a:p>
        </p:txBody>
      </p:sp>
      <p:sp>
        <p:nvSpPr>
          <p:cNvPr id="40" name="Text 16"/>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1809750" y="2019300"/>
            <a:ext cx="8572500" cy="1714500"/>
          </a:xfrm>
          <a:prstGeom prst="rect">
            <a:avLst/>
          </a:prstGeom>
        </p:spPr>
      </p:pic>
      <p:pic>
        <p:nvPicPr>
          <p:cNvPr id="5" name="Image 3" descr="preencoded.png">    </p:cNvPr>
          <p:cNvPicPr>
            <a:picLocks noChangeAspect="1"/>
          </p:cNvPicPr>
          <p:nvPr/>
        </p:nvPicPr>
        <p:blipFill>
          <a:blip r:embed="rId4"/>
          <a:stretch>
            <a:fillRect/>
          </a:stretch>
        </p:blipFill>
        <p:spPr>
          <a:xfrm>
            <a:off x="2338388" y="2933700"/>
            <a:ext cx="1333500" cy="609600"/>
          </a:xfrm>
          <a:prstGeom prst="rect">
            <a:avLst/>
          </a:prstGeom>
        </p:spPr>
      </p:pic>
      <p:pic>
        <p:nvPicPr>
          <p:cNvPr id="6" name="Image 4" descr="preencoded.png">    </p:cNvPr>
          <p:cNvPicPr>
            <a:picLocks noChangeAspect="1"/>
          </p:cNvPicPr>
          <p:nvPr/>
        </p:nvPicPr>
        <p:blipFill>
          <a:blip r:embed="rId5"/>
          <a:stretch>
            <a:fillRect/>
          </a:stretch>
        </p:blipFill>
        <p:spPr>
          <a:xfrm>
            <a:off x="2452688" y="3048000"/>
            <a:ext cx="381000" cy="381000"/>
          </a:xfrm>
          <a:prstGeom prst="rect">
            <a:avLst/>
          </a:prstGeom>
        </p:spPr>
      </p:pic>
      <p:pic>
        <p:nvPicPr>
          <p:cNvPr id="7" name="Image 5" descr="preencoded.png">    </p:cNvPr>
          <p:cNvPicPr>
            <a:picLocks noChangeAspect="1"/>
          </p:cNvPicPr>
          <p:nvPr/>
        </p:nvPicPr>
        <p:blipFill>
          <a:blip r:embed="rId6"/>
          <a:stretch>
            <a:fillRect/>
          </a:stretch>
        </p:blipFill>
        <p:spPr>
          <a:xfrm>
            <a:off x="2595563" y="3162300"/>
            <a:ext cx="95250" cy="152400"/>
          </a:xfrm>
          <a:prstGeom prst="rect">
            <a:avLst/>
          </a:prstGeom>
        </p:spPr>
      </p:pic>
      <p:pic>
        <p:nvPicPr>
          <p:cNvPr id="8" name="Image 6" descr="preencoded.png">    </p:cNvPr>
          <p:cNvPicPr>
            <a:picLocks noChangeAspect="1"/>
          </p:cNvPicPr>
          <p:nvPr/>
        </p:nvPicPr>
        <p:blipFill>
          <a:blip r:embed="rId7"/>
          <a:stretch>
            <a:fillRect/>
          </a:stretch>
        </p:blipFill>
        <p:spPr>
          <a:xfrm>
            <a:off x="4348163" y="2933700"/>
            <a:ext cx="1333500" cy="609600"/>
          </a:xfrm>
          <a:prstGeom prst="rect">
            <a:avLst/>
          </a:prstGeom>
        </p:spPr>
      </p:pic>
      <p:pic>
        <p:nvPicPr>
          <p:cNvPr id="9" name="Image 7" descr="preencoded.png">    </p:cNvPr>
          <p:cNvPicPr>
            <a:picLocks noChangeAspect="1"/>
          </p:cNvPicPr>
          <p:nvPr/>
        </p:nvPicPr>
        <p:blipFill>
          <a:blip r:embed="rId8"/>
          <a:stretch>
            <a:fillRect/>
          </a:stretch>
        </p:blipFill>
        <p:spPr>
          <a:xfrm>
            <a:off x="4462463" y="3048000"/>
            <a:ext cx="381000" cy="381000"/>
          </a:xfrm>
          <a:prstGeom prst="rect">
            <a:avLst/>
          </a:prstGeom>
        </p:spPr>
      </p:pic>
      <p:pic>
        <p:nvPicPr>
          <p:cNvPr id="10" name="Image 8" descr="preencoded.png">    </p:cNvPr>
          <p:cNvPicPr>
            <a:picLocks noChangeAspect="1"/>
          </p:cNvPicPr>
          <p:nvPr/>
        </p:nvPicPr>
        <p:blipFill>
          <a:blip r:embed="rId9"/>
          <a:stretch>
            <a:fillRect/>
          </a:stretch>
        </p:blipFill>
        <p:spPr>
          <a:xfrm>
            <a:off x="4595813" y="3162300"/>
            <a:ext cx="114300" cy="152400"/>
          </a:xfrm>
          <a:prstGeom prst="rect">
            <a:avLst/>
          </a:prstGeom>
        </p:spPr>
      </p:pic>
      <p:pic>
        <p:nvPicPr>
          <p:cNvPr id="11" name="Image 9" descr="preencoded.png">    </p:cNvPr>
          <p:cNvPicPr>
            <a:picLocks noChangeAspect="1"/>
          </p:cNvPicPr>
          <p:nvPr/>
        </p:nvPicPr>
        <p:blipFill>
          <a:blip r:embed="rId10"/>
          <a:stretch>
            <a:fillRect/>
          </a:stretch>
        </p:blipFill>
        <p:spPr>
          <a:xfrm>
            <a:off x="6357938" y="2933700"/>
            <a:ext cx="1333500" cy="609600"/>
          </a:xfrm>
          <a:prstGeom prst="rect">
            <a:avLst/>
          </a:prstGeom>
        </p:spPr>
      </p:pic>
      <p:pic>
        <p:nvPicPr>
          <p:cNvPr id="12" name="Image 10" descr="preencoded.png">    </p:cNvPr>
          <p:cNvPicPr>
            <a:picLocks noChangeAspect="1"/>
          </p:cNvPicPr>
          <p:nvPr/>
        </p:nvPicPr>
        <p:blipFill>
          <a:blip r:embed="rId11"/>
          <a:stretch>
            <a:fillRect/>
          </a:stretch>
        </p:blipFill>
        <p:spPr>
          <a:xfrm>
            <a:off x="6472238" y="3048000"/>
            <a:ext cx="381000" cy="381000"/>
          </a:xfrm>
          <a:prstGeom prst="rect">
            <a:avLst/>
          </a:prstGeom>
        </p:spPr>
      </p:pic>
      <p:pic>
        <p:nvPicPr>
          <p:cNvPr id="13" name="Image 11" descr="preencoded.png">    </p:cNvPr>
          <p:cNvPicPr>
            <a:picLocks noChangeAspect="1"/>
          </p:cNvPicPr>
          <p:nvPr/>
        </p:nvPicPr>
        <p:blipFill>
          <a:blip r:embed="rId12"/>
          <a:stretch>
            <a:fillRect/>
          </a:stretch>
        </p:blipFill>
        <p:spPr>
          <a:xfrm>
            <a:off x="6586538" y="3162300"/>
            <a:ext cx="152400" cy="152400"/>
          </a:xfrm>
          <a:prstGeom prst="rect">
            <a:avLst/>
          </a:prstGeom>
        </p:spPr>
      </p:pic>
      <p:pic>
        <p:nvPicPr>
          <p:cNvPr id="14" name="Image 12" descr="preencoded.png">    </p:cNvPr>
          <p:cNvPicPr>
            <a:picLocks noChangeAspect="1"/>
          </p:cNvPicPr>
          <p:nvPr/>
        </p:nvPicPr>
        <p:blipFill>
          <a:blip r:embed="rId13"/>
          <a:stretch>
            <a:fillRect/>
          </a:stretch>
        </p:blipFill>
        <p:spPr>
          <a:xfrm>
            <a:off x="8367712" y="2933700"/>
            <a:ext cx="1485900" cy="609600"/>
          </a:xfrm>
          <a:prstGeom prst="rect">
            <a:avLst/>
          </a:prstGeom>
        </p:spPr>
      </p:pic>
      <p:pic>
        <p:nvPicPr>
          <p:cNvPr id="15" name="Image 13" descr="preencoded.png">    </p:cNvPr>
          <p:cNvPicPr>
            <a:picLocks noChangeAspect="1"/>
          </p:cNvPicPr>
          <p:nvPr/>
        </p:nvPicPr>
        <p:blipFill>
          <a:blip r:embed="rId14"/>
          <a:stretch>
            <a:fillRect/>
          </a:stretch>
        </p:blipFill>
        <p:spPr>
          <a:xfrm>
            <a:off x="8482013" y="3048000"/>
            <a:ext cx="381000" cy="381000"/>
          </a:xfrm>
          <a:prstGeom prst="rect">
            <a:avLst/>
          </a:prstGeom>
        </p:spPr>
      </p:pic>
      <p:pic>
        <p:nvPicPr>
          <p:cNvPr id="16" name="Image 14" descr="preencoded.png">    </p:cNvPr>
          <p:cNvPicPr>
            <a:picLocks noChangeAspect="1"/>
          </p:cNvPicPr>
          <p:nvPr/>
        </p:nvPicPr>
        <p:blipFill>
          <a:blip r:embed="rId15"/>
          <a:stretch>
            <a:fillRect/>
          </a:stretch>
        </p:blipFill>
        <p:spPr>
          <a:xfrm>
            <a:off x="8586788" y="3162300"/>
            <a:ext cx="171450" cy="152400"/>
          </a:xfrm>
          <a:prstGeom prst="rect">
            <a:avLst/>
          </a:prstGeom>
        </p:spPr>
      </p:pic>
      <p:pic>
        <p:nvPicPr>
          <p:cNvPr id="17" name="Image 15" descr="preencoded.png">    </p:cNvPr>
          <p:cNvPicPr>
            <a:picLocks noChangeAspect="1"/>
          </p:cNvPicPr>
          <p:nvPr/>
        </p:nvPicPr>
        <p:blipFill>
          <a:blip r:embed="rId16"/>
          <a:stretch>
            <a:fillRect/>
          </a:stretch>
        </p:blipFill>
        <p:spPr>
          <a:xfrm>
            <a:off x="381000" y="4038600"/>
            <a:ext cx="2857500" cy="1143000"/>
          </a:xfrm>
          <a:prstGeom prst="rect">
            <a:avLst/>
          </a:prstGeom>
        </p:spPr>
      </p:pic>
      <p:pic>
        <p:nvPicPr>
          <p:cNvPr id="18" name="Image 16" descr="preencoded.png">    </p:cNvPr>
          <p:cNvPicPr>
            <a:picLocks noChangeAspect="1"/>
          </p:cNvPicPr>
          <p:nvPr/>
        </p:nvPicPr>
        <p:blipFill>
          <a:blip r:embed="rId17"/>
          <a:stretch>
            <a:fillRect/>
          </a:stretch>
        </p:blipFill>
        <p:spPr>
          <a:xfrm>
            <a:off x="533400" y="4191000"/>
            <a:ext cx="304800" cy="304800"/>
          </a:xfrm>
          <a:prstGeom prst="rect">
            <a:avLst/>
          </a:prstGeom>
        </p:spPr>
      </p:pic>
      <p:pic>
        <p:nvPicPr>
          <p:cNvPr id="19" name="Image 17" descr="preencoded.png">    </p:cNvPr>
          <p:cNvPicPr>
            <a:picLocks noChangeAspect="1"/>
          </p:cNvPicPr>
          <p:nvPr/>
        </p:nvPicPr>
        <p:blipFill>
          <a:blip r:embed="rId18"/>
          <a:stretch>
            <a:fillRect/>
          </a:stretch>
        </p:blipFill>
        <p:spPr>
          <a:xfrm>
            <a:off x="600075" y="4248150"/>
            <a:ext cx="171450" cy="190500"/>
          </a:xfrm>
          <a:prstGeom prst="rect">
            <a:avLst/>
          </a:prstGeom>
        </p:spPr>
      </p:pic>
      <p:pic>
        <p:nvPicPr>
          <p:cNvPr id="20" name="Image 18" descr="preencoded.png">    </p:cNvPr>
          <p:cNvPicPr>
            <a:picLocks noChangeAspect="1"/>
          </p:cNvPicPr>
          <p:nvPr/>
        </p:nvPicPr>
        <p:blipFill>
          <a:blip r:embed="rId19"/>
          <a:stretch>
            <a:fillRect/>
          </a:stretch>
        </p:blipFill>
        <p:spPr>
          <a:xfrm>
            <a:off x="533400" y="4629150"/>
            <a:ext cx="104775" cy="133350"/>
          </a:xfrm>
          <a:prstGeom prst="rect">
            <a:avLst/>
          </a:prstGeom>
        </p:spPr>
      </p:pic>
      <p:pic>
        <p:nvPicPr>
          <p:cNvPr id="21" name="Image 19" descr="preencoded.png">    </p:cNvPr>
          <p:cNvPicPr>
            <a:picLocks noChangeAspect="1"/>
          </p:cNvPicPr>
          <p:nvPr/>
        </p:nvPicPr>
        <p:blipFill>
          <a:blip r:embed="rId20"/>
          <a:stretch>
            <a:fillRect/>
          </a:stretch>
        </p:blipFill>
        <p:spPr>
          <a:xfrm>
            <a:off x="533400" y="4857750"/>
            <a:ext cx="133350" cy="133350"/>
          </a:xfrm>
          <a:prstGeom prst="rect">
            <a:avLst/>
          </a:prstGeom>
        </p:spPr>
      </p:pic>
      <p:pic>
        <p:nvPicPr>
          <p:cNvPr id="22" name="Image 20" descr="preencoded.png">    </p:cNvPr>
          <p:cNvPicPr>
            <a:picLocks noChangeAspect="1"/>
          </p:cNvPicPr>
          <p:nvPr/>
        </p:nvPicPr>
        <p:blipFill>
          <a:blip r:embed="rId21"/>
          <a:stretch>
            <a:fillRect/>
          </a:stretch>
        </p:blipFill>
        <p:spPr>
          <a:xfrm>
            <a:off x="4667250" y="4038600"/>
            <a:ext cx="2857500" cy="1143000"/>
          </a:xfrm>
          <a:prstGeom prst="rect">
            <a:avLst/>
          </a:prstGeom>
        </p:spPr>
      </p:pic>
      <p:pic>
        <p:nvPicPr>
          <p:cNvPr id="23" name="Image 21" descr="preencoded.png">    </p:cNvPr>
          <p:cNvPicPr>
            <a:picLocks noChangeAspect="1"/>
          </p:cNvPicPr>
          <p:nvPr/>
        </p:nvPicPr>
        <p:blipFill>
          <a:blip r:embed="rId22"/>
          <a:stretch>
            <a:fillRect/>
          </a:stretch>
        </p:blipFill>
        <p:spPr>
          <a:xfrm>
            <a:off x="4819650" y="4191000"/>
            <a:ext cx="304800" cy="304800"/>
          </a:xfrm>
          <a:prstGeom prst="rect">
            <a:avLst/>
          </a:prstGeom>
        </p:spPr>
      </p:pic>
      <p:pic>
        <p:nvPicPr>
          <p:cNvPr id="24" name="Image 22" descr="preencoded.png">    </p:cNvPr>
          <p:cNvPicPr>
            <a:picLocks noChangeAspect="1"/>
          </p:cNvPicPr>
          <p:nvPr/>
        </p:nvPicPr>
        <p:blipFill>
          <a:blip r:embed="rId23"/>
          <a:stretch>
            <a:fillRect/>
          </a:stretch>
        </p:blipFill>
        <p:spPr>
          <a:xfrm>
            <a:off x="4886325" y="4248150"/>
            <a:ext cx="171450" cy="190500"/>
          </a:xfrm>
          <a:prstGeom prst="rect">
            <a:avLst/>
          </a:prstGeom>
        </p:spPr>
      </p:pic>
      <p:pic>
        <p:nvPicPr>
          <p:cNvPr id="25" name="Image 23" descr="preencoded.png">    </p:cNvPr>
          <p:cNvPicPr>
            <a:picLocks noChangeAspect="1"/>
          </p:cNvPicPr>
          <p:nvPr/>
        </p:nvPicPr>
        <p:blipFill>
          <a:blip r:embed="rId24"/>
          <a:stretch>
            <a:fillRect/>
          </a:stretch>
        </p:blipFill>
        <p:spPr>
          <a:xfrm>
            <a:off x="4819650" y="4629150"/>
            <a:ext cx="104775" cy="133350"/>
          </a:xfrm>
          <a:prstGeom prst="rect">
            <a:avLst/>
          </a:prstGeom>
        </p:spPr>
      </p:pic>
      <p:pic>
        <p:nvPicPr>
          <p:cNvPr id="26" name="Image 24" descr="preencoded.png">    </p:cNvPr>
          <p:cNvPicPr>
            <a:picLocks noChangeAspect="1"/>
          </p:cNvPicPr>
          <p:nvPr/>
        </p:nvPicPr>
        <p:blipFill>
          <a:blip r:embed="rId25"/>
          <a:stretch>
            <a:fillRect/>
          </a:stretch>
        </p:blipFill>
        <p:spPr>
          <a:xfrm>
            <a:off x="4819650" y="4857750"/>
            <a:ext cx="133350" cy="133350"/>
          </a:xfrm>
          <a:prstGeom prst="rect">
            <a:avLst/>
          </a:prstGeom>
        </p:spPr>
      </p:pic>
      <p:pic>
        <p:nvPicPr>
          <p:cNvPr id="27" name="Image 25" descr="preencoded.png">    </p:cNvPr>
          <p:cNvPicPr>
            <a:picLocks noChangeAspect="1"/>
          </p:cNvPicPr>
          <p:nvPr/>
        </p:nvPicPr>
        <p:blipFill>
          <a:blip r:embed="rId26"/>
          <a:stretch>
            <a:fillRect/>
          </a:stretch>
        </p:blipFill>
        <p:spPr>
          <a:xfrm>
            <a:off x="8953500" y="4038600"/>
            <a:ext cx="2857500" cy="1143000"/>
          </a:xfrm>
          <a:prstGeom prst="rect">
            <a:avLst/>
          </a:prstGeom>
        </p:spPr>
      </p:pic>
      <p:pic>
        <p:nvPicPr>
          <p:cNvPr id="28" name="Image 26" descr="preencoded.png">    </p:cNvPr>
          <p:cNvPicPr>
            <a:picLocks noChangeAspect="1"/>
          </p:cNvPicPr>
          <p:nvPr/>
        </p:nvPicPr>
        <p:blipFill>
          <a:blip r:embed="rId27"/>
          <a:stretch>
            <a:fillRect/>
          </a:stretch>
        </p:blipFill>
        <p:spPr>
          <a:xfrm>
            <a:off x="9105900" y="4191000"/>
            <a:ext cx="304800" cy="304800"/>
          </a:xfrm>
          <a:prstGeom prst="rect">
            <a:avLst/>
          </a:prstGeom>
        </p:spPr>
      </p:pic>
      <p:pic>
        <p:nvPicPr>
          <p:cNvPr id="29" name="Image 27" descr="preencoded.png">    </p:cNvPr>
          <p:cNvPicPr>
            <a:picLocks noChangeAspect="1"/>
          </p:cNvPicPr>
          <p:nvPr/>
        </p:nvPicPr>
        <p:blipFill>
          <a:blip r:embed="rId28"/>
          <a:stretch>
            <a:fillRect/>
          </a:stretch>
        </p:blipFill>
        <p:spPr>
          <a:xfrm>
            <a:off x="9172575" y="4248150"/>
            <a:ext cx="171450" cy="190500"/>
          </a:xfrm>
          <a:prstGeom prst="rect">
            <a:avLst/>
          </a:prstGeom>
        </p:spPr>
      </p:pic>
      <p:pic>
        <p:nvPicPr>
          <p:cNvPr id="30" name="Image 28" descr="preencoded.png">    </p:cNvPr>
          <p:cNvPicPr>
            <a:picLocks noChangeAspect="1"/>
          </p:cNvPicPr>
          <p:nvPr/>
        </p:nvPicPr>
        <p:blipFill>
          <a:blip r:embed="rId29"/>
          <a:stretch>
            <a:fillRect/>
          </a:stretch>
        </p:blipFill>
        <p:spPr>
          <a:xfrm>
            <a:off x="9105900" y="4629150"/>
            <a:ext cx="133350" cy="133350"/>
          </a:xfrm>
          <a:prstGeom prst="rect">
            <a:avLst/>
          </a:prstGeom>
        </p:spPr>
      </p:pic>
      <p:pic>
        <p:nvPicPr>
          <p:cNvPr id="31" name="Image 29" descr="preencoded.png">    </p:cNvPr>
          <p:cNvPicPr>
            <a:picLocks noChangeAspect="1"/>
          </p:cNvPicPr>
          <p:nvPr/>
        </p:nvPicPr>
        <p:blipFill>
          <a:blip r:embed="rId30"/>
          <a:stretch>
            <a:fillRect/>
          </a:stretch>
        </p:blipFill>
        <p:spPr>
          <a:xfrm>
            <a:off x="9105900" y="4857750"/>
            <a:ext cx="133350" cy="133350"/>
          </a:xfrm>
          <a:prstGeom prst="rect">
            <a:avLst/>
          </a:prstGeom>
        </p:spPr>
      </p:pic>
      <p:pic>
        <p:nvPicPr>
          <p:cNvPr id="32" name="Image 30" descr="preencoded.png">    </p:cNvPr>
          <p:cNvPicPr>
            <a:picLocks noChangeAspect="1"/>
          </p:cNvPicPr>
          <p:nvPr/>
        </p:nvPicPr>
        <p:blipFill>
          <a:blip r:embed="rId31"/>
          <a:stretch>
            <a:fillRect/>
          </a:stretch>
        </p:blipFill>
        <p:spPr>
          <a:xfrm>
            <a:off x="2895600" y="3819525"/>
            <a:ext cx="1143000" cy="19050"/>
          </a:xfrm>
          <a:prstGeom prst="rect">
            <a:avLst/>
          </a:prstGeom>
        </p:spPr>
      </p:pic>
      <p:pic>
        <p:nvPicPr>
          <p:cNvPr id="33" name="Image 31" descr="preencoded.png">    </p:cNvPr>
          <p:cNvPicPr>
            <a:picLocks noChangeAspect="1"/>
          </p:cNvPicPr>
          <p:nvPr/>
        </p:nvPicPr>
        <p:blipFill>
          <a:blip r:embed="rId32"/>
          <a:stretch>
            <a:fillRect/>
          </a:stretch>
        </p:blipFill>
        <p:spPr>
          <a:xfrm>
            <a:off x="5753100" y="3819525"/>
            <a:ext cx="1143000" cy="19050"/>
          </a:xfrm>
          <a:prstGeom prst="rect">
            <a:avLst/>
          </a:prstGeom>
        </p:spPr>
      </p:pic>
      <p:pic>
        <p:nvPicPr>
          <p:cNvPr id="34" name="Image 32" descr="preencoded.png">    </p:cNvPr>
          <p:cNvPicPr>
            <a:picLocks noChangeAspect="1"/>
          </p:cNvPicPr>
          <p:nvPr/>
        </p:nvPicPr>
        <p:blipFill>
          <a:blip r:embed="rId33"/>
          <a:stretch>
            <a:fillRect/>
          </a:stretch>
        </p:blipFill>
        <p:spPr>
          <a:xfrm>
            <a:off x="8610600" y="3819525"/>
            <a:ext cx="1143000" cy="19050"/>
          </a:xfrm>
          <a:prstGeom prst="rect">
            <a:avLst/>
          </a:prstGeom>
        </p:spPr>
      </p:pic>
      <p:sp>
        <p:nvSpPr>
          <p:cNvPr id="35"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創新解決方案</a:t>
            </a:r>
            <a:endParaRPr lang="en-US" sz="2700" dirty="0"/>
          </a:p>
        </p:txBody>
      </p:sp>
      <p:sp>
        <p:nvSpPr>
          <p:cNvPr id="36" name="Text 1"/>
          <p:cNvSpPr/>
          <p:nvPr/>
        </p:nvSpPr>
        <p:spPr>
          <a:xfrm>
            <a:off x="381000" y="1104900"/>
            <a:ext cx="114300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跨品牌協同框架 (CBRC Framework)</a:t>
            </a:r>
            <a:endParaRPr lang="en-US" sz="1800" dirty="0"/>
          </a:p>
        </p:txBody>
      </p:sp>
      <p:sp>
        <p:nvSpPr>
          <p:cNvPr id="37" name="Text 2"/>
          <p:cNvSpPr/>
          <p:nvPr/>
        </p:nvSpPr>
        <p:spPr>
          <a:xfrm>
            <a:off x="381000" y="1524000"/>
            <a:ext cx="11430000" cy="266700"/>
          </a:xfrm>
          <a:prstGeom prst="rect">
            <a:avLst/>
          </a:prstGeom>
          <a:noFill/>
          <a:ln/>
        </p:spPr>
        <p:txBody>
          <a:bodyPr wrap="square" lIns="0" tIns="0" rIns="0" bIns="0" rtlCol="0" anchor="t" vert="horz"/>
          <a:lstStyle/>
          <a:p>
            <a:pPr indent="0" marL="0">
              <a:lnSpc>
                <a:spcPts val="2100"/>
              </a:lnSpc>
              <a:buNone/>
            </a:pPr>
            <a:r>
              <a:rPr lang="en-US" sz="1350" dirty="0">
                <a:solidFill>
                  <a:srgbClr val="D1D5DB"/>
                </a:solidFill>
                <a:latin typeface="ui-sans-serif" pitchFamily="34" charset="0"/>
                <a:ea typeface="ui-sans-serif" pitchFamily="34" charset="-122"/>
                <a:cs typeface="ui-sans-serif" pitchFamily="34" charset="-120"/>
              </a:rPr>
              <a:t>打破品牌壁壘，實現多品牌AGV的高效協同作業，解決共用空間衝突問題</a:t>
            </a:r>
            <a:endParaRPr lang="en-US" sz="1350" dirty="0"/>
          </a:p>
        </p:txBody>
      </p:sp>
      <p:sp>
        <p:nvSpPr>
          <p:cNvPr id="38" name="Text 3"/>
          <p:cNvSpPr/>
          <p:nvPr/>
        </p:nvSpPr>
        <p:spPr>
          <a:xfrm>
            <a:off x="1181100" y="2209800"/>
            <a:ext cx="98298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統一協調層 (Universal Coordination Layer)</a:t>
            </a:r>
            <a:endParaRPr lang="en-US" sz="1500" dirty="0"/>
          </a:p>
        </p:txBody>
      </p:sp>
      <p:sp>
        <p:nvSpPr>
          <p:cNvPr id="39" name="Text 4"/>
          <p:cNvSpPr/>
          <p:nvPr/>
        </p:nvSpPr>
        <p:spPr>
          <a:xfrm>
            <a:off x="2000250" y="2552700"/>
            <a:ext cx="81915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AGV集群的「智慧大腦」，負責統一調度與管理</a:t>
            </a:r>
            <a:endParaRPr lang="en-US" sz="1200" dirty="0"/>
          </a:p>
        </p:txBody>
      </p:sp>
      <p:sp>
        <p:nvSpPr>
          <p:cNvPr id="40" name="Text 5"/>
          <p:cNvSpPr/>
          <p:nvPr/>
        </p:nvSpPr>
        <p:spPr>
          <a:xfrm>
            <a:off x="2887028" y="3124200"/>
            <a:ext cx="73152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路權仲裁</a:t>
            </a:r>
            <a:endParaRPr lang="en-US" sz="1200" dirty="0"/>
          </a:p>
        </p:txBody>
      </p:sp>
      <p:sp>
        <p:nvSpPr>
          <p:cNvPr id="41" name="Text 6"/>
          <p:cNvSpPr/>
          <p:nvPr/>
        </p:nvSpPr>
        <p:spPr>
          <a:xfrm>
            <a:off x="4896803" y="3124200"/>
            <a:ext cx="73152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路徑預約</a:t>
            </a:r>
            <a:endParaRPr lang="en-US" sz="1200" dirty="0"/>
          </a:p>
        </p:txBody>
      </p:sp>
      <p:sp>
        <p:nvSpPr>
          <p:cNvPr id="42" name="Text 7"/>
          <p:cNvSpPr/>
          <p:nvPr/>
        </p:nvSpPr>
        <p:spPr>
          <a:xfrm>
            <a:off x="6906578" y="3124200"/>
            <a:ext cx="73152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衝突解決</a:t>
            </a:r>
            <a:endParaRPr lang="en-US" sz="1200" dirty="0"/>
          </a:p>
        </p:txBody>
      </p:sp>
      <p:sp>
        <p:nvSpPr>
          <p:cNvPr id="43" name="Text 8"/>
          <p:cNvSpPr/>
          <p:nvPr/>
        </p:nvSpPr>
        <p:spPr>
          <a:xfrm>
            <a:off x="8901113" y="3124200"/>
            <a:ext cx="9144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優先級管理</a:t>
            </a:r>
            <a:endParaRPr lang="en-US" sz="1200" dirty="0"/>
          </a:p>
        </p:txBody>
      </p:sp>
      <p:sp>
        <p:nvSpPr>
          <p:cNvPr id="44" name="Text 9"/>
          <p:cNvSpPr/>
          <p:nvPr/>
        </p:nvSpPr>
        <p:spPr>
          <a:xfrm>
            <a:off x="952500" y="4229100"/>
            <a:ext cx="1056025"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品牌A機器人</a:t>
            </a:r>
            <a:endParaRPr lang="en-US" sz="1200" dirty="0"/>
          </a:p>
        </p:txBody>
      </p:sp>
      <p:sp>
        <p:nvSpPr>
          <p:cNvPr id="45" name="Text 10"/>
          <p:cNvSpPr/>
          <p:nvPr/>
        </p:nvSpPr>
        <p:spPr>
          <a:xfrm>
            <a:off x="714375" y="46101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適配器連接</a:t>
            </a:r>
            <a:endParaRPr lang="en-US" sz="1050" dirty="0"/>
          </a:p>
        </p:txBody>
      </p:sp>
      <p:sp>
        <p:nvSpPr>
          <p:cNvPr id="46" name="Text 11"/>
          <p:cNvSpPr/>
          <p:nvPr/>
        </p:nvSpPr>
        <p:spPr>
          <a:xfrm>
            <a:off x="742950" y="48387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統一協議通訊</a:t>
            </a:r>
            <a:endParaRPr lang="en-US" sz="1050" dirty="0"/>
          </a:p>
        </p:txBody>
      </p:sp>
      <p:sp>
        <p:nvSpPr>
          <p:cNvPr id="47" name="Text 12"/>
          <p:cNvSpPr/>
          <p:nvPr/>
        </p:nvSpPr>
        <p:spPr>
          <a:xfrm>
            <a:off x="5238750" y="4229100"/>
            <a:ext cx="1053882"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品牌B機器人</a:t>
            </a:r>
            <a:endParaRPr lang="en-US" sz="1200" dirty="0"/>
          </a:p>
        </p:txBody>
      </p:sp>
      <p:sp>
        <p:nvSpPr>
          <p:cNvPr id="48" name="Text 13"/>
          <p:cNvSpPr/>
          <p:nvPr/>
        </p:nvSpPr>
        <p:spPr>
          <a:xfrm>
            <a:off x="5000625" y="46101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適配器連接</a:t>
            </a:r>
            <a:endParaRPr lang="en-US" sz="1050" dirty="0"/>
          </a:p>
        </p:txBody>
      </p:sp>
      <p:sp>
        <p:nvSpPr>
          <p:cNvPr id="49" name="Text 14"/>
          <p:cNvSpPr/>
          <p:nvPr/>
        </p:nvSpPr>
        <p:spPr>
          <a:xfrm>
            <a:off x="5029200" y="48387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統一協議通訊</a:t>
            </a:r>
            <a:endParaRPr lang="en-US" sz="1050" dirty="0"/>
          </a:p>
        </p:txBody>
      </p:sp>
      <p:sp>
        <p:nvSpPr>
          <p:cNvPr id="50" name="Text 15"/>
          <p:cNvSpPr/>
          <p:nvPr/>
        </p:nvSpPr>
        <p:spPr>
          <a:xfrm>
            <a:off x="9525000" y="4229100"/>
            <a:ext cx="981908"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本專案AGV</a:t>
            </a:r>
            <a:endParaRPr lang="en-US" sz="1200" dirty="0"/>
          </a:p>
        </p:txBody>
      </p:sp>
      <p:sp>
        <p:nvSpPr>
          <p:cNvPr id="51" name="Text 16"/>
          <p:cNvSpPr/>
          <p:nvPr/>
        </p:nvSpPr>
        <p:spPr>
          <a:xfrm>
            <a:off x="9315450" y="46101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原生支援</a:t>
            </a:r>
            <a:endParaRPr lang="en-US" sz="1050" dirty="0"/>
          </a:p>
        </p:txBody>
      </p:sp>
      <p:sp>
        <p:nvSpPr>
          <p:cNvPr id="52" name="Text 17"/>
          <p:cNvSpPr/>
          <p:nvPr/>
        </p:nvSpPr>
        <p:spPr>
          <a:xfrm>
            <a:off x="9315450" y="4838700"/>
            <a:ext cx="2552700" cy="190500"/>
          </a:xfrm>
          <a:prstGeom prst="rect">
            <a:avLst/>
          </a:prstGeom>
          <a:noFill/>
          <a:ln/>
        </p:spPr>
        <p:txBody>
          <a:bodyPr wrap="square" lIns="0" tIns="0" rIns="0" bIns="0" rtlCol="0" anchor="t" vert="horz"/>
          <a:lstStyle/>
          <a:p>
            <a:pP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直接協議通訊</a:t>
            </a:r>
            <a:endParaRPr lang="en-US" sz="1050" dirty="0"/>
          </a:p>
        </p:txBody>
      </p:sp>
      <p:sp>
        <p:nvSpPr>
          <p:cNvPr id="53" name="Text 18"/>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54" name="Text 19"/>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609600" y="2209800"/>
            <a:ext cx="1676400" cy="1714500"/>
          </a:xfrm>
          <a:prstGeom prst="rect">
            <a:avLst/>
          </a:prstGeom>
        </p:spPr>
      </p:pic>
      <p:pic>
        <p:nvPicPr>
          <p:cNvPr id="5" name="Image 3" descr="preencoded.png">    </p:cNvPr>
          <p:cNvPicPr>
            <a:picLocks noChangeAspect="1"/>
          </p:cNvPicPr>
          <p:nvPr/>
        </p:nvPicPr>
        <p:blipFill>
          <a:blip r:embed="rId4"/>
          <a:stretch>
            <a:fillRect/>
          </a:stretch>
        </p:blipFill>
        <p:spPr>
          <a:xfrm>
            <a:off x="1143000" y="2362200"/>
            <a:ext cx="609600" cy="609600"/>
          </a:xfrm>
          <a:prstGeom prst="rect">
            <a:avLst/>
          </a:prstGeom>
        </p:spPr>
      </p:pic>
      <p:pic>
        <p:nvPicPr>
          <p:cNvPr id="6" name="Image 4" descr="preencoded.png">    </p:cNvPr>
          <p:cNvPicPr>
            <a:picLocks noChangeAspect="1"/>
          </p:cNvPicPr>
          <p:nvPr/>
        </p:nvPicPr>
        <p:blipFill>
          <a:blip r:embed="rId5"/>
          <a:stretch>
            <a:fillRect/>
          </a:stretch>
        </p:blipFill>
        <p:spPr>
          <a:xfrm>
            <a:off x="1319213" y="2514600"/>
            <a:ext cx="257175" cy="304800"/>
          </a:xfrm>
          <a:prstGeom prst="rect">
            <a:avLst/>
          </a:prstGeom>
        </p:spPr>
      </p:pic>
      <p:pic>
        <p:nvPicPr>
          <p:cNvPr id="7" name="Image 5" descr="preencoded.png">    </p:cNvPr>
          <p:cNvPicPr>
            <a:picLocks noChangeAspect="1"/>
          </p:cNvPicPr>
          <p:nvPr/>
        </p:nvPicPr>
        <p:blipFill>
          <a:blip r:embed="rId6"/>
          <a:stretch>
            <a:fillRect/>
          </a:stretch>
        </p:blipFill>
        <p:spPr>
          <a:xfrm>
            <a:off x="2933700" y="2114550"/>
            <a:ext cx="1676400" cy="1905000"/>
          </a:xfrm>
          <a:prstGeom prst="rect">
            <a:avLst/>
          </a:prstGeom>
        </p:spPr>
      </p:pic>
      <p:pic>
        <p:nvPicPr>
          <p:cNvPr id="8" name="Image 6" descr="preencoded.png">    </p:cNvPr>
          <p:cNvPicPr>
            <a:picLocks noChangeAspect="1"/>
          </p:cNvPicPr>
          <p:nvPr/>
        </p:nvPicPr>
        <p:blipFill>
          <a:blip r:embed="rId7"/>
          <a:stretch>
            <a:fillRect/>
          </a:stretch>
        </p:blipFill>
        <p:spPr>
          <a:xfrm>
            <a:off x="3467100" y="2266950"/>
            <a:ext cx="609600" cy="609600"/>
          </a:xfrm>
          <a:prstGeom prst="rect">
            <a:avLst/>
          </a:prstGeom>
        </p:spPr>
      </p:pic>
      <p:pic>
        <p:nvPicPr>
          <p:cNvPr id="9" name="Image 7" descr="preencoded.png">    </p:cNvPr>
          <p:cNvPicPr>
            <a:picLocks noChangeAspect="1"/>
          </p:cNvPicPr>
          <p:nvPr/>
        </p:nvPicPr>
        <p:blipFill>
          <a:blip r:embed="rId8"/>
          <a:stretch>
            <a:fillRect/>
          </a:stretch>
        </p:blipFill>
        <p:spPr>
          <a:xfrm>
            <a:off x="3657600" y="2419350"/>
            <a:ext cx="228600" cy="304800"/>
          </a:xfrm>
          <a:prstGeom prst="rect">
            <a:avLst/>
          </a:prstGeom>
        </p:spPr>
      </p:pic>
      <p:pic>
        <p:nvPicPr>
          <p:cNvPr id="10" name="Image 8" descr="preencoded.png">    </p:cNvPr>
          <p:cNvPicPr>
            <a:picLocks noChangeAspect="1"/>
          </p:cNvPicPr>
          <p:nvPr/>
        </p:nvPicPr>
        <p:blipFill>
          <a:blip r:embed="rId9"/>
          <a:stretch>
            <a:fillRect/>
          </a:stretch>
        </p:blipFill>
        <p:spPr>
          <a:xfrm>
            <a:off x="5257800" y="2209800"/>
            <a:ext cx="1676400" cy="1714500"/>
          </a:xfrm>
          <a:prstGeom prst="rect">
            <a:avLst/>
          </a:prstGeom>
        </p:spPr>
      </p:pic>
      <p:pic>
        <p:nvPicPr>
          <p:cNvPr id="11" name="Image 9" descr="preencoded.png">    </p:cNvPr>
          <p:cNvPicPr>
            <a:picLocks noChangeAspect="1"/>
          </p:cNvPicPr>
          <p:nvPr/>
        </p:nvPicPr>
        <p:blipFill>
          <a:blip r:embed="rId10"/>
          <a:stretch>
            <a:fillRect/>
          </a:stretch>
        </p:blipFill>
        <p:spPr>
          <a:xfrm>
            <a:off x="5791200" y="2362200"/>
            <a:ext cx="609600" cy="609600"/>
          </a:xfrm>
          <a:prstGeom prst="rect">
            <a:avLst/>
          </a:prstGeom>
        </p:spPr>
      </p:pic>
      <p:pic>
        <p:nvPicPr>
          <p:cNvPr id="12" name="Image 10" descr="preencoded.png">    </p:cNvPr>
          <p:cNvPicPr>
            <a:picLocks noChangeAspect="1"/>
          </p:cNvPicPr>
          <p:nvPr/>
        </p:nvPicPr>
        <p:blipFill>
          <a:blip r:embed="rId11"/>
          <a:stretch>
            <a:fillRect/>
          </a:stretch>
        </p:blipFill>
        <p:spPr>
          <a:xfrm>
            <a:off x="5981700" y="2514600"/>
            <a:ext cx="228600" cy="304800"/>
          </a:xfrm>
          <a:prstGeom prst="rect">
            <a:avLst/>
          </a:prstGeom>
        </p:spPr>
      </p:pic>
      <p:pic>
        <p:nvPicPr>
          <p:cNvPr id="13" name="Image 11" descr="preencoded.png">    </p:cNvPr>
          <p:cNvPicPr>
            <a:picLocks noChangeAspect="1"/>
          </p:cNvPicPr>
          <p:nvPr/>
        </p:nvPicPr>
        <p:blipFill>
          <a:blip r:embed="rId12"/>
          <a:stretch>
            <a:fillRect/>
          </a:stretch>
        </p:blipFill>
        <p:spPr>
          <a:xfrm>
            <a:off x="7581900" y="2209800"/>
            <a:ext cx="1676400" cy="1714500"/>
          </a:xfrm>
          <a:prstGeom prst="rect">
            <a:avLst/>
          </a:prstGeom>
        </p:spPr>
      </p:pic>
      <p:pic>
        <p:nvPicPr>
          <p:cNvPr id="14" name="Image 12" descr="preencoded.png">    </p:cNvPr>
          <p:cNvPicPr>
            <a:picLocks noChangeAspect="1"/>
          </p:cNvPicPr>
          <p:nvPr/>
        </p:nvPicPr>
        <p:blipFill>
          <a:blip r:embed="rId13"/>
          <a:stretch>
            <a:fillRect/>
          </a:stretch>
        </p:blipFill>
        <p:spPr>
          <a:xfrm>
            <a:off x="8115300" y="2362200"/>
            <a:ext cx="609600" cy="609600"/>
          </a:xfrm>
          <a:prstGeom prst="rect">
            <a:avLst/>
          </a:prstGeom>
        </p:spPr>
      </p:pic>
      <p:pic>
        <p:nvPicPr>
          <p:cNvPr id="15" name="Image 13" descr="preencoded.png">    </p:cNvPr>
          <p:cNvPicPr>
            <a:picLocks noChangeAspect="1"/>
          </p:cNvPicPr>
          <p:nvPr/>
        </p:nvPicPr>
        <p:blipFill>
          <a:blip r:embed="rId14"/>
          <a:stretch>
            <a:fillRect/>
          </a:stretch>
        </p:blipFill>
        <p:spPr>
          <a:xfrm>
            <a:off x="8291513" y="2514600"/>
            <a:ext cx="257175" cy="304800"/>
          </a:xfrm>
          <a:prstGeom prst="rect">
            <a:avLst/>
          </a:prstGeom>
        </p:spPr>
      </p:pic>
      <p:pic>
        <p:nvPicPr>
          <p:cNvPr id="16" name="Image 14" descr="preencoded.png">    </p:cNvPr>
          <p:cNvPicPr>
            <a:picLocks noChangeAspect="1"/>
          </p:cNvPicPr>
          <p:nvPr/>
        </p:nvPicPr>
        <p:blipFill>
          <a:blip r:embed="rId15"/>
          <a:stretch>
            <a:fillRect/>
          </a:stretch>
        </p:blipFill>
        <p:spPr>
          <a:xfrm>
            <a:off x="9906000" y="2209800"/>
            <a:ext cx="1676400" cy="1714500"/>
          </a:xfrm>
          <a:prstGeom prst="rect">
            <a:avLst/>
          </a:prstGeom>
        </p:spPr>
      </p:pic>
      <p:pic>
        <p:nvPicPr>
          <p:cNvPr id="17" name="Image 15" descr="preencoded.png">    </p:cNvPr>
          <p:cNvPicPr>
            <a:picLocks noChangeAspect="1"/>
          </p:cNvPicPr>
          <p:nvPr/>
        </p:nvPicPr>
        <p:blipFill>
          <a:blip r:embed="rId16"/>
          <a:stretch>
            <a:fillRect/>
          </a:stretch>
        </p:blipFill>
        <p:spPr>
          <a:xfrm>
            <a:off x="10439400" y="2362200"/>
            <a:ext cx="609600" cy="609600"/>
          </a:xfrm>
          <a:prstGeom prst="rect">
            <a:avLst/>
          </a:prstGeom>
        </p:spPr>
      </p:pic>
      <p:pic>
        <p:nvPicPr>
          <p:cNvPr id="18" name="Image 16" descr="preencoded.png">    </p:cNvPr>
          <p:cNvPicPr>
            <a:picLocks noChangeAspect="1"/>
          </p:cNvPicPr>
          <p:nvPr/>
        </p:nvPicPr>
        <p:blipFill>
          <a:blip r:embed="rId17"/>
          <a:stretch>
            <a:fillRect/>
          </a:stretch>
        </p:blipFill>
        <p:spPr>
          <a:xfrm>
            <a:off x="10629900" y="2514600"/>
            <a:ext cx="228600" cy="304800"/>
          </a:xfrm>
          <a:prstGeom prst="rect">
            <a:avLst/>
          </a:prstGeom>
        </p:spPr>
      </p:pic>
      <p:pic>
        <p:nvPicPr>
          <p:cNvPr id="19" name="Image 17" descr="preencoded.png">    </p:cNvPr>
          <p:cNvPicPr>
            <a:picLocks noChangeAspect="1"/>
          </p:cNvPicPr>
          <p:nvPr/>
        </p:nvPicPr>
        <p:blipFill>
          <a:blip r:embed="rId18"/>
          <a:stretch>
            <a:fillRect/>
          </a:stretch>
        </p:blipFill>
        <p:spPr>
          <a:xfrm>
            <a:off x="381000" y="4762500"/>
            <a:ext cx="11430000" cy="1257300"/>
          </a:xfrm>
          <a:prstGeom prst="rect">
            <a:avLst/>
          </a:prstGeom>
        </p:spPr>
      </p:pic>
      <p:pic>
        <p:nvPicPr>
          <p:cNvPr id="20" name="Image 18" descr="preencoded.png">    </p:cNvPr>
          <p:cNvPicPr>
            <a:picLocks noChangeAspect="1"/>
          </p:cNvPicPr>
          <p:nvPr/>
        </p:nvPicPr>
        <p:blipFill>
          <a:blip r:embed="rId19"/>
          <a:stretch>
            <a:fillRect/>
          </a:stretch>
        </p:blipFill>
        <p:spPr>
          <a:xfrm>
            <a:off x="609600" y="5410200"/>
            <a:ext cx="381000" cy="381000"/>
          </a:xfrm>
          <a:prstGeom prst="rect">
            <a:avLst/>
          </a:prstGeom>
        </p:spPr>
      </p:pic>
      <p:pic>
        <p:nvPicPr>
          <p:cNvPr id="21" name="Image 19" descr="preencoded.png">    </p:cNvPr>
          <p:cNvPicPr>
            <a:picLocks noChangeAspect="1"/>
          </p:cNvPicPr>
          <p:nvPr/>
        </p:nvPicPr>
        <p:blipFill>
          <a:blip r:embed="rId20"/>
          <a:stretch>
            <a:fillRect/>
          </a:stretch>
        </p:blipFill>
        <p:spPr>
          <a:xfrm>
            <a:off x="752475" y="5524500"/>
            <a:ext cx="95250" cy="152400"/>
          </a:xfrm>
          <a:prstGeom prst="rect">
            <a:avLst/>
          </a:prstGeom>
        </p:spPr>
      </p:pic>
      <p:pic>
        <p:nvPicPr>
          <p:cNvPr id="22" name="Image 20" descr="preencoded.png">    </p:cNvPr>
          <p:cNvPicPr>
            <a:picLocks noChangeAspect="1"/>
          </p:cNvPicPr>
          <p:nvPr/>
        </p:nvPicPr>
        <p:blipFill>
          <a:blip r:embed="rId21"/>
          <a:stretch>
            <a:fillRect/>
          </a:stretch>
        </p:blipFill>
        <p:spPr>
          <a:xfrm>
            <a:off x="3390900" y="5410200"/>
            <a:ext cx="381000" cy="381000"/>
          </a:xfrm>
          <a:prstGeom prst="rect">
            <a:avLst/>
          </a:prstGeom>
        </p:spPr>
      </p:pic>
      <p:pic>
        <p:nvPicPr>
          <p:cNvPr id="23" name="Image 21" descr="preencoded.png">    </p:cNvPr>
          <p:cNvPicPr>
            <a:picLocks noChangeAspect="1"/>
          </p:cNvPicPr>
          <p:nvPr/>
        </p:nvPicPr>
        <p:blipFill>
          <a:blip r:embed="rId22"/>
          <a:stretch>
            <a:fillRect/>
          </a:stretch>
        </p:blipFill>
        <p:spPr>
          <a:xfrm>
            <a:off x="3514725" y="5524500"/>
            <a:ext cx="133350" cy="152400"/>
          </a:xfrm>
          <a:prstGeom prst="rect">
            <a:avLst/>
          </a:prstGeom>
        </p:spPr>
      </p:pic>
      <p:pic>
        <p:nvPicPr>
          <p:cNvPr id="24" name="Image 22" descr="preencoded.png">    </p:cNvPr>
          <p:cNvPicPr>
            <a:picLocks noChangeAspect="1"/>
          </p:cNvPicPr>
          <p:nvPr/>
        </p:nvPicPr>
        <p:blipFill>
          <a:blip r:embed="rId23"/>
          <a:stretch>
            <a:fillRect/>
          </a:stretch>
        </p:blipFill>
        <p:spPr>
          <a:xfrm>
            <a:off x="6172200" y="5410200"/>
            <a:ext cx="381000" cy="381000"/>
          </a:xfrm>
          <a:prstGeom prst="rect">
            <a:avLst/>
          </a:prstGeom>
        </p:spPr>
      </p:pic>
      <p:pic>
        <p:nvPicPr>
          <p:cNvPr id="25" name="Image 23" descr="preencoded.png">    </p:cNvPr>
          <p:cNvPicPr>
            <a:picLocks noChangeAspect="1"/>
          </p:cNvPicPr>
          <p:nvPr/>
        </p:nvPicPr>
        <p:blipFill>
          <a:blip r:embed="rId24"/>
          <a:stretch>
            <a:fillRect/>
          </a:stretch>
        </p:blipFill>
        <p:spPr>
          <a:xfrm>
            <a:off x="6286500" y="5524500"/>
            <a:ext cx="152400" cy="152400"/>
          </a:xfrm>
          <a:prstGeom prst="rect">
            <a:avLst/>
          </a:prstGeom>
        </p:spPr>
      </p:pic>
      <p:pic>
        <p:nvPicPr>
          <p:cNvPr id="26" name="Image 24" descr="preencoded.png">    </p:cNvPr>
          <p:cNvPicPr>
            <a:picLocks noChangeAspect="1"/>
          </p:cNvPicPr>
          <p:nvPr/>
        </p:nvPicPr>
        <p:blipFill>
          <a:blip r:embed="rId25"/>
          <a:stretch>
            <a:fillRect/>
          </a:stretch>
        </p:blipFill>
        <p:spPr>
          <a:xfrm>
            <a:off x="8953500" y="5410200"/>
            <a:ext cx="381000" cy="381000"/>
          </a:xfrm>
          <a:prstGeom prst="rect">
            <a:avLst/>
          </a:prstGeom>
        </p:spPr>
      </p:pic>
      <p:pic>
        <p:nvPicPr>
          <p:cNvPr id="27" name="Image 25" descr="preencoded.png">    </p:cNvPr>
          <p:cNvPicPr>
            <a:picLocks noChangeAspect="1"/>
          </p:cNvPicPr>
          <p:nvPr/>
        </p:nvPicPr>
        <p:blipFill>
          <a:blip r:embed="rId26"/>
          <a:stretch>
            <a:fillRect/>
          </a:stretch>
        </p:blipFill>
        <p:spPr>
          <a:xfrm>
            <a:off x="9058275" y="5524500"/>
            <a:ext cx="171450" cy="152400"/>
          </a:xfrm>
          <a:prstGeom prst="rect">
            <a:avLst/>
          </a:prstGeom>
        </p:spPr>
      </p:pic>
      <p:sp>
        <p:nvSpPr>
          <p:cNvPr id="28"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系統工作原理</a:t>
            </a:r>
            <a:endParaRPr lang="en-US" sz="2700" dirty="0"/>
          </a:p>
        </p:txBody>
      </p:sp>
      <p:sp>
        <p:nvSpPr>
          <p:cNvPr id="29" name="Text 1"/>
          <p:cNvSpPr/>
          <p:nvPr/>
        </p:nvSpPr>
        <p:spPr>
          <a:xfrm>
            <a:off x="-762000" y="1104900"/>
            <a:ext cx="13716000" cy="266700"/>
          </a:xfrm>
          <a:prstGeom prst="rect">
            <a:avLst/>
          </a:prstGeom>
          <a:noFill/>
          <a:ln/>
        </p:spPr>
        <p:txBody>
          <a:bodyPr wrap="square" lIns="0" tIns="0" rIns="0" bIns="0" rtlCol="0" anchor="t" vert="horz"/>
          <a:lstStyle/>
          <a:p>
            <a:pPr algn="ctr" indent="0" marL="0">
              <a:lnSpc>
                <a:spcPts val="2100"/>
              </a:lnSpc>
              <a:buNone/>
            </a:pPr>
            <a:r>
              <a:rPr lang="en-US" sz="1500" dirty="0">
                <a:solidFill>
                  <a:srgbClr val="D1D5DB"/>
                </a:solidFill>
                <a:latin typeface="ui-sans-serif" pitchFamily="34" charset="0"/>
                <a:ea typeface="ui-sans-serif" pitchFamily="34" charset="-122"/>
                <a:cs typeface="ui-sans-serif" pitchFamily="34" charset="-120"/>
              </a:rPr>
              <a:t>從心跳廣播到執行避讓的五步驟工作流程，實現機器人間的智能協商與避讓</a:t>
            </a:r>
            <a:endParaRPr lang="en-US" sz="1500" dirty="0"/>
          </a:p>
        </p:txBody>
      </p:sp>
      <p:sp>
        <p:nvSpPr>
          <p:cNvPr id="30" name="Text 2"/>
          <p:cNvSpPr/>
          <p:nvPr/>
        </p:nvSpPr>
        <p:spPr>
          <a:xfrm>
            <a:off x="951845" y="3086100"/>
            <a:ext cx="99191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1. 心跳廣播</a:t>
            </a:r>
            <a:endParaRPr lang="en-US" sz="1200" dirty="0"/>
          </a:p>
        </p:txBody>
      </p:sp>
      <p:sp>
        <p:nvSpPr>
          <p:cNvPr id="31" name="Text 3"/>
          <p:cNvSpPr/>
          <p:nvPr/>
        </p:nvSpPr>
        <p:spPr>
          <a:xfrm>
            <a:off x="762000" y="3390900"/>
            <a:ext cx="13716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每台機器人每秒廣播位置、速度、狀態、電量</a:t>
            </a:r>
            <a:endParaRPr lang="en-US" sz="1050" dirty="0"/>
          </a:p>
        </p:txBody>
      </p:sp>
      <p:sp>
        <p:nvSpPr>
          <p:cNvPr id="32" name="Text 4"/>
          <p:cNvSpPr/>
          <p:nvPr/>
        </p:nvSpPr>
        <p:spPr>
          <a:xfrm>
            <a:off x="3275945" y="2990850"/>
            <a:ext cx="99191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2. 路徑預約</a:t>
            </a:r>
            <a:endParaRPr lang="en-US" sz="1200" dirty="0"/>
          </a:p>
        </p:txBody>
      </p:sp>
      <p:sp>
        <p:nvSpPr>
          <p:cNvPr id="33" name="Text 5"/>
          <p:cNvSpPr/>
          <p:nvPr/>
        </p:nvSpPr>
        <p:spPr>
          <a:xfrm>
            <a:off x="3086100" y="3295650"/>
            <a:ext cx="1371600" cy="571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規劃路徑時提前廣播"我將在5秒後經過A點"</a:t>
            </a:r>
            <a:endParaRPr lang="en-US" sz="1050" dirty="0"/>
          </a:p>
        </p:txBody>
      </p:sp>
      <p:sp>
        <p:nvSpPr>
          <p:cNvPr id="34" name="Text 6"/>
          <p:cNvSpPr/>
          <p:nvPr/>
        </p:nvSpPr>
        <p:spPr>
          <a:xfrm>
            <a:off x="5600045" y="3086100"/>
            <a:ext cx="99191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3. 衝突檢測</a:t>
            </a:r>
            <a:endParaRPr lang="en-US" sz="1200" dirty="0"/>
          </a:p>
        </p:txBody>
      </p:sp>
      <p:sp>
        <p:nvSpPr>
          <p:cNvPr id="35" name="Text 7"/>
          <p:cNvSpPr/>
          <p:nvPr/>
        </p:nvSpPr>
        <p:spPr>
          <a:xfrm>
            <a:off x="5410200" y="3390900"/>
            <a:ext cx="13716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協調层分析所有路徑，預測潛在衝突點</a:t>
            </a:r>
            <a:endParaRPr lang="en-US" sz="1050" dirty="0"/>
          </a:p>
        </p:txBody>
      </p:sp>
      <p:sp>
        <p:nvSpPr>
          <p:cNvPr id="36" name="Text 8"/>
          <p:cNvSpPr/>
          <p:nvPr/>
        </p:nvSpPr>
        <p:spPr>
          <a:xfrm>
            <a:off x="7832705" y="3086100"/>
            <a:ext cx="117479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4. 優先權協商</a:t>
            </a:r>
            <a:endParaRPr lang="en-US" sz="1200" dirty="0"/>
          </a:p>
        </p:txBody>
      </p:sp>
      <p:sp>
        <p:nvSpPr>
          <p:cNvPr id="37" name="Text 9"/>
          <p:cNvSpPr/>
          <p:nvPr/>
        </p:nvSpPr>
        <p:spPr>
          <a:xfrm>
            <a:off x="7734300" y="3390900"/>
            <a:ext cx="13716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基于任務類型、電量、距離等因素分配路權</a:t>
            </a:r>
            <a:endParaRPr lang="en-US" sz="1050" dirty="0"/>
          </a:p>
        </p:txBody>
      </p:sp>
      <p:sp>
        <p:nvSpPr>
          <p:cNvPr id="38" name="Text 10"/>
          <p:cNvSpPr/>
          <p:nvPr/>
        </p:nvSpPr>
        <p:spPr>
          <a:xfrm>
            <a:off x="10248245" y="3086100"/>
            <a:ext cx="99191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5. 執行避讓</a:t>
            </a:r>
            <a:endParaRPr lang="en-US" sz="1200" dirty="0"/>
          </a:p>
        </p:txBody>
      </p:sp>
      <p:sp>
        <p:nvSpPr>
          <p:cNvPr id="39" name="Text 11"/>
          <p:cNvSpPr/>
          <p:nvPr/>
        </p:nvSpPr>
        <p:spPr>
          <a:xfrm>
            <a:off x="10058400" y="3390900"/>
            <a:ext cx="13716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優先級低者主動避讓：停止、退後或改道</a:t>
            </a:r>
            <a:endParaRPr lang="en-US" sz="1050" dirty="0"/>
          </a:p>
        </p:txBody>
      </p:sp>
      <p:sp>
        <p:nvSpPr>
          <p:cNvPr id="40" name="Text 12"/>
          <p:cNvSpPr/>
          <p:nvPr/>
        </p:nvSpPr>
        <p:spPr>
          <a:xfrm>
            <a:off x="609600" y="4991100"/>
            <a:ext cx="109728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協調層核心功能</a:t>
            </a:r>
            <a:endParaRPr lang="en-US" sz="1500" dirty="0"/>
          </a:p>
        </p:txBody>
      </p:sp>
      <p:sp>
        <p:nvSpPr>
          <p:cNvPr id="41" name="Text 13"/>
          <p:cNvSpPr/>
          <p:nvPr/>
        </p:nvSpPr>
        <p:spPr>
          <a:xfrm>
            <a:off x="1104900" y="5486400"/>
            <a:ext cx="7315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路權仲裁</a:t>
            </a:r>
            <a:endParaRPr lang="en-US" sz="1200" dirty="0"/>
          </a:p>
        </p:txBody>
      </p:sp>
      <p:sp>
        <p:nvSpPr>
          <p:cNvPr id="42" name="Text 14"/>
          <p:cNvSpPr/>
          <p:nvPr/>
        </p:nvSpPr>
        <p:spPr>
          <a:xfrm>
            <a:off x="3886200" y="5486400"/>
            <a:ext cx="7315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路徑預約</a:t>
            </a:r>
            <a:endParaRPr lang="en-US" sz="1200" dirty="0"/>
          </a:p>
        </p:txBody>
      </p:sp>
      <p:sp>
        <p:nvSpPr>
          <p:cNvPr id="43" name="Text 15"/>
          <p:cNvSpPr/>
          <p:nvPr/>
        </p:nvSpPr>
        <p:spPr>
          <a:xfrm>
            <a:off x="6667500" y="5486400"/>
            <a:ext cx="7315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衝突解決</a:t>
            </a:r>
            <a:endParaRPr lang="en-US" sz="1200" dirty="0"/>
          </a:p>
        </p:txBody>
      </p:sp>
      <p:sp>
        <p:nvSpPr>
          <p:cNvPr id="44" name="Text 16"/>
          <p:cNvSpPr/>
          <p:nvPr/>
        </p:nvSpPr>
        <p:spPr>
          <a:xfrm>
            <a:off x="9448800" y="5486400"/>
            <a:ext cx="91440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優先級管理</a:t>
            </a:r>
            <a:endParaRPr lang="en-US" sz="1200" dirty="0"/>
          </a:p>
        </p:txBody>
      </p:sp>
      <p:sp>
        <p:nvSpPr>
          <p:cNvPr id="45" name="Text 17"/>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46" name="Text 18"/>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028700"/>
            <a:ext cx="381000" cy="381000"/>
          </a:xfrm>
          <a:prstGeom prst="rect">
            <a:avLst/>
          </a:prstGeom>
        </p:spPr>
      </p:pic>
      <p:pic>
        <p:nvPicPr>
          <p:cNvPr id="5" name="Image 3" descr="preencoded.png">    </p:cNvPr>
          <p:cNvPicPr>
            <a:picLocks noChangeAspect="1"/>
          </p:cNvPicPr>
          <p:nvPr/>
        </p:nvPicPr>
        <p:blipFill>
          <a:blip r:embed="rId4"/>
          <a:stretch>
            <a:fillRect/>
          </a:stretch>
        </p:blipFill>
        <p:spPr>
          <a:xfrm>
            <a:off x="476250" y="1085850"/>
            <a:ext cx="190500" cy="266700"/>
          </a:xfrm>
          <a:prstGeom prst="rect">
            <a:avLst/>
          </a:prstGeom>
        </p:spPr>
      </p:pic>
      <p:pic>
        <p:nvPicPr>
          <p:cNvPr id="6" name="Image 4" descr="preencoded.png">    </p:cNvPr>
          <p:cNvPicPr>
            <a:picLocks noChangeAspect="1"/>
          </p:cNvPicPr>
          <p:nvPr/>
        </p:nvPicPr>
        <p:blipFill>
          <a:blip r:embed="rId5"/>
          <a:stretch>
            <a:fillRect/>
          </a:stretch>
        </p:blipFill>
        <p:spPr>
          <a:xfrm>
            <a:off x="381000" y="2057400"/>
            <a:ext cx="3581400" cy="762000"/>
          </a:xfrm>
          <a:prstGeom prst="rect">
            <a:avLst/>
          </a:prstGeom>
        </p:spPr>
      </p:pic>
      <p:pic>
        <p:nvPicPr>
          <p:cNvPr id="7" name="Image 5" descr="preencoded.png">    </p:cNvPr>
          <p:cNvPicPr>
            <a:picLocks noChangeAspect="1"/>
          </p:cNvPicPr>
          <p:nvPr/>
        </p:nvPicPr>
        <p:blipFill>
          <a:blip r:embed="rId6"/>
          <a:stretch>
            <a:fillRect/>
          </a:stretch>
        </p:blipFill>
        <p:spPr>
          <a:xfrm>
            <a:off x="495300" y="2171700"/>
            <a:ext cx="190500" cy="266700"/>
          </a:xfrm>
          <a:prstGeom prst="rect">
            <a:avLst/>
          </a:prstGeom>
        </p:spPr>
      </p:pic>
      <p:pic>
        <p:nvPicPr>
          <p:cNvPr id="8" name="Image 6" descr="preencoded.png">    </p:cNvPr>
          <p:cNvPicPr>
            <a:picLocks noChangeAspect="1"/>
          </p:cNvPicPr>
          <p:nvPr/>
        </p:nvPicPr>
        <p:blipFill>
          <a:blip r:embed="rId7"/>
          <a:stretch>
            <a:fillRect/>
          </a:stretch>
        </p:blipFill>
        <p:spPr>
          <a:xfrm>
            <a:off x="381000" y="2933700"/>
            <a:ext cx="3581400" cy="762000"/>
          </a:xfrm>
          <a:prstGeom prst="rect">
            <a:avLst/>
          </a:prstGeom>
        </p:spPr>
      </p:pic>
      <p:pic>
        <p:nvPicPr>
          <p:cNvPr id="9" name="Image 7" descr="preencoded.png">    </p:cNvPr>
          <p:cNvPicPr>
            <a:picLocks noChangeAspect="1"/>
          </p:cNvPicPr>
          <p:nvPr/>
        </p:nvPicPr>
        <p:blipFill>
          <a:blip r:embed="rId8"/>
          <a:stretch>
            <a:fillRect/>
          </a:stretch>
        </p:blipFill>
        <p:spPr>
          <a:xfrm>
            <a:off x="495300" y="3048000"/>
            <a:ext cx="142875" cy="266700"/>
          </a:xfrm>
          <a:prstGeom prst="rect">
            <a:avLst/>
          </a:prstGeom>
        </p:spPr>
      </p:pic>
      <p:pic>
        <p:nvPicPr>
          <p:cNvPr id="10" name="Image 8" descr="preencoded.png">    </p:cNvPr>
          <p:cNvPicPr>
            <a:picLocks noChangeAspect="1"/>
          </p:cNvPicPr>
          <p:nvPr/>
        </p:nvPicPr>
        <p:blipFill>
          <a:blip r:embed="rId9"/>
          <a:stretch>
            <a:fillRect/>
          </a:stretch>
        </p:blipFill>
        <p:spPr>
          <a:xfrm>
            <a:off x="381000" y="3810000"/>
            <a:ext cx="3581400" cy="762000"/>
          </a:xfrm>
          <a:prstGeom prst="rect">
            <a:avLst/>
          </a:prstGeom>
        </p:spPr>
      </p:pic>
      <p:pic>
        <p:nvPicPr>
          <p:cNvPr id="11" name="Image 9" descr="preencoded.png">    </p:cNvPr>
          <p:cNvPicPr>
            <a:picLocks noChangeAspect="1"/>
          </p:cNvPicPr>
          <p:nvPr/>
        </p:nvPicPr>
        <p:blipFill>
          <a:blip r:embed="rId10"/>
          <a:stretch>
            <a:fillRect/>
          </a:stretch>
        </p:blipFill>
        <p:spPr>
          <a:xfrm>
            <a:off x="495300" y="3924300"/>
            <a:ext cx="171450" cy="266700"/>
          </a:xfrm>
          <a:prstGeom prst="rect">
            <a:avLst/>
          </a:prstGeom>
        </p:spPr>
      </p:pic>
      <p:pic>
        <p:nvPicPr>
          <p:cNvPr id="12" name="Image 10" descr="preencoded.png">    </p:cNvPr>
          <p:cNvPicPr>
            <a:picLocks noChangeAspect="1"/>
          </p:cNvPicPr>
          <p:nvPr/>
        </p:nvPicPr>
        <p:blipFill>
          <a:blip r:embed="rId11"/>
          <a:stretch>
            <a:fillRect/>
          </a:stretch>
        </p:blipFill>
        <p:spPr>
          <a:xfrm>
            <a:off x="4419600" y="1057275"/>
            <a:ext cx="171450" cy="228600"/>
          </a:xfrm>
          <a:prstGeom prst="rect">
            <a:avLst/>
          </a:prstGeom>
        </p:spPr>
      </p:pic>
      <p:pic>
        <p:nvPicPr>
          <p:cNvPr id="13" name="Image 11" descr="preencoded.png">    </p:cNvPr>
          <p:cNvPicPr>
            <a:picLocks noChangeAspect="1"/>
          </p:cNvPicPr>
          <p:nvPr/>
        </p:nvPicPr>
        <p:blipFill>
          <a:blip r:embed="rId12"/>
          <a:stretch>
            <a:fillRect/>
          </a:stretch>
        </p:blipFill>
        <p:spPr>
          <a:xfrm>
            <a:off x="4419600" y="1447800"/>
            <a:ext cx="3619500" cy="2743200"/>
          </a:xfrm>
          <a:prstGeom prst="rect">
            <a:avLst/>
          </a:prstGeom>
        </p:spPr>
      </p:pic>
      <p:pic>
        <p:nvPicPr>
          <p:cNvPr id="14" name="Image 12" descr="preencoded.png">    </p:cNvPr>
          <p:cNvPicPr>
            <a:picLocks noChangeAspect="1"/>
          </p:cNvPicPr>
          <p:nvPr/>
        </p:nvPicPr>
        <p:blipFill>
          <a:blip r:embed="rId13"/>
          <a:stretch>
            <a:fillRect/>
          </a:stretch>
        </p:blipFill>
        <p:spPr>
          <a:xfrm>
            <a:off x="4533900" y="1905000"/>
            <a:ext cx="3390900" cy="1943100"/>
          </a:xfrm>
          <a:prstGeom prst="rect">
            <a:avLst/>
          </a:prstGeom>
        </p:spPr>
      </p:pic>
      <p:pic>
        <p:nvPicPr>
          <p:cNvPr id="15" name="Image 13" descr="preencoded.png">    </p:cNvPr>
          <p:cNvPicPr>
            <a:picLocks noChangeAspect="1"/>
          </p:cNvPicPr>
          <p:nvPr/>
        </p:nvPicPr>
        <p:blipFill>
          <a:blip r:embed="rId14"/>
          <a:stretch>
            <a:fillRect/>
          </a:stretch>
        </p:blipFill>
        <p:spPr>
          <a:xfrm>
            <a:off x="8191500" y="1447800"/>
            <a:ext cx="3619500" cy="2743200"/>
          </a:xfrm>
          <a:prstGeom prst="rect">
            <a:avLst/>
          </a:prstGeom>
        </p:spPr>
      </p:pic>
      <p:pic>
        <p:nvPicPr>
          <p:cNvPr id="16" name="Image 14" descr="preencoded.png">    </p:cNvPr>
          <p:cNvPicPr>
            <a:picLocks noChangeAspect="1"/>
          </p:cNvPicPr>
          <p:nvPr/>
        </p:nvPicPr>
        <p:blipFill>
          <a:blip r:embed="rId15"/>
          <a:stretch>
            <a:fillRect/>
          </a:stretch>
        </p:blipFill>
        <p:spPr>
          <a:xfrm>
            <a:off x="8305800" y="1905000"/>
            <a:ext cx="3390900" cy="1371600"/>
          </a:xfrm>
          <a:prstGeom prst="rect">
            <a:avLst/>
          </a:prstGeom>
        </p:spPr>
      </p:pic>
      <p:pic>
        <p:nvPicPr>
          <p:cNvPr id="17" name="Image 15" descr="preencoded.png">    </p:cNvPr>
          <p:cNvPicPr>
            <a:picLocks noChangeAspect="1"/>
          </p:cNvPicPr>
          <p:nvPr/>
        </p:nvPicPr>
        <p:blipFill>
          <a:blip r:embed="rId16"/>
          <a:stretch>
            <a:fillRect/>
          </a:stretch>
        </p:blipFill>
        <p:spPr>
          <a:xfrm>
            <a:off x="4419600" y="4305300"/>
            <a:ext cx="7391400" cy="1371600"/>
          </a:xfrm>
          <a:prstGeom prst="rect">
            <a:avLst/>
          </a:prstGeom>
        </p:spPr>
      </p:pic>
      <p:pic>
        <p:nvPicPr>
          <p:cNvPr id="18" name="Image 16" descr="preencoded.png">    </p:cNvPr>
          <p:cNvPicPr>
            <a:picLocks noChangeAspect="1"/>
          </p:cNvPicPr>
          <p:nvPr/>
        </p:nvPicPr>
        <p:blipFill>
          <a:blip r:embed="rId17"/>
          <a:stretch>
            <a:fillRect/>
          </a:stretch>
        </p:blipFill>
        <p:spPr>
          <a:xfrm>
            <a:off x="4533900" y="4457700"/>
            <a:ext cx="238125" cy="190500"/>
          </a:xfrm>
          <a:prstGeom prst="rect">
            <a:avLst/>
          </a:prstGeom>
        </p:spPr>
      </p:pic>
      <p:pic>
        <p:nvPicPr>
          <p:cNvPr id="19" name="Image 17" descr="preencoded.png">    </p:cNvPr>
          <p:cNvPicPr>
            <a:picLocks noChangeAspect="1"/>
          </p:cNvPicPr>
          <p:nvPr/>
        </p:nvPicPr>
        <p:blipFill>
          <a:blip r:embed="rId18"/>
          <a:stretch>
            <a:fillRect/>
          </a:stretch>
        </p:blipFill>
        <p:spPr>
          <a:xfrm>
            <a:off x="4533900" y="4762500"/>
            <a:ext cx="533400" cy="533400"/>
          </a:xfrm>
          <a:prstGeom prst="rect">
            <a:avLst/>
          </a:prstGeom>
        </p:spPr>
      </p:pic>
      <p:pic>
        <p:nvPicPr>
          <p:cNvPr id="20" name="Image 18" descr="preencoded.png">    </p:cNvPr>
          <p:cNvPicPr>
            <a:picLocks noChangeAspect="1"/>
          </p:cNvPicPr>
          <p:nvPr/>
        </p:nvPicPr>
        <p:blipFill>
          <a:blip r:embed="rId19"/>
          <a:stretch>
            <a:fillRect/>
          </a:stretch>
        </p:blipFill>
        <p:spPr>
          <a:xfrm>
            <a:off x="4681538" y="4895850"/>
            <a:ext cx="238125" cy="266700"/>
          </a:xfrm>
          <a:prstGeom prst="rect">
            <a:avLst/>
          </a:prstGeom>
        </p:spPr>
      </p:pic>
      <p:pic>
        <p:nvPicPr>
          <p:cNvPr id="21" name="Image 19" descr="preencoded.png">    </p:cNvPr>
          <p:cNvPicPr>
            <a:picLocks noChangeAspect="1"/>
          </p:cNvPicPr>
          <p:nvPr/>
        </p:nvPicPr>
        <p:blipFill>
          <a:blip r:embed="rId20"/>
          <a:stretch>
            <a:fillRect/>
          </a:stretch>
        </p:blipFill>
        <p:spPr>
          <a:xfrm>
            <a:off x="5181600" y="5038725"/>
            <a:ext cx="2552700" cy="19050"/>
          </a:xfrm>
          <a:prstGeom prst="rect">
            <a:avLst/>
          </a:prstGeom>
        </p:spPr>
      </p:pic>
      <p:pic>
        <p:nvPicPr>
          <p:cNvPr id="22" name="Image 20" descr="preencoded.png">    </p:cNvPr>
          <p:cNvPicPr>
            <a:picLocks noChangeAspect="1"/>
          </p:cNvPicPr>
          <p:nvPr/>
        </p:nvPicPr>
        <p:blipFill>
          <a:blip r:embed="rId21"/>
          <a:stretch>
            <a:fillRect/>
          </a:stretch>
        </p:blipFill>
        <p:spPr>
          <a:xfrm>
            <a:off x="6112818" y="5114925"/>
            <a:ext cx="114300" cy="133350"/>
          </a:xfrm>
          <a:prstGeom prst="rect">
            <a:avLst/>
          </a:prstGeom>
        </p:spPr>
      </p:pic>
      <p:pic>
        <p:nvPicPr>
          <p:cNvPr id="23" name="Image 21" descr="preencoded.png">    </p:cNvPr>
          <p:cNvPicPr>
            <a:picLocks noChangeAspect="1"/>
          </p:cNvPicPr>
          <p:nvPr/>
        </p:nvPicPr>
        <p:blipFill>
          <a:blip r:embed="rId22"/>
          <a:stretch>
            <a:fillRect/>
          </a:stretch>
        </p:blipFill>
        <p:spPr>
          <a:xfrm>
            <a:off x="7848600" y="4762500"/>
            <a:ext cx="533400" cy="533400"/>
          </a:xfrm>
          <a:prstGeom prst="rect">
            <a:avLst/>
          </a:prstGeom>
        </p:spPr>
      </p:pic>
      <p:pic>
        <p:nvPicPr>
          <p:cNvPr id="24" name="Image 22" descr="preencoded.png">    </p:cNvPr>
          <p:cNvPicPr>
            <a:picLocks noChangeAspect="1"/>
          </p:cNvPicPr>
          <p:nvPr/>
        </p:nvPicPr>
        <p:blipFill>
          <a:blip r:embed="rId23"/>
          <a:stretch>
            <a:fillRect/>
          </a:stretch>
        </p:blipFill>
        <p:spPr>
          <a:xfrm>
            <a:off x="8020050" y="4895850"/>
            <a:ext cx="190500" cy="266700"/>
          </a:xfrm>
          <a:prstGeom prst="rect">
            <a:avLst/>
          </a:prstGeom>
        </p:spPr>
      </p:pic>
      <p:pic>
        <p:nvPicPr>
          <p:cNvPr id="25" name="Image 23" descr="preencoded.png">    </p:cNvPr>
          <p:cNvPicPr>
            <a:picLocks noChangeAspect="1"/>
          </p:cNvPicPr>
          <p:nvPr/>
        </p:nvPicPr>
        <p:blipFill>
          <a:blip r:embed="rId24"/>
          <a:stretch>
            <a:fillRect/>
          </a:stretch>
        </p:blipFill>
        <p:spPr>
          <a:xfrm>
            <a:off x="8496300" y="5038725"/>
            <a:ext cx="2552700" cy="19050"/>
          </a:xfrm>
          <a:prstGeom prst="rect">
            <a:avLst/>
          </a:prstGeom>
        </p:spPr>
      </p:pic>
      <p:pic>
        <p:nvPicPr>
          <p:cNvPr id="26" name="Image 24" descr="preencoded.png">    </p:cNvPr>
          <p:cNvPicPr>
            <a:picLocks noChangeAspect="1"/>
          </p:cNvPicPr>
          <p:nvPr/>
        </p:nvPicPr>
        <p:blipFill>
          <a:blip r:embed="rId25"/>
          <a:stretch>
            <a:fillRect/>
          </a:stretch>
        </p:blipFill>
        <p:spPr>
          <a:xfrm>
            <a:off x="9427518" y="5114925"/>
            <a:ext cx="114300" cy="133350"/>
          </a:xfrm>
          <a:prstGeom prst="rect">
            <a:avLst/>
          </a:prstGeom>
        </p:spPr>
      </p:pic>
      <p:pic>
        <p:nvPicPr>
          <p:cNvPr id="27" name="Image 25" descr="preencoded.png">    </p:cNvPr>
          <p:cNvPicPr>
            <a:picLocks noChangeAspect="1"/>
          </p:cNvPicPr>
          <p:nvPr/>
        </p:nvPicPr>
        <p:blipFill>
          <a:blip r:embed="rId26"/>
          <a:stretch>
            <a:fillRect/>
          </a:stretch>
        </p:blipFill>
        <p:spPr>
          <a:xfrm>
            <a:off x="11163300" y="4762500"/>
            <a:ext cx="533400" cy="533400"/>
          </a:xfrm>
          <a:prstGeom prst="rect">
            <a:avLst/>
          </a:prstGeom>
        </p:spPr>
      </p:pic>
      <p:pic>
        <p:nvPicPr>
          <p:cNvPr id="28" name="Image 26" descr="preencoded.png">    </p:cNvPr>
          <p:cNvPicPr>
            <a:picLocks noChangeAspect="1"/>
          </p:cNvPicPr>
          <p:nvPr/>
        </p:nvPicPr>
        <p:blipFill>
          <a:blip r:embed="rId27"/>
          <a:stretch>
            <a:fillRect/>
          </a:stretch>
        </p:blipFill>
        <p:spPr>
          <a:xfrm>
            <a:off x="11310938" y="4895850"/>
            <a:ext cx="238125" cy="266700"/>
          </a:xfrm>
          <a:prstGeom prst="rect">
            <a:avLst/>
          </a:prstGeom>
        </p:spPr>
      </p:pic>
      <p:sp>
        <p:nvSpPr>
          <p:cNvPr id="29"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統一通訊協議</a:t>
            </a:r>
            <a:endParaRPr lang="en-US" sz="2700" dirty="0"/>
          </a:p>
        </p:txBody>
      </p:sp>
      <p:sp>
        <p:nvSpPr>
          <p:cNvPr id="30" name="Text 1"/>
          <p:cNvSpPr/>
          <p:nvPr/>
        </p:nvSpPr>
        <p:spPr>
          <a:xfrm>
            <a:off x="876300" y="1066800"/>
            <a:ext cx="2661047"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MQTT 5.0 選擇理由</a:t>
            </a:r>
            <a:endParaRPr lang="en-US" sz="1800" dirty="0"/>
          </a:p>
        </p:txBody>
      </p:sp>
      <p:sp>
        <p:nvSpPr>
          <p:cNvPr id="31" name="Text 2"/>
          <p:cNvSpPr/>
          <p:nvPr/>
        </p:nvSpPr>
        <p:spPr>
          <a:xfrm>
            <a:off x="381000" y="1485900"/>
            <a:ext cx="35814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基於發布/訂閱模式的輕量級協議，適合物聯網和機器人系統中低頻寬、高延遲網路環境。</a:t>
            </a:r>
            <a:endParaRPr lang="en-US" sz="1200" dirty="0"/>
          </a:p>
        </p:txBody>
      </p:sp>
      <p:sp>
        <p:nvSpPr>
          <p:cNvPr id="32" name="Text 3"/>
          <p:cNvSpPr/>
          <p:nvPr/>
        </p:nvSpPr>
        <p:spPr>
          <a:xfrm>
            <a:off x="800100" y="2171700"/>
            <a:ext cx="617220" cy="266700"/>
          </a:xfrm>
          <a:prstGeom prst="rect">
            <a:avLst/>
          </a:prstGeom>
          <a:noFill/>
          <a:ln/>
        </p:spPr>
        <p:txBody>
          <a:bodyPr wrap="square" lIns="0" tIns="0" rIns="0" bIns="0" rtlCol="0" anchor="t" vert="horz"/>
          <a:lstStyle/>
          <a:p>
            <a:pPr indent="0" marL="0">
              <a:lnSpc>
                <a:spcPts val="2100"/>
              </a:lnSpc>
              <a:buNone/>
            </a:pPr>
            <a:r>
              <a:rPr lang="en-US" sz="1350" b="1" dirty="0">
                <a:solidFill>
                  <a:srgbClr val="FFFFFF"/>
                </a:solidFill>
                <a:latin typeface="ui-sans-serif" pitchFamily="34" charset="0"/>
                <a:ea typeface="ui-sans-serif" pitchFamily="34" charset="-122"/>
                <a:cs typeface="ui-sans-serif" pitchFamily="34" charset="-120"/>
              </a:rPr>
              <a:t>輕量級</a:t>
            </a:r>
            <a:endParaRPr lang="en-US" sz="1350" dirty="0"/>
          </a:p>
        </p:txBody>
      </p:sp>
      <p:sp>
        <p:nvSpPr>
          <p:cNvPr id="33" name="Text 4"/>
          <p:cNvSpPr/>
          <p:nvPr/>
        </p:nvSpPr>
        <p:spPr>
          <a:xfrm>
            <a:off x="495300" y="2476500"/>
            <a:ext cx="4023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採用JSON格式封裝消息，最小化數據量</a:t>
            </a:r>
            <a:endParaRPr lang="en-US" sz="1200" dirty="0"/>
          </a:p>
        </p:txBody>
      </p:sp>
      <p:sp>
        <p:nvSpPr>
          <p:cNvPr id="34" name="Text 5"/>
          <p:cNvSpPr/>
          <p:nvPr/>
        </p:nvSpPr>
        <p:spPr>
          <a:xfrm>
            <a:off x="752475" y="3048000"/>
            <a:ext cx="617220" cy="266700"/>
          </a:xfrm>
          <a:prstGeom prst="rect">
            <a:avLst/>
          </a:prstGeom>
          <a:noFill/>
          <a:ln/>
        </p:spPr>
        <p:txBody>
          <a:bodyPr wrap="square" lIns="0" tIns="0" rIns="0" bIns="0" rtlCol="0" anchor="t" vert="horz"/>
          <a:lstStyle/>
          <a:p>
            <a:pPr indent="0" marL="0">
              <a:lnSpc>
                <a:spcPts val="2100"/>
              </a:lnSpc>
              <a:buNone/>
            </a:pPr>
            <a:r>
              <a:rPr lang="en-US" sz="1350" b="1" dirty="0">
                <a:solidFill>
                  <a:srgbClr val="FFFFFF"/>
                </a:solidFill>
                <a:latin typeface="ui-sans-serif" pitchFamily="34" charset="0"/>
                <a:ea typeface="ui-sans-serif" pitchFamily="34" charset="-122"/>
                <a:cs typeface="ui-sans-serif" pitchFamily="34" charset="-120"/>
              </a:rPr>
              <a:t>即時性</a:t>
            </a:r>
            <a:endParaRPr lang="en-US" sz="1350" dirty="0"/>
          </a:p>
        </p:txBody>
      </p:sp>
      <p:sp>
        <p:nvSpPr>
          <p:cNvPr id="35" name="Text 6"/>
          <p:cNvSpPr/>
          <p:nvPr/>
        </p:nvSpPr>
        <p:spPr>
          <a:xfrm>
            <a:off x="495300" y="3352800"/>
            <a:ext cx="4023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利用QoS 1保證消息可靠傳輸，延遲低於100ms</a:t>
            </a:r>
            <a:endParaRPr lang="en-US" sz="1200" dirty="0"/>
          </a:p>
        </p:txBody>
      </p:sp>
      <p:sp>
        <p:nvSpPr>
          <p:cNvPr id="36" name="Text 7"/>
          <p:cNvSpPr/>
          <p:nvPr/>
        </p:nvSpPr>
        <p:spPr>
          <a:xfrm>
            <a:off x="781050" y="3924300"/>
            <a:ext cx="617220" cy="266700"/>
          </a:xfrm>
          <a:prstGeom prst="rect">
            <a:avLst/>
          </a:prstGeom>
          <a:noFill/>
          <a:ln/>
        </p:spPr>
        <p:txBody>
          <a:bodyPr wrap="square" lIns="0" tIns="0" rIns="0" bIns="0" rtlCol="0" anchor="t" vert="horz"/>
          <a:lstStyle/>
          <a:p>
            <a:pPr indent="0" marL="0">
              <a:lnSpc>
                <a:spcPts val="2100"/>
              </a:lnSpc>
              <a:buNone/>
            </a:pPr>
            <a:r>
              <a:rPr lang="en-US" sz="1350" b="1" dirty="0">
                <a:solidFill>
                  <a:srgbClr val="FFFFFF"/>
                </a:solidFill>
                <a:latin typeface="ui-sans-serif" pitchFamily="34" charset="0"/>
                <a:ea typeface="ui-sans-serif" pitchFamily="34" charset="-122"/>
                <a:cs typeface="ui-sans-serif" pitchFamily="34" charset="-120"/>
              </a:rPr>
              <a:t>擴展性</a:t>
            </a:r>
            <a:endParaRPr lang="en-US" sz="1350" dirty="0"/>
          </a:p>
        </p:txBody>
      </p:sp>
      <p:sp>
        <p:nvSpPr>
          <p:cNvPr id="37" name="Text 8"/>
          <p:cNvSpPr/>
          <p:nvPr/>
        </p:nvSpPr>
        <p:spPr>
          <a:xfrm>
            <a:off x="495300" y="4229100"/>
            <a:ext cx="4023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支援自定義字段，方便不同品牌AGV擴展消息</a:t>
            </a:r>
            <a:endParaRPr lang="en-US" sz="1200" dirty="0"/>
          </a:p>
        </p:txBody>
      </p:sp>
      <p:sp>
        <p:nvSpPr>
          <p:cNvPr id="38" name="Text 9"/>
          <p:cNvSpPr/>
          <p:nvPr/>
        </p:nvSpPr>
        <p:spPr>
          <a:xfrm>
            <a:off x="4667250" y="1028700"/>
            <a:ext cx="73914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 消息格式範例</a:t>
            </a:r>
            <a:endParaRPr lang="en-US" sz="1800" dirty="0"/>
          </a:p>
        </p:txBody>
      </p:sp>
      <p:sp>
        <p:nvSpPr>
          <p:cNvPr id="39" name="Text 10"/>
          <p:cNvSpPr/>
          <p:nvPr/>
        </p:nvSpPr>
        <p:spPr>
          <a:xfrm>
            <a:off x="4533900" y="1562100"/>
            <a:ext cx="33909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93C5FD"/>
                </a:solidFill>
                <a:latin typeface="ui-sans-serif" pitchFamily="34" charset="0"/>
                <a:ea typeface="ui-sans-serif" pitchFamily="34" charset="-122"/>
                <a:cs typeface="ui-sans-serif" pitchFamily="34" charset="-120"/>
              </a:rPr>
              <a:t>路徑預約消息</a:t>
            </a:r>
            <a:endParaRPr lang="en-US" sz="1500" dirty="0"/>
          </a:p>
        </p:txBody>
      </p:sp>
      <p:sp>
        <p:nvSpPr>
          <p:cNvPr id="40" name="Text 11"/>
          <p:cNvSpPr/>
          <p:nvPr/>
        </p:nvSpPr>
        <p:spPr>
          <a:xfrm>
            <a:off x="4648200" y="2038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41" name="Text 12"/>
          <p:cNvSpPr/>
          <p:nvPr/>
        </p:nvSpPr>
        <p:spPr>
          <a:xfrm>
            <a:off x="4808339" y="2228850"/>
            <a:ext cx="576322"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"type"</a:t>
            </a:r>
            <a:endParaRPr lang="en-US" sz="1050" dirty="0"/>
          </a:p>
        </p:txBody>
      </p:sp>
      <p:sp>
        <p:nvSpPr>
          <p:cNvPr id="42" name="Text 13"/>
          <p:cNvSpPr/>
          <p:nvPr/>
        </p:nvSpPr>
        <p:spPr>
          <a:xfrm>
            <a:off x="5288607" y="2228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43" name="Text 14"/>
          <p:cNvSpPr/>
          <p:nvPr/>
        </p:nvSpPr>
        <p:spPr>
          <a:xfrm>
            <a:off x="5448746" y="2228850"/>
            <a:ext cx="1728609"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"path_reservation"</a:t>
            </a:r>
            <a:endParaRPr lang="en-US" sz="1050" dirty="0"/>
          </a:p>
        </p:txBody>
      </p:sp>
      <p:sp>
        <p:nvSpPr>
          <p:cNvPr id="44" name="Text 15"/>
          <p:cNvSpPr/>
          <p:nvPr/>
        </p:nvSpPr>
        <p:spPr>
          <a:xfrm>
            <a:off x="6889254" y="2228850"/>
            <a:ext cx="2321123"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45" name="Text 16"/>
          <p:cNvSpPr/>
          <p:nvPr/>
        </p:nvSpPr>
        <p:spPr>
          <a:xfrm>
            <a:off x="4808339" y="2419350"/>
            <a:ext cx="960299"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"robot_id"</a:t>
            </a:r>
            <a:endParaRPr lang="en-US" sz="1050" dirty="0"/>
          </a:p>
        </p:txBody>
      </p:sp>
      <p:sp>
        <p:nvSpPr>
          <p:cNvPr id="46" name="Text 17"/>
          <p:cNvSpPr/>
          <p:nvPr/>
        </p:nvSpPr>
        <p:spPr>
          <a:xfrm>
            <a:off x="5608588" y="24193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47" name="Text 18"/>
          <p:cNvSpPr/>
          <p:nvPr/>
        </p:nvSpPr>
        <p:spPr>
          <a:xfrm>
            <a:off x="5768727" y="2419350"/>
            <a:ext cx="864394"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"pudu_01"</a:t>
            </a:r>
            <a:endParaRPr lang="en-US" sz="1050" dirty="0"/>
          </a:p>
        </p:txBody>
      </p:sp>
      <p:sp>
        <p:nvSpPr>
          <p:cNvPr id="48" name="Text 19"/>
          <p:cNvSpPr/>
          <p:nvPr/>
        </p:nvSpPr>
        <p:spPr>
          <a:xfrm>
            <a:off x="6489055" y="2419350"/>
            <a:ext cx="1920925"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49" name="Text 20"/>
          <p:cNvSpPr/>
          <p:nvPr/>
        </p:nvSpPr>
        <p:spPr>
          <a:xfrm>
            <a:off x="4808339" y="2609850"/>
            <a:ext cx="672227"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"brand"</a:t>
            </a:r>
            <a:endParaRPr lang="en-US" sz="1050" dirty="0"/>
          </a:p>
        </p:txBody>
      </p:sp>
      <p:sp>
        <p:nvSpPr>
          <p:cNvPr id="50" name="Text 21"/>
          <p:cNvSpPr/>
          <p:nvPr/>
        </p:nvSpPr>
        <p:spPr>
          <a:xfrm>
            <a:off x="5368528"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51" name="Text 22"/>
          <p:cNvSpPr/>
          <p:nvPr/>
        </p:nvSpPr>
        <p:spPr>
          <a:xfrm>
            <a:off x="5528667" y="2609850"/>
            <a:ext cx="576322"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"pudu"</a:t>
            </a:r>
            <a:endParaRPr lang="en-US" sz="1050" dirty="0"/>
          </a:p>
        </p:txBody>
      </p:sp>
      <p:sp>
        <p:nvSpPr>
          <p:cNvPr id="52" name="Text 23"/>
          <p:cNvSpPr/>
          <p:nvPr/>
        </p:nvSpPr>
        <p:spPr>
          <a:xfrm>
            <a:off x="6008936" y="2609850"/>
            <a:ext cx="1440805"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53" name="Text 24"/>
          <p:cNvSpPr/>
          <p:nvPr/>
        </p:nvSpPr>
        <p:spPr>
          <a:xfrm>
            <a:off x="4808339" y="2800350"/>
            <a:ext cx="576322"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"path"</a:t>
            </a:r>
            <a:endParaRPr lang="en-US" sz="1050" dirty="0"/>
          </a:p>
        </p:txBody>
      </p:sp>
      <p:sp>
        <p:nvSpPr>
          <p:cNvPr id="54" name="Text 25"/>
          <p:cNvSpPr/>
          <p:nvPr/>
        </p:nvSpPr>
        <p:spPr>
          <a:xfrm>
            <a:off x="5288607" y="28003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55" name="Text 26"/>
          <p:cNvSpPr/>
          <p:nvPr/>
        </p:nvSpPr>
        <p:spPr>
          <a:xfrm>
            <a:off x="5448746" y="2800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56" name="Text 27"/>
          <p:cNvSpPr/>
          <p:nvPr/>
        </p:nvSpPr>
        <p:spPr>
          <a:xfrm>
            <a:off x="4968329" y="29908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57" name="Text 28"/>
          <p:cNvSpPr/>
          <p:nvPr/>
        </p:nvSpPr>
        <p:spPr>
          <a:xfrm>
            <a:off x="5048399" y="2990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"x"</a:t>
            </a:r>
            <a:endParaRPr lang="en-US" sz="1050" dirty="0"/>
          </a:p>
        </p:txBody>
      </p:sp>
      <p:sp>
        <p:nvSpPr>
          <p:cNvPr id="58" name="Text 29"/>
          <p:cNvSpPr/>
          <p:nvPr/>
        </p:nvSpPr>
        <p:spPr>
          <a:xfrm>
            <a:off x="5288607"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59" name="Text 30"/>
          <p:cNvSpPr/>
          <p:nvPr/>
        </p:nvSpPr>
        <p:spPr>
          <a:xfrm>
            <a:off x="5448746"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4CC9F0"/>
                </a:solidFill>
                <a:latin typeface="ui-monospace" pitchFamily="34" charset="0"/>
                <a:ea typeface="ui-monospace" pitchFamily="34" charset="-122"/>
                <a:cs typeface="ui-monospace" pitchFamily="34" charset="-120"/>
              </a:rPr>
              <a:t>10</a:t>
            </a:r>
            <a:endParaRPr lang="en-US" sz="1050" dirty="0"/>
          </a:p>
        </p:txBody>
      </p:sp>
      <p:sp>
        <p:nvSpPr>
          <p:cNvPr id="60" name="Text 31"/>
          <p:cNvSpPr/>
          <p:nvPr/>
        </p:nvSpPr>
        <p:spPr>
          <a:xfrm>
            <a:off x="5608886"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61" name="Text 32"/>
          <p:cNvSpPr/>
          <p:nvPr/>
        </p:nvSpPr>
        <p:spPr>
          <a:xfrm>
            <a:off x="5769025" y="2990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"y"</a:t>
            </a:r>
            <a:endParaRPr lang="en-US" sz="1050" dirty="0"/>
          </a:p>
        </p:txBody>
      </p:sp>
      <p:sp>
        <p:nvSpPr>
          <p:cNvPr id="62" name="Text 33"/>
          <p:cNvSpPr/>
          <p:nvPr/>
        </p:nvSpPr>
        <p:spPr>
          <a:xfrm>
            <a:off x="6009233"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63" name="Text 34"/>
          <p:cNvSpPr/>
          <p:nvPr/>
        </p:nvSpPr>
        <p:spPr>
          <a:xfrm>
            <a:off x="6169372"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4CC9F0"/>
                </a:solidFill>
                <a:latin typeface="ui-monospace" pitchFamily="34" charset="0"/>
                <a:ea typeface="ui-monospace" pitchFamily="34" charset="-122"/>
                <a:cs typeface="ui-monospace" pitchFamily="34" charset="-120"/>
              </a:rPr>
              <a:t>20</a:t>
            </a:r>
            <a:endParaRPr lang="en-US" sz="1050" dirty="0"/>
          </a:p>
        </p:txBody>
      </p:sp>
      <p:sp>
        <p:nvSpPr>
          <p:cNvPr id="64" name="Text 35"/>
          <p:cNvSpPr/>
          <p:nvPr/>
        </p:nvSpPr>
        <p:spPr>
          <a:xfrm>
            <a:off x="6329511"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65" name="Text 36"/>
          <p:cNvSpPr/>
          <p:nvPr/>
        </p:nvSpPr>
        <p:spPr>
          <a:xfrm>
            <a:off x="6489650" y="2990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"t"</a:t>
            </a:r>
            <a:endParaRPr lang="en-US" sz="1050" dirty="0"/>
          </a:p>
        </p:txBody>
      </p:sp>
      <p:sp>
        <p:nvSpPr>
          <p:cNvPr id="66" name="Text 37"/>
          <p:cNvSpPr/>
          <p:nvPr/>
        </p:nvSpPr>
        <p:spPr>
          <a:xfrm>
            <a:off x="6729859" y="2990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67" name="Text 38"/>
          <p:cNvSpPr/>
          <p:nvPr/>
        </p:nvSpPr>
        <p:spPr>
          <a:xfrm>
            <a:off x="6889998" y="2990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4CC9F0"/>
                </a:solidFill>
                <a:latin typeface="ui-monospace" pitchFamily="34" charset="0"/>
                <a:ea typeface="ui-monospace" pitchFamily="34" charset="-122"/>
                <a:cs typeface="ui-monospace" pitchFamily="34" charset="-120"/>
              </a:rPr>
              <a:t>100</a:t>
            </a:r>
            <a:endParaRPr lang="en-US" sz="1050" dirty="0"/>
          </a:p>
        </p:txBody>
      </p:sp>
      <p:sp>
        <p:nvSpPr>
          <p:cNvPr id="68" name="Text 39"/>
          <p:cNvSpPr/>
          <p:nvPr/>
        </p:nvSpPr>
        <p:spPr>
          <a:xfrm>
            <a:off x="7130207" y="29908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69" name="Text 40"/>
          <p:cNvSpPr/>
          <p:nvPr/>
        </p:nvSpPr>
        <p:spPr>
          <a:xfrm>
            <a:off x="4808339" y="3181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70" name="Text 41"/>
          <p:cNvSpPr/>
          <p:nvPr/>
        </p:nvSpPr>
        <p:spPr>
          <a:xfrm>
            <a:off x="4888409" y="3181350"/>
            <a:ext cx="384334"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71" name="Text 42"/>
          <p:cNvSpPr/>
          <p:nvPr/>
        </p:nvSpPr>
        <p:spPr>
          <a:xfrm>
            <a:off x="4808339" y="3371850"/>
            <a:ext cx="960299"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"priority"</a:t>
            </a:r>
            <a:endParaRPr lang="en-US" sz="1050" dirty="0"/>
          </a:p>
        </p:txBody>
      </p:sp>
      <p:sp>
        <p:nvSpPr>
          <p:cNvPr id="72" name="Text 43"/>
          <p:cNvSpPr/>
          <p:nvPr/>
        </p:nvSpPr>
        <p:spPr>
          <a:xfrm>
            <a:off x="5608588" y="3371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73" name="Text 44"/>
          <p:cNvSpPr/>
          <p:nvPr/>
        </p:nvSpPr>
        <p:spPr>
          <a:xfrm>
            <a:off x="5768727" y="3371850"/>
            <a:ext cx="768310"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"normal"</a:t>
            </a:r>
            <a:endParaRPr lang="en-US" sz="1050" dirty="0"/>
          </a:p>
        </p:txBody>
      </p:sp>
      <p:sp>
        <p:nvSpPr>
          <p:cNvPr id="74" name="Text 45"/>
          <p:cNvSpPr/>
          <p:nvPr/>
        </p:nvSpPr>
        <p:spPr>
          <a:xfrm>
            <a:off x="4648200" y="3562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75" name="Text 46"/>
          <p:cNvSpPr/>
          <p:nvPr/>
        </p:nvSpPr>
        <p:spPr>
          <a:xfrm>
            <a:off x="4533900" y="3886200"/>
            <a:ext cx="4069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type:</a:t>
            </a:r>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 消息類型，表示路徑預約</a:t>
            </a:r>
            <a:endParaRPr lang="en-US" sz="1050" dirty="0"/>
          </a:p>
        </p:txBody>
      </p:sp>
      <p:sp>
        <p:nvSpPr>
          <p:cNvPr id="76" name="Text 47"/>
          <p:cNvSpPr/>
          <p:nvPr/>
        </p:nvSpPr>
        <p:spPr>
          <a:xfrm>
            <a:off x="8305800" y="1562100"/>
            <a:ext cx="33909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93C5FD"/>
                </a:solidFill>
                <a:latin typeface="ui-sans-serif" pitchFamily="34" charset="0"/>
                <a:ea typeface="ui-sans-serif" pitchFamily="34" charset="-122"/>
                <a:cs typeface="ui-sans-serif" pitchFamily="34" charset="-120"/>
              </a:rPr>
              <a:t>路權請求消息</a:t>
            </a:r>
            <a:endParaRPr lang="en-US" sz="1500" dirty="0"/>
          </a:p>
        </p:txBody>
      </p:sp>
      <p:sp>
        <p:nvSpPr>
          <p:cNvPr id="77" name="Text 48"/>
          <p:cNvSpPr/>
          <p:nvPr/>
        </p:nvSpPr>
        <p:spPr>
          <a:xfrm>
            <a:off x="8420100" y="2038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78" name="Text 49"/>
          <p:cNvSpPr/>
          <p:nvPr/>
        </p:nvSpPr>
        <p:spPr>
          <a:xfrm>
            <a:off x="8580239" y="2228850"/>
            <a:ext cx="576322"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"type"</a:t>
            </a:r>
            <a:endParaRPr lang="en-US" sz="1050" dirty="0"/>
          </a:p>
        </p:txBody>
      </p:sp>
      <p:sp>
        <p:nvSpPr>
          <p:cNvPr id="79" name="Text 50"/>
          <p:cNvSpPr/>
          <p:nvPr/>
        </p:nvSpPr>
        <p:spPr>
          <a:xfrm>
            <a:off x="9060507" y="2228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80" name="Text 51"/>
          <p:cNvSpPr/>
          <p:nvPr/>
        </p:nvSpPr>
        <p:spPr>
          <a:xfrm>
            <a:off x="9220646" y="2228850"/>
            <a:ext cx="1344454"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"right_of_way"</a:t>
            </a:r>
            <a:endParaRPr lang="en-US" sz="1050" dirty="0"/>
          </a:p>
        </p:txBody>
      </p:sp>
      <p:sp>
        <p:nvSpPr>
          <p:cNvPr id="81" name="Text 52"/>
          <p:cNvSpPr/>
          <p:nvPr/>
        </p:nvSpPr>
        <p:spPr>
          <a:xfrm>
            <a:off x="10341025" y="2228850"/>
            <a:ext cx="2000994"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82" name="Text 53"/>
          <p:cNvSpPr/>
          <p:nvPr/>
        </p:nvSpPr>
        <p:spPr>
          <a:xfrm>
            <a:off x="8580239" y="2419350"/>
            <a:ext cx="960299"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"robot_id"</a:t>
            </a:r>
            <a:endParaRPr lang="en-US" sz="1050" dirty="0"/>
          </a:p>
        </p:txBody>
      </p:sp>
      <p:sp>
        <p:nvSpPr>
          <p:cNvPr id="83" name="Text 54"/>
          <p:cNvSpPr/>
          <p:nvPr/>
        </p:nvSpPr>
        <p:spPr>
          <a:xfrm>
            <a:off x="9380488" y="24193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84" name="Text 55"/>
          <p:cNvSpPr/>
          <p:nvPr/>
        </p:nvSpPr>
        <p:spPr>
          <a:xfrm>
            <a:off x="9540627" y="2419350"/>
            <a:ext cx="1056382"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"keenon_02"</a:t>
            </a:r>
            <a:endParaRPr lang="en-US" sz="1050" dirty="0"/>
          </a:p>
        </p:txBody>
      </p:sp>
      <p:sp>
        <p:nvSpPr>
          <p:cNvPr id="85" name="Text 56"/>
          <p:cNvSpPr/>
          <p:nvPr/>
        </p:nvSpPr>
        <p:spPr>
          <a:xfrm>
            <a:off x="10420945" y="2419350"/>
            <a:ext cx="2080915"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86" name="Text 57"/>
          <p:cNvSpPr/>
          <p:nvPr/>
        </p:nvSpPr>
        <p:spPr>
          <a:xfrm>
            <a:off x="8580239" y="2609850"/>
            <a:ext cx="960299"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"location"</a:t>
            </a:r>
            <a:endParaRPr lang="en-US" sz="1050" dirty="0"/>
          </a:p>
        </p:txBody>
      </p:sp>
      <p:sp>
        <p:nvSpPr>
          <p:cNvPr id="87" name="Text 58"/>
          <p:cNvSpPr/>
          <p:nvPr/>
        </p:nvSpPr>
        <p:spPr>
          <a:xfrm>
            <a:off x="9380488"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88" name="Text 59"/>
          <p:cNvSpPr/>
          <p:nvPr/>
        </p:nvSpPr>
        <p:spPr>
          <a:xfrm>
            <a:off x="9540627"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89" name="Text 60"/>
          <p:cNvSpPr/>
          <p:nvPr/>
        </p:nvSpPr>
        <p:spPr>
          <a:xfrm>
            <a:off x="9700766" y="2609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"x"</a:t>
            </a:r>
            <a:endParaRPr lang="en-US" sz="1050" dirty="0"/>
          </a:p>
        </p:txBody>
      </p:sp>
      <p:sp>
        <p:nvSpPr>
          <p:cNvPr id="90" name="Text 61"/>
          <p:cNvSpPr/>
          <p:nvPr/>
        </p:nvSpPr>
        <p:spPr>
          <a:xfrm>
            <a:off x="9940975"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91" name="Text 62"/>
          <p:cNvSpPr/>
          <p:nvPr/>
        </p:nvSpPr>
        <p:spPr>
          <a:xfrm>
            <a:off x="10101114"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4CC9F0"/>
                </a:solidFill>
                <a:latin typeface="ui-monospace" pitchFamily="34" charset="0"/>
                <a:ea typeface="ui-monospace" pitchFamily="34" charset="-122"/>
                <a:cs typeface="ui-monospace" pitchFamily="34" charset="-120"/>
              </a:rPr>
              <a:t>15</a:t>
            </a:r>
            <a:endParaRPr lang="en-US" sz="1050" dirty="0"/>
          </a:p>
        </p:txBody>
      </p:sp>
      <p:sp>
        <p:nvSpPr>
          <p:cNvPr id="92" name="Text 63"/>
          <p:cNvSpPr/>
          <p:nvPr/>
        </p:nvSpPr>
        <p:spPr>
          <a:xfrm>
            <a:off x="10261253"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93" name="Text 64"/>
          <p:cNvSpPr/>
          <p:nvPr/>
        </p:nvSpPr>
        <p:spPr>
          <a:xfrm>
            <a:off x="10421392" y="2609850"/>
            <a:ext cx="288250"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"y"</a:t>
            </a:r>
            <a:endParaRPr lang="en-US" sz="1050" dirty="0"/>
          </a:p>
        </p:txBody>
      </p:sp>
      <p:sp>
        <p:nvSpPr>
          <p:cNvPr id="94" name="Text 65"/>
          <p:cNvSpPr/>
          <p:nvPr/>
        </p:nvSpPr>
        <p:spPr>
          <a:xfrm>
            <a:off x="10661600"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95" name="Text 66"/>
          <p:cNvSpPr/>
          <p:nvPr/>
        </p:nvSpPr>
        <p:spPr>
          <a:xfrm>
            <a:off x="10821739"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4CC9F0"/>
                </a:solidFill>
                <a:latin typeface="ui-monospace" pitchFamily="34" charset="0"/>
                <a:ea typeface="ui-monospace" pitchFamily="34" charset="-122"/>
                <a:cs typeface="ui-monospace" pitchFamily="34" charset="-120"/>
              </a:rPr>
              <a:t>25</a:t>
            </a:r>
            <a:endParaRPr lang="en-US" sz="1050" dirty="0"/>
          </a:p>
        </p:txBody>
      </p:sp>
      <p:sp>
        <p:nvSpPr>
          <p:cNvPr id="96" name="Text 67"/>
          <p:cNvSpPr/>
          <p:nvPr/>
        </p:nvSpPr>
        <p:spPr>
          <a:xfrm>
            <a:off x="10981879" y="26098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97" name="Text 68"/>
          <p:cNvSpPr/>
          <p:nvPr/>
        </p:nvSpPr>
        <p:spPr>
          <a:xfrm>
            <a:off x="11142018" y="2609850"/>
            <a:ext cx="2801987" cy="3429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a:t>
            </a:r>
            <a:endParaRPr lang="en-US" sz="1050" dirty="0"/>
          </a:p>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98" name="Text 69"/>
          <p:cNvSpPr/>
          <p:nvPr/>
        </p:nvSpPr>
        <p:spPr>
          <a:xfrm>
            <a:off x="8580239" y="2800350"/>
            <a:ext cx="1728609"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"conflicting_with"</a:t>
            </a:r>
            <a:endParaRPr lang="en-US" sz="1050" dirty="0"/>
          </a:p>
        </p:txBody>
      </p:sp>
      <p:sp>
        <p:nvSpPr>
          <p:cNvPr id="99" name="Text 70"/>
          <p:cNvSpPr/>
          <p:nvPr/>
        </p:nvSpPr>
        <p:spPr>
          <a:xfrm>
            <a:off x="10020746" y="2800350"/>
            <a:ext cx="192167" cy="152400"/>
          </a:xfrm>
          <a:prstGeom prst="rect">
            <a:avLst/>
          </a:prstGeom>
          <a:noFill/>
          <a:ln/>
        </p:spPr>
        <p:txBody>
          <a:bodyPr wrap="square" lIns="0" tIns="0" rIns="0" bIns="0" rtlCol="0" anchor="t" vert="horz"/>
          <a:lstStyle/>
          <a:p>
            <a:pPr indent="0" marL="0">
              <a:lnSpc>
                <a:spcPts val="1500"/>
              </a:lnSpc>
              <a:buNone/>
            </a:pPr>
            <a:r>
              <a:rPr lang="en-US" sz="1050" dirty="0">
                <a:solidFill>
                  <a:srgbClr val="000000"/>
                </a:solidFill>
                <a:latin typeface="ui-monospace" pitchFamily="34" charset="0"/>
                <a:ea typeface="ui-monospace" pitchFamily="34" charset="-122"/>
                <a:cs typeface="ui-monospace" pitchFamily="34" charset="-120"/>
              </a:rPr>
              <a:t>: </a:t>
            </a:r>
            <a:endParaRPr lang="en-US" sz="1050" dirty="0"/>
          </a:p>
        </p:txBody>
      </p:sp>
      <p:sp>
        <p:nvSpPr>
          <p:cNvPr id="100" name="Text 71"/>
          <p:cNvSpPr/>
          <p:nvPr/>
        </p:nvSpPr>
        <p:spPr>
          <a:xfrm>
            <a:off x="10180886" y="2800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101" name="Text 72"/>
          <p:cNvSpPr/>
          <p:nvPr/>
        </p:nvSpPr>
        <p:spPr>
          <a:xfrm>
            <a:off x="10260955" y="2800350"/>
            <a:ext cx="864394" cy="152400"/>
          </a:xfrm>
          <a:prstGeom prst="rect">
            <a:avLst/>
          </a:prstGeom>
          <a:noFill/>
          <a:ln/>
        </p:spPr>
        <p:txBody>
          <a:bodyPr wrap="square" lIns="0" tIns="0" rIns="0" bIns="0" rtlCol="0" anchor="t" vert="horz"/>
          <a:lstStyle/>
          <a:p>
            <a:pPr indent="0" marL="0">
              <a:lnSpc>
                <a:spcPts val="1500"/>
              </a:lnSpc>
              <a:buNone/>
            </a:pPr>
            <a:r>
              <a:rPr lang="en-US" sz="1050" dirty="0">
                <a:solidFill>
                  <a:srgbClr val="3CBA54"/>
                </a:solidFill>
                <a:latin typeface="ui-monospace" pitchFamily="34" charset="0"/>
                <a:ea typeface="ui-monospace" pitchFamily="34" charset="-122"/>
                <a:cs typeface="ui-monospace" pitchFamily="34" charset="-120"/>
              </a:rPr>
              <a:t>"pudu_01"</a:t>
            </a:r>
            <a:endParaRPr lang="en-US" sz="1050" dirty="0"/>
          </a:p>
        </p:txBody>
      </p:sp>
      <p:sp>
        <p:nvSpPr>
          <p:cNvPr id="102" name="Text 73"/>
          <p:cNvSpPr/>
          <p:nvPr/>
        </p:nvSpPr>
        <p:spPr>
          <a:xfrm>
            <a:off x="10981283" y="28003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103" name="Text 74"/>
          <p:cNvSpPr/>
          <p:nvPr/>
        </p:nvSpPr>
        <p:spPr>
          <a:xfrm>
            <a:off x="8420100" y="2990850"/>
            <a:ext cx="96083" cy="152400"/>
          </a:xfrm>
          <a:prstGeom prst="rect">
            <a:avLst/>
          </a:prstGeom>
          <a:noFill/>
          <a:ln/>
        </p:spPr>
        <p:txBody>
          <a:bodyPr wrap="square" lIns="0" tIns="0" rIns="0" bIns="0" rtlCol="0" anchor="t" vert="horz"/>
          <a:lstStyle/>
          <a:p>
            <a:pPr indent="0" marL="0">
              <a:lnSpc>
                <a:spcPts val="1500"/>
              </a:lnSpc>
              <a:buNone/>
            </a:pPr>
            <a:r>
              <a:rPr lang="en-US" sz="1050" dirty="0">
                <a:solidFill>
                  <a:srgbClr val="F72585"/>
                </a:solidFill>
                <a:latin typeface="ui-monospace" pitchFamily="34" charset="0"/>
                <a:ea typeface="ui-monospace" pitchFamily="34" charset="-122"/>
                <a:cs typeface="ui-monospace" pitchFamily="34" charset="-120"/>
              </a:rPr>
              <a:t>}</a:t>
            </a:r>
            <a:endParaRPr lang="en-US" sz="1050" dirty="0"/>
          </a:p>
        </p:txBody>
      </p:sp>
      <p:sp>
        <p:nvSpPr>
          <p:cNvPr id="104" name="Text 75"/>
          <p:cNvSpPr/>
          <p:nvPr/>
        </p:nvSpPr>
        <p:spPr>
          <a:xfrm>
            <a:off x="8305800" y="3314700"/>
            <a:ext cx="4069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type:</a:t>
            </a:r>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 消息類型，表示路權請求</a:t>
            </a:r>
            <a:endParaRPr lang="en-US" sz="1050" dirty="0"/>
          </a:p>
        </p:txBody>
      </p:sp>
      <p:sp>
        <p:nvSpPr>
          <p:cNvPr id="105" name="Text 76"/>
          <p:cNvSpPr/>
          <p:nvPr/>
        </p:nvSpPr>
        <p:spPr>
          <a:xfrm>
            <a:off x="4848225" y="4419600"/>
            <a:ext cx="71628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消息流程示意</a:t>
            </a:r>
            <a:endParaRPr lang="en-US" sz="1500" dirty="0"/>
          </a:p>
        </p:txBody>
      </p:sp>
      <p:sp>
        <p:nvSpPr>
          <p:cNvPr id="106" name="Text 77"/>
          <p:cNvSpPr/>
          <p:nvPr/>
        </p:nvSpPr>
        <p:spPr>
          <a:xfrm>
            <a:off x="4480560" y="5334000"/>
            <a:ext cx="64008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AGV</a:t>
            </a:r>
            <a:endParaRPr lang="en-US" sz="1200" dirty="0"/>
          </a:p>
        </p:txBody>
      </p:sp>
      <p:sp>
        <p:nvSpPr>
          <p:cNvPr id="107" name="Text 78"/>
          <p:cNvSpPr/>
          <p:nvPr/>
        </p:nvSpPr>
        <p:spPr>
          <a:xfrm>
            <a:off x="5181600" y="5095875"/>
            <a:ext cx="25527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 廣播消息</a:t>
            </a:r>
            <a:endParaRPr lang="en-US" sz="1050" dirty="0"/>
          </a:p>
        </p:txBody>
      </p:sp>
      <p:sp>
        <p:nvSpPr>
          <p:cNvPr id="108" name="Text 79"/>
          <p:cNvSpPr/>
          <p:nvPr/>
        </p:nvSpPr>
        <p:spPr>
          <a:xfrm>
            <a:off x="7795260" y="5334000"/>
            <a:ext cx="64008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協調層</a:t>
            </a:r>
            <a:endParaRPr lang="en-US" sz="1200" dirty="0"/>
          </a:p>
        </p:txBody>
      </p:sp>
      <p:sp>
        <p:nvSpPr>
          <p:cNvPr id="109" name="Text 80"/>
          <p:cNvSpPr/>
          <p:nvPr/>
        </p:nvSpPr>
        <p:spPr>
          <a:xfrm>
            <a:off x="8496300" y="5095875"/>
            <a:ext cx="25527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 發送指令</a:t>
            </a:r>
            <a:endParaRPr lang="en-US" sz="1050" dirty="0"/>
          </a:p>
        </p:txBody>
      </p:sp>
      <p:sp>
        <p:nvSpPr>
          <p:cNvPr id="110" name="Text 81"/>
          <p:cNvSpPr/>
          <p:nvPr/>
        </p:nvSpPr>
        <p:spPr>
          <a:xfrm>
            <a:off x="11109960" y="5334000"/>
            <a:ext cx="64008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AGV</a:t>
            </a:r>
            <a:endParaRPr lang="en-US" sz="1200" dirty="0"/>
          </a:p>
        </p:txBody>
      </p:sp>
      <p:sp>
        <p:nvSpPr>
          <p:cNvPr id="111" name="Text 82"/>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112" name="Text 83"/>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1049536" y="2133600"/>
            <a:ext cx="762000" cy="762000"/>
          </a:xfrm>
          <a:prstGeom prst="rect">
            <a:avLst/>
          </a:prstGeom>
        </p:spPr>
      </p:pic>
      <p:pic>
        <p:nvPicPr>
          <p:cNvPr id="5" name="Image 3" descr="preencoded.png">    </p:cNvPr>
          <p:cNvPicPr>
            <a:picLocks noChangeAspect="1"/>
          </p:cNvPicPr>
          <p:nvPr/>
        </p:nvPicPr>
        <p:blipFill>
          <a:blip r:embed="rId4"/>
          <a:stretch>
            <a:fillRect/>
          </a:stretch>
        </p:blipFill>
        <p:spPr>
          <a:xfrm>
            <a:off x="1249561" y="2343150"/>
            <a:ext cx="361950" cy="342900"/>
          </a:xfrm>
          <a:prstGeom prst="rect">
            <a:avLst/>
          </a:prstGeom>
        </p:spPr>
      </p:pic>
      <p:pic>
        <p:nvPicPr>
          <p:cNvPr id="6" name="Image 4" descr="preencoded.png">    </p:cNvPr>
          <p:cNvPicPr>
            <a:picLocks noChangeAspect="1"/>
          </p:cNvPicPr>
          <p:nvPr/>
        </p:nvPicPr>
        <p:blipFill>
          <a:blip r:embed="rId5"/>
          <a:stretch>
            <a:fillRect/>
          </a:stretch>
        </p:blipFill>
        <p:spPr>
          <a:xfrm>
            <a:off x="4249043" y="2133600"/>
            <a:ext cx="762000" cy="762000"/>
          </a:xfrm>
          <a:prstGeom prst="rect">
            <a:avLst/>
          </a:prstGeom>
        </p:spPr>
      </p:pic>
      <p:pic>
        <p:nvPicPr>
          <p:cNvPr id="7" name="Image 5" descr="preencoded.png">    </p:cNvPr>
          <p:cNvPicPr>
            <a:picLocks noChangeAspect="1"/>
          </p:cNvPicPr>
          <p:nvPr/>
        </p:nvPicPr>
        <p:blipFill>
          <a:blip r:embed="rId6"/>
          <a:stretch>
            <a:fillRect/>
          </a:stretch>
        </p:blipFill>
        <p:spPr>
          <a:xfrm>
            <a:off x="4449068" y="2343150"/>
            <a:ext cx="361950" cy="342900"/>
          </a:xfrm>
          <a:prstGeom prst="rect">
            <a:avLst/>
          </a:prstGeom>
        </p:spPr>
      </p:pic>
      <p:pic>
        <p:nvPicPr>
          <p:cNvPr id="8" name="Image 6" descr="preencoded.png">    </p:cNvPr>
          <p:cNvPicPr>
            <a:picLocks noChangeAspect="1"/>
          </p:cNvPicPr>
          <p:nvPr/>
        </p:nvPicPr>
        <p:blipFill>
          <a:blip r:embed="rId7"/>
          <a:stretch>
            <a:fillRect/>
          </a:stretch>
        </p:blipFill>
        <p:spPr>
          <a:xfrm>
            <a:off x="7183041" y="2133600"/>
            <a:ext cx="762000" cy="762000"/>
          </a:xfrm>
          <a:prstGeom prst="rect">
            <a:avLst/>
          </a:prstGeom>
        </p:spPr>
      </p:pic>
      <p:pic>
        <p:nvPicPr>
          <p:cNvPr id="9" name="Image 7" descr="preencoded.png">    </p:cNvPr>
          <p:cNvPicPr>
            <a:picLocks noChangeAspect="1"/>
          </p:cNvPicPr>
          <p:nvPr/>
        </p:nvPicPr>
        <p:blipFill>
          <a:blip r:embed="rId8"/>
          <a:stretch>
            <a:fillRect/>
          </a:stretch>
        </p:blipFill>
        <p:spPr>
          <a:xfrm>
            <a:off x="7383066" y="2343150"/>
            <a:ext cx="361950" cy="342900"/>
          </a:xfrm>
          <a:prstGeom prst="rect">
            <a:avLst/>
          </a:prstGeom>
        </p:spPr>
      </p:pic>
      <p:pic>
        <p:nvPicPr>
          <p:cNvPr id="10" name="Image 8" descr="preencoded.png">    </p:cNvPr>
          <p:cNvPicPr>
            <a:picLocks noChangeAspect="1"/>
          </p:cNvPicPr>
          <p:nvPr/>
        </p:nvPicPr>
        <p:blipFill>
          <a:blip r:embed="rId9"/>
          <a:stretch>
            <a:fillRect/>
          </a:stretch>
        </p:blipFill>
        <p:spPr>
          <a:xfrm>
            <a:off x="10411271" y="2133600"/>
            <a:ext cx="762000" cy="762000"/>
          </a:xfrm>
          <a:prstGeom prst="rect">
            <a:avLst/>
          </a:prstGeom>
        </p:spPr>
      </p:pic>
      <p:pic>
        <p:nvPicPr>
          <p:cNvPr id="11" name="Image 9" descr="preencoded.png">    </p:cNvPr>
          <p:cNvPicPr>
            <a:picLocks noChangeAspect="1"/>
          </p:cNvPicPr>
          <p:nvPr/>
        </p:nvPicPr>
        <p:blipFill>
          <a:blip r:embed="rId10"/>
          <a:stretch>
            <a:fillRect/>
          </a:stretch>
        </p:blipFill>
        <p:spPr>
          <a:xfrm>
            <a:off x="10611296" y="2343150"/>
            <a:ext cx="361950" cy="342900"/>
          </a:xfrm>
          <a:prstGeom prst="rect">
            <a:avLst/>
          </a:prstGeom>
        </p:spPr>
      </p:pic>
      <p:pic>
        <p:nvPicPr>
          <p:cNvPr id="12" name="Image 10" descr="preencoded.png">    </p:cNvPr>
          <p:cNvPicPr>
            <a:picLocks noChangeAspect="1"/>
          </p:cNvPicPr>
          <p:nvPr/>
        </p:nvPicPr>
        <p:blipFill>
          <a:blip r:embed="rId11"/>
          <a:stretch>
            <a:fillRect/>
          </a:stretch>
        </p:blipFill>
        <p:spPr>
          <a:xfrm>
            <a:off x="990600" y="2247900"/>
            <a:ext cx="1828800" cy="1066800"/>
          </a:xfrm>
          <a:prstGeom prst="rect">
            <a:avLst/>
          </a:prstGeom>
        </p:spPr>
      </p:pic>
      <p:pic>
        <p:nvPicPr>
          <p:cNvPr id="13" name="Image 11" descr="preencoded.png">    </p:cNvPr>
          <p:cNvPicPr>
            <a:picLocks noChangeAspect="1"/>
          </p:cNvPicPr>
          <p:nvPr/>
        </p:nvPicPr>
        <p:blipFill>
          <a:blip r:embed="rId12"/>
          <a:stretch>
            <a:fillRect/>
          </a:stretch>
        </p:blipFill>
        <p:spPr>
          <a:xfrm>
            <a:off x="1676400" y="2400300"/>
            <a:ext cx="457200" cy="457200"/>
          </a:xfrm>
          <a:prstGeom prst="rect">
            <a:avLst/>
          </a:prstGeom>
        </p:spPr>
      </p:pic>
      <p:pic>
        <p:nvPicPr>
          <p:cNvPr id="14" name="Image 12" descr="preencoded.png">    </p:cNvPr>
          <p:cNvPicPr>
            <a:picLocks noChangeAspect="1"/>
          </p:cNvPicPr>
          <p:nvPr/>
        </p:nvPicPr>
        <p:blipFill>
          <a:blip r:embed="rId13"/>
          <a:stretch>
            <a:fillRect/>
          </a:stretch>
        </p:blipFill>
        <p:spPr>
          <a:xfrm>
            <a:off x="1833563" y="2495550"/>
            <a:ext cx="142875" cy="266700"/>
          </a:xfrm>
          <a:prstGeom prst="rect">
            <a:avLst/>
          </a:prstGeom>
        </p:spPr>
      </p:pic>
      <p:pic>
        <p:nvPicPr>
          <p:cNvPr id="15" name="Image 13" descr="preencoded.png">    </p:cNvPr>
          <p:cNvPicPr>
            <a:picLocks noChangeAspect="1"/>
          </p:cNvPicPr>
          <p:nvPr/>
        </p:nvPicPr>
        <p:blipFill>
          <a:blip r:embed="rId14"/>
          <a:stretch>
            <a:fillRect/>
          </a:stretch>
        </p:blipFill>
        <p:spPr>
          <a:xfrm>
            <a:off x="4191000" y="2247900"/>
            <a:ext cx="1828800" cy="1066800"/>
          </a:xfrm>
          <a:prstGeom prst="rect">
            <a:avLst/>
          </a:prstGeom>
        </p:spPr>
      </p:pic>
      <p:pic>
        <p:nvPicPr>
          <p:cNvPr id="16" name="Image 14" descr="preencoded.png">    </p:cNvPr>
          <p:cNvPicPr>
            <a:picLocks noChangeAspect="1"/>
          </p:cNvPicPr>
          <p:nvPr/>
        </p:nvPicPr>
        <p:blipFill>
          <a:blip r:embed="rId15"/>
          <a:stretch>
            <a:fillRect/>
          </a:stretch>
        </p:blipFill>
        <p:spPr>
          <a:xfrm>
            <a:off x="4876800" y="2400300"/>
            <a:ext cx="457200" cy="457200"/>
          </a:xfrm>
          <a:prstGeom prst="rect">
            <a:avLst/>
          </a:prstGeom>
        </p:spPr>
      </p:pic>
      <p:pic>
        <p:nvPicPr>
          <p:cNvPr id="17" name="Image 15" descr="preencoded.png">    </p:cNvPr>
          <p:cNvPicPr>
            <a:picLocks noChangeAspect="1"/>
          </p:cNvPicPr>
          <p:nvPr/>
        </p:nvPicPr>
        <p:blipFill>
          <a:blip r:embed="rId16"/>
          <a:stretch>
            <a:fillRect/>
          </a:stretch>
        </p:blipFill>
        <p:spPr>
          <a:xfrm>
            <a:off x="5033963" y="2495550"/>
            <a:ext cx="142875" cy="266700"/>
          </a:xfrm>
          <a:prstGeom prst="rect">
            <a:avLst/>
          </a:prstGeom>
        </p:spPr>
      </p:pic>
      <p:pic>
        <p:nvPicPr>
          <p:cNvPr id="18" name="Image 16" descr="preencoded.png">    </p:cNvPr>
          <p:cNvPicPr>
            <a:picLocks noChangeAspect="1"/>
          </p:cNvPicPr>
          <p:nvPr/>
        </p:nvPicPr>
        <p:blipFill>
          <a:blip r:embed="rId17"/>
          <a:stretch>
            <a:fillRect/>
          </a:stretch>
        </p:blipFill>
        <p:spPr>
          <a:xfrm>
            <a:off x="6172200" y="2247900"/>
            <a:ext cx="1828800" cy="1066800"/>
          </a:xfrm>
          <a:prstGeom prst="rect">
            <a:avLst/>
          </a:prstGeom>
        </p:spPr>
      </p:pic>
      <p:pic>
        <p:nvPicPr>
          <p:cNvPr id="19" name="Image 17" descr="preencoded.png">    </p:cNvPr>
          <p:cNvPicPr>
            <a:picLocks noChangeAspect="1"/>
          </p:cNvPicPr>
          <p:nvPr/>
        </p:nvPicPr>
        <p:blipFill>
          <a:blip r:embed="rId18"/>
          <a:stretch>
            <a:fillRect/>
          </a:stretch>
        </p:blipFill>
        <p:spPr>
          <a:xfrm>
            <a:off x="6858000" y="2400300"/>
            <a:ext cx="457200" cy="457200"/>
          </a:xfrm>
          <a:prstGeom prst="rect">
            <a:avLst/>
          </a:prstGeom>
        </p:spPr>
      </p:pic>
      <p:pic>
        <p:nvPicPr>
          <p:cNvPr id="20" name="Image 18" descr="preencoded.png">    </p:cNvPr>
          <p:cNvPicPr>
            <a:picLocks noChangeAspect="1"/>
          </p:cNvPicPr>
          <p:nvPr/>
        </p:nvPicPr>
        <p:blipFill>
          <a:blip r:embed="rId19"/>
          <a:stretch>
            <a:fillRect/>
          </a:stretch>
        </p:blipFill>
        <p:spPr>
          <a:xfrm>
            <a:off x="7015163" y="2495550"/>
            <a:ext cx="142875" cy="266700"/>
          </a:xfrm>
          <a:prstGeom prst="rect">
            <a:avLst/>
          </a:prstGeom>
        </p:spPr>
      </p:pic>
      <p:pic>
        <p:nvPicPr>
          <p:cNvPr id="21" name="Image 19" descr="preencoded.png">    </p:cNvPr>
          <p:cNvPicPr>
            <a:picLocks noChangeAspect="1"/>
          </p:cNvPicPr>
          <p:nvPr/>
        </p:nvPicPr>
        <p:blipFill>
          <a:blip r:embed="rId20"/>
          <a:stretch>
            <a:fillRect/>
          </a:stretch>
        </p:blipFill>
        <p:spPr>
          <a:xfrm>
            <a:off x="9372600" y="2247900"/>
            <a:ext cx="1828800" cy="1066800"/>
          </a:xfrm>
          <a:prstGeom prst="rect">
            <a:avLst/>
          </a:prstGeom>
        </p:spPr>
      </p:pic>
      <p:pic>
        <p:nvPicPr>
          <p:cNvPr id="22" name="Image 20" descr="preencoded.png">    </p:cNvPr>
          <p:cNvPicPr>
            <a:picLocks noChangeAspect="1"/>
          </p:cNvPicPr>
          <p:nvPr/>
        </p:nvPicPr>
        <p:blipFill>
          <a:blip r:embed="rId21"/>
          <a:stretch>
            <a:fillRect/>
          </a:stretch>
        </p:blipFill>
        <p:spPr>
          <a:xfrm>
            <a:off x="10058400" y="2400300"/>
            <a:ext cx="457200" cy="457200"/>
          </a:xfrm>
          <a:prstGeom prst="rect">
            <a:avLst/>
          </a:prstGeom>
        </p:spPr>
      </p:pic>
      <p:pic>
        <p:nvPicPr>
          <p:cNvPr id="23" name="Image 21" descr="preencoded.png">    </p:cNvPr>
          <p:cNvPicPr>
            <a:picLocks noChangeAspect="1"/>
          </p:cNvPicPr>
          <p:nvPr/>
        </p:nvPicPr>
        <p:blipFill>
          <a:blip r:embed="rId22"/>
          <a:stretch>
            <a:fillRect/>
          </a:stretch>
        </p:blipFill>
        <p:spPr>
          <a:xfrm>
            <a:off x="10191750" y="2495550"/>
            <a:ext cx="190500" cy="266700"/>
          </a:xfrm>
          <a:prstGeom prst="rect">
            <a:avLst/>
          </a:prstGeom>
        </p:spPr>
      </p:pic>
      <p:pic>
        <p:nvPicPr>
          <p:cNvPr id="24" name="Image 22" descr="preencoded.png">    </p:cNvPr>
          <p:cNvPicPr>
            <a:picLocks noChangeAspect="1"/>
          </p:cNvPicPr>
          <p:nvPr/>
        </p:nvPicPr>
        <p:blipFill>
          <a:blip r:embed="rId23"/>
          <a:stretch>
            <a:fillRect/>
          </a:stretch>
        </p:blipFill>
        <p:spPr>
          <a:xfrm>
            <a:off x="3581400" y="2767013"/>
            <a:ext cx="1143000" cy="28575"/>
          </a:xfrm>
          <a:prstGeom prst="rect">
            <a:avLst/>
          </a:prstGeom>
        </p:spPr>
      </p:pic>
      <p:pic>
        <p:nvPicPr>
          <p:cNvPr id="25" name="Image 23" descr="preencoded.png">    </p:cNvPr>
          <p:cNvPicPr>
            <a:picLocks noChangeAspect="1"/>
          </p:cNvPicPr>
          <p:nvPr/>
        </p:nvPicPr>
        <p:blipFill>
          <a:blip r:embed="rId24"/>
          <a:stretch>
            <a:fillRect/>
          </a:stretch>
        </p:blipFill>
        <p:spPr>
          <a:xfrm>
            <a:off x="5181600" y="2767013"/>
            <a:ext cx="1143000" cy="28575"/>
          </a:xfrm>
          <a:prstGeom prst="rect">
            <a:avLst/>
          </a:prstGeom>
        </p:spPr>
      </p:pic>
      <p:pic>
        <p:nvPicPr>
          <p:cNvPr id="26" name="Image 24" descr="preencoded.png">    </p:cNvPr>
          <p:cNvPicPr>
            <a:picLocks noChangeAspect="1"/>
          </p:cNvPicPr>
          <p:nvPr/>
        </p:nvPicPr>
        <p:blipFill>
          <a:blip r:embed="rId25"/>
          <a:stretch>
            <a:fillRect/>
          </a:stretch>
        </p:blipFill>
        <p:spPr>
          <a:xfrm>
            <a:off x="7010400" y="2767013"/>
            <a:ext cx="1143000" cy="28575"/>
          </a:xfrm>
          <a:prstGeom prst="rect">
            <a:avLst/>
          </a:prstGeom>
        </p:spPr>
      </p:pic>
      <p:pic>
        <p:nvPicPr>
          <p:cNvPr id="27" name="Image 25" descr="preencoded.png">    </p:cNvPr>
          <p:cNvPicPr>
            <a:picLocks noChangeAspect="1"/>
          </p:cNvPicPr>
          <p:nvPr/>
        </p:nvPicPr>
        <p:blipFill>
          <a:blip r:embed="rId26"/>
          <a:stretch>
            <a:fillRect/>
          </a:stretch>
        </p:blipFill>
        <p:spPr>
          <a:xfrm>
            <a:off x="8610600" y="2767013"/>
            <a:ext cx="1143000" cy="28575"/>
          </a:xfrm>
          <a:prstGeom prst="rect">
            <a:avLst/>
          </a:prstGeom>
        </p:spPr>
      </p:pic>
      <p:pic>
        <p:nvPicPr>
          <p:cNvPr id="28" name="Image 26" descr="preencoded.png">    </p:cNvPr>
          <p:cNvPicPr>
            <a:picLocks noChangeAspect="1"/>
          </p:cNvPicPr>
          <p:nvPr/>
        </p:nvPicPr>
        <p:blipFill>
          <a:blip r:embed="rId27"/>
          <a:stretch>
            <a:fillRect/>
          </a:stretch>
        </p:blipFill>
        <p:spPr>
          <a:xfrm>
            <a:off x="4267200" y="2286000"/>
            <a:ext cx="3657600" cy="1676400"/>
          </a:xfrm>
          <a:prstGeom prst="rect">
            <a:avLst/>
          </a:prstGeom>
        </p:spPr>
      </p:pic>
      <p:pic>
        <p:nvPicPr>
          <p:cNvPr id="29" name="Image 27" descr="preencoded.png">    </p:cNvPr>
          <p:cNvPicPr>
            <a:picLocks noChangeAspect="1"/>
          </p:cNvPicPr>
          <p:nvPr/>
        </p:nvPicPr>
        <p:blipFill>
          <a:blip r:embed="rId28"/>
          <a:stretch>
            <a:fillRect/>
          </a:stretch>
        </p:blipFill>
        <p:spPr>
          <a:xfrm>
            <a:off x="5791200" y="2514600"/>
            <a:ext cx="609600" cy="609600"/>
          </a:xfrm>
          <a:prstGeom prst="rect">
            <a:avLst/>
          </a:prstGeom>
        </p:spPr>
      </p:pic>
      <p:pic>
        <p:nvPicPr>
          <p:cNvPr id="30" name="Image 28" descr="preencoded.png">    </p:cNvPr>
          <p:cNvPicPr>
            <a:picLocks noChangeAspect="1"/>
          </p:cNvPicPr>
          <p:nvPr/>
        </p:nvPicPr>
        <p:blipFill>
          <a:blip r:embed="rId29"/>
          <a:stretch>
            <a:fillRect/>
          </a:stretch>
        </p:blipFill>
        <p:spPr>
          <a:xfrm>
            <a:off x="5981700" y="2667000"/>
            <a:ext cx="228600" cy="304800"/>
          </a:xfrm>
          <a:prstGeom prst="rect">
            <a:avLst/>
          </a:prstGeom>
        </p:spPr>
      </p:pic>
      <p:pic>
        <p:nvPicPr>
          <p:cNvPr id="31" name="Image 29" descr="preencoded.png">    </p:cNvPr>
          <p:cNvPicPr>
            <a:picLocks noChangeAspect="1"/>
          </p:cNvPicPr>
          <p:nvPr/>
        </p:nvPicPr>
        <p:blipFill>
          <a:blip r:embed="rId30"/>
          <a:stretch>
            <a:fillRect/>
          </a:stretch>
        </p:blipFill>
        <p:spPr>
          <a:xfrm>
            <a:off x="3200400" y="3029843"/>
            <a:ext cx="762000" cy="28575"/>
          </a:xfrm>
          <a:prstGeom prst="rect">
            <a:avLst/>
          </a:prstGeom>
        </p:spPr>
      </p:pic>
      <p:pic>
        <p:nvPicPr>
          <p:cNvPr id="32" name="Image 30" descr="preencoded.png">    </p:cNvPr>
          <p:cNvPicPr>
            <a:picLocks noChangeAspect="1"/>
          </p:cNvPicPr>
          <p:nvPr/>
        </p:nvPicPr>
        <p:blipFill>
          <a:blip r:embed="rId31"/>
          <a:stretch>
            <a:fillRect/>
          </a:stretch>
        </p:blipFill>
        <p:spPr>
          <a:xfrm>
            <a:off x="4800600" y="3029843"/>
            <a:ext cx="762000" cy="28575"/>
          </a:xfrm>
          <a:prstGeom prst="rect">
            <a:avLst/>
          </a:prstGeom>
        </p:spPr>
      </p:pic>
      <p:pic>
        <p:nvPicPr>
          <p:cNvPr id="33" name="Image 31" descr="preencoded.png">    </p:cNvPr>
          <p:cNvPicPr>
            <a:picLocks noChangeAspect="1"/>
          </p:cNvPicPr>
          <p:nvPr/>
        </p:nvPicPr>
        <p:blipFill>
          <a:blip r:embed="rId32"/>
          <a:stretch>
            <a:fillRect/>
          </a:stretch>
        </p:blipFill>
        <p:spPr>
          <a:xfrm>
            <a:off x="6629400" y="3029843"/>
            <a:ext cx="762000" cy="28575"/>
          </a:xfrm>
          <a:prstGeom prst="rect">
            <a:avLst/>
          </a:prstGeom>
        </p:spPr>
      </p:pic>
      <p:pic>
        <p:nvPicPr>
          <p:cNvPr id="34" name="Image 32" descr="preencoded.png">    </p:cNvPr>
          <p:cNvPicPr>
            <a:picLocks noChangeAspect="1"/>
          </p:cNvPicPr>
          <p:nvPr/>
        </p:nvPicPr>
        <p:blipFill>
          <a:blip r:embed="rId33"/>
          <a:stretch>
            <a:fillRect/>
          </a:stretch>
        </p:blipFill>
        <p:spPr>
          <a:xfrm>
            <a:off x="8229600" y="3029843"/>
            <a:ext cx="762000" cy="28575"/>
          </a:xfrm>
          <a:prstGeom prst="rect">
            <a:avLst/>
          </a:prstGeom>
        </p:spPr>
      </p:pic>
      <p:pic>
        <p:nvPicPr>
          <p:cNvPr id="35" name="Image 33" descr="preencoded.png">    </p:cNvPr>
          <p:cNvPicPr>
            <a:picLocks noChangeAspect="1"/>
          </p:cNvPicPr>
          <p:nvPr/>
        </p:nvPicPr>
        <p:blipFill>
          <a:blip r:embed="rId34"/>
          <a:stretch>
            <a:fillRect/>
          </a:stretch>
        </p:blipFill>
        <p:spPr>
          <a:xfrm>
            <a:off x="381000" y="4114800"/>
            <a:ext cx="5600700" cy="1905000"/>
          </a:xfrm>
          <a:prstGeom prst="rect">
            <a:avLst/>
          </a:prstGeom>
        </p:spPr>
      </p:pic>
      <p:pic>
        <p:nvPicPr>
          <p:cNvPr id="36" name="Image 34" descr="preencoded.png">    </p:cNvPr>
          <p:cNvPicPr>
            <a:picLocks noChangeAspect="1"/>
          </p:cNvPicPr>
          <p:nvPr/>
        </p:nvPicPr>
        <p:blipFill>
          <a:blip r:embed="rId35"/>
          <a:stretch>
            <a:fillRect/>
          </a:stretch>
        </p:blipFill>
        <p:spPr>
          <a:xfrm>
            <a:off x="571500" y="4343400"/>
            <a:ext cx="171450" cy="190500"/>
          </a:xfrm>
          <a:prstGeom prst="rect">
            <a:avLst/>
          </a:prstGeom>
        </p:spPr>
      </p:pic>
      <p:pic>
        <p:nvPicPr>
          <p:cNvPr id="37" name="Image 35" descr="preencoded.png">    </p:cNvPr>
          <p:cNvPicPr>
            <a:picLocks noChangeAspect="1"/>
          </p:cNvPicPr>
          <p:nvPr/>
        </p:nvPicPr>
        <p:blipFill>
          <a:blip r:embed="rId36"/>
          <a:stretch>
            <a:fillRect/>
          </a:stretch>
        </p:blipFill>
        <p:spPr>
          <a:xfrm>
            <a:off x="571500" y="4724400"/>
            <a:ext cx="152400" cy="152400"/>
          </a:xfrm>
          <a:prstGeom prst="rect">
            <a:avLst/>
          </a:prstGeom>
        </p:spPr>
      </p:pic>
      <p:pic>
        <p:nvPicPr>
          <p:cNvPr id="38" name="Image 36" descr="preencoded.png">    </p:cNvPr>
          <p:cNvPicPr>
            <a:picLocks noChangeAspect="1"/>
          </p:cNvPicPr>
          <p:nvPr/>
        </p:nvPicPr>
        <p:blipFill>
          <a:blip r:embed="rId37"/>
          <a:stretch>
            <a:fillRect/>
          </a:stretch>
        </p:blipFill>
        <p:spPr>
          <a:xfrm>
            <a:off x="571500" y="5029200"/>
            <a:ext cx="152400" cy="152400"/>
          </a:xfrm>
          <a:prstGeom prst="rect">
            <a:avLst/>
          </a:prstGeom>
        </p:spPr>
      </p:pic>
      <p:pic>
        <p:nvPicPr>
          <p:cNvPr id="39" name="Image 37" descr="preencoded.png">    </p:cNvPr>
          <p:cNvPicPr>
            <a:picLocks noChangeAspect="1"/>
          </p:cNvPicPr>
          <p:nvPr/>
        </p:nvPicPr>
        <p:blipFill>
          <a:blip r:embed="rId38"/>
          <a:stretch>
            <a:fillRect/>
          </a:stretch>
        </p:blipFill>
        <p:spPr>
          <a:xfrm>
            <a:off x="571500" y="5334000"/>
            <a:ext cx="152400" cy="152400"/>
          </a:xfrm>
          <a:prstGeom prst="rect">
            <a:avLst/>
          </a:prstGeom>
        </p:spPr>
      </p:pic>
      <p:pic>
        <p:nvPicPr>
          <p:cNvPr id="40" name="Image 38" descr="preencoded.png">    </p:cNvPr>
          <p:cNvPicPr>
            <a:picLocks noChangeAspect="1"/>
          </p:cNvPicPr>
          <p:nvPr/>
        </p:nvPicPr>
        <p:blipFill>
          <a:blip r:embed="rId39"/>
          <a:stretch>
            <a:fillRect/>
          </a:stretch>
        </p:blipFill>
        <p:spPr>
          <a:xfrm>
            <a:off x="571500" y="5638800"/>
            <a:ext cx="152400" cy="152400"/>
          </a:xfrm>
          <a:prstGeom prst="rect">
            <a:avLst/>
          </a:prstGeom>
        </p:spPr>
      </p:pic>
      <p:pic>
        <p:nvPicPr>
          <p:cNvPr id="41" name="Image 39" descr="preencoded.png">    </p:cNvPr>
          <p:cNvPicPr>
            <a:picLocks noChangeAspect="1"/>
          </p:cNvPicPr>
          <p:nvPr/>
        </p:nvPicPr>
        <p:blipFill>
          <a:blip r:embed="rId40"/>
          <a:stretch>
            <a:fillRect/>
          </a:stretch>
        </p:blipFill>
        <p:spPr>
          <a:xfrm>
            <a:off x="6210300" y="4114800"/>
            <a:ext cx="5600700" cy="1905000"/>
          </a:xfrm>
          <a:prstGeom prst="rect">
            <a:avLst/>
          </a:prstGeom>
        </p:spPr>
      </p:pic>
      <p:pic>
        <p:nvPicPr>
          <p:cNvPr id="42" name="Image 40" descr="preencoded.png">    </p:cNvPr>
          <p:cNvPicPr>
            <a:picLocks noChangeAspect="1"/>
          </p:cNvPicPr>
          <p:nvPr/>
        </p:nvPicPr>
        <p:blipFill>
          <a:blip r:embed="rId41"/>
          <a:stretch>
            <a:fillRect/>
          </a:stretch>
        </p:blipFill>
        <p:spPr>
          <a:xfrm>
            <a:off x="6400800" y="4343400"/>
            <a:ext cx="171450" cy="190500"/>
          </a:xfrm>
          <a:prstGeom prst="rect">
            <a:avLst/>
          </a:prstGeom>
        </p:spPr>
      </p:pic>
      <p:pic>
        <p:nvPicPr>
          <p:cNvPr id="43" name="Image 41" descr="preencoded.png">    </p:cNvPr>
          <p:cNvPicPr>
            <a:picLocks noChangeAspect="1"/>
          </p:cNvPicPr>
          <p:nvPr/>
        </p:nvPicPr>
        <p:blipFill>
          <a:blip r:embed="rId42"/>
          <a:stretch>
            <a:fillRect/>
          </a:stretch>
        </p:blipFill>
        <p:spPr>
          <a:xfrm>
            <a:off x="6400800" y="4724400"/>
            <a:ext cx="152400" cy="152400"/>
          </a:xfrm>
          <a:prstGeom prst="rect">
            <a:avLst/>
          </a:prstGeom>
        </p:spPr>
      </p:pic>
      <p:pic>
        <p:nvPicPr>
          <p:cNvPr id="44" name="Image 42" descr="preencoded.png">    </p:cNvPr>
          <p:cNvPicPr>
            <a:picLocks noChangeAspect="1"/>
          </p:cNvPicPr>
          <p:nvPr/>
        </p:nvPicPr>
        <p:blipFill>
          <a:blip r:embed="rId43"/>
          <a:stretch>
            <a:fillRect/>
          </a:stretch>
        </p:blipFill>
        <p:spPr>
          <a:xfrm>
            <a:off x="6400800" y="5029200"/>
            <a:ext cx="152400" cy="152400"/>
          </a:xfrm>
          <a:prstGeom prst="rect">
            <a:avLst/>
          </a:prstGeom>
        </p:spPr>
      </p:pic>
      <p:pic>
        <p:nvPicPr>
          <p:cNvPr id="45" name="Image 43" descr="preencoded.png">    </p:cNvPr>
          <p:cNvPicPr>
            <a:picLocks noChangeAspect="1"/>
          </p:cNvPicPr>
          <p:nvPr/>
        </p:nvPicPr>
        <p:blipFill>
          <a:blip r:embed="rId44"/>
          <a:stretch>
            <a:fillRect/>
          </a:stretch>
        </p:blipFill>
        <p:spPr>
          <a:xfrm>
            <a:off x="6400800" y="5334000"/>
            <a:ext cx="152400" cy="152400"/>
          </a:xfrm>
          <a:prstGeom prst="rect">
            <a:avLst/>
          </a:prstGeom>
        </p:spPr>
      </p:pic>
      <p:pic>
        <p:nvPicPr>
          <p:cNvPr id="46" name="Image 44" descr="preencoded.png">    </p:cNvPr>
          <p:cNvPicPr>
            <a:picLocks noChangeAspect="1"/>
          </p:cNvPicPr>
          <p:nvPr/>
        </p:nvPicPr>
        <p:blipFill>
          <a:blip r:embed="rId45"/>
          <a:stretch>
            <a:fillRect/>
          </a:stretch>
        </p:blipFill>
        <p:spPr>
          <a:xfrm>
            <a:off x="6400800" y="5638800"/>
            <a:ext cx="152400" cy="152400"/>
          </a:xfrm>
          <a:prstGeom prst="rect">
            <a:avLst/>
          </a:prstGeom>
        </p:spPr>
      </p:pic>
      <p:sp>
        <p:nvSpPr>
          <p:cNvPr id="47"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品牌適配器架構</a:t>
            </a:r>
            <a:endParaRPr lang="en-US" sz="2700" dirty="0"/>
          </a:p>
        </p:txBody>
      </p:sp>
      <p:sp>
        <p:nvSpPr>
          <p:cNvPr id="48" name="Text 1"/>
          <p:cNvSpPr/>
          <p:nvPr/>
        </p:nvSpPr>
        <p:spPr>
          <a:xfrm>
            <a:off x="381000" y="1104900"/>
            <a:ext cx="11430000" cy="266700"/>
          </a:xfrm>
          <a:prstGeom prst="rect">
            <a:avLst/>
          </a:prstGeom>
          <a:noFill/>
          <a:ln/>
        </p:spPr>
        <p:txBody>
          <a:bodyPr wrap="square" lIns="0" tIns="0" rIns="0" bIns="0" rtlCol="0" anchor="t" vert="horz"/>
          <a:lstStyle/>
          <a:p>
            <a:pPr algn="ctr" indent="0" marL="0">
              <a:lnSpc>
                <a:spcPts val="2100"/>
              </a:lnSpc>
              <a:buNone/>
            </a:pPr>
            <a:r>
              <a:rPr lang="en-US" sz="1500" dirty="0">
                <a:solidFill>
                  <a:srgbClr val="D1D5DB"/>
                </a:solidFill>
                <a:latin typeface="ui-sans-serif" pitchFamily="34" charset="0"/>
                <a:ea typeface="ui-sans-serif" pitchFamily="34" charset="-122"/>
                <a:cs typeface="ui-sans-serif" pitchFamily="34" charset="-120"/>
              </a:rPr>
              <a:t>實現"</a:t>
            </a:r>
            <a:pPr algn="ctr" indent="0" marL="0">
              <a:lnSpc>
                <a:spcPts val="2100"/>
              </a:lnSpc>
              <a:buNone/>
            </a:pPr>
            <a:r>
              <a:rPr lang="en-US" sz="1500" b="1" dirty="0">
                <a:solidFill>
                  <a:srgbClr val="60A5FA"/>
                </a:solidFill>
                <a:latin typeface="ui-sans-serif" pitchFamily="34" charset="0"/>
                <a:ea typeface="ui-sans-serif" pitchFamily="34" charset="-122"/>
                <a:cs typeface="ui-sans-serif" pitchFamily="34" charset="-120"/>
              </a:rPr>
              <a:t>即插即用</a:t>
            </a:r>
            <a:pPr algn="ctr" indent="0" marL="0">
              <a:lnSpc>
                <a:spcPts val="2100"/>
              </a:lnSpc>
              <a:buNone/>
            </a:pPr>
            <a:r>
              <a:rPr lang="en-US" sz="1500" dirty="0">
                <a:solidFill>
                  <a:srgbClr val="D1D5DB"/>
                </a:solidFill>
                <a:latin typeface="ui-sans-serif" pitchFamily="34" charset="0"/>
                <a:ea typeface="ui-sans-serif" pitchFamily="34" charset="-122"/>
                <a:cs typeface="ui-sans-serif" pitchFamily="34" charset="-120"/>
              </a:rPr>
              <a:t>"的適配器機制，無需修改機器人硬體或原廠軟體</a:t>
            </a:r>
            <a:endParaRPr lang="en-US" sz="1500" dirty="0"/>
          </a:p>
        </p:txBody>
      </p:sp>
      <p:sp>
        <p:nvSpPr>
          <p:cNvPr id="49" name="Text 2"/>
          <p:cNvSpPr/>
          <p:nvPr/>
        </p:nvSpPr>
        <p:spPr>
          <a:xfrm>
            <a:off x="990600" y="3009900"/>
            <a:ext cx="1056025" cy="228600"/>
          </a:xfrm>
          <a:prstGeom prst="rect">
            <a:avLst/>
          </a:prstGeom>
          <a:noFill/>
          <a:ln/>
        </p:spPr>
        <p:txBody>
          <a:bodyPr wrap="square" lIns="0" tIns="0" rIns="0" bIns="0" rtlCol="0" anchor="t" vert="horz"/>
          <a:lstStyle/>
          <a:p>
            <a:pPr indent="0" marL="0">
              <a:lnSpc>
                <a:spcPts val="1800"/>
              </a:lnSpc>
              <a:buNone/>
            </a:pPr>
            <a:r>
              <a:rPr lang="en-US" sz="1200" b="1" dirty="0">
                <a:solidFill>
                  <a:srgbClr val="93C5FD"/>
                </a:solidFill>
                <a:latin typeface="ui-sans-serif" pitchFamily="34" charset="0"/>
                <a:ea typeface="ui-sans-serif" pitchFamily="34" charset="-122"/>
                <a:cs typeface="ui-sans-serif" pitchFamily="34" charset="-120"/>
              </a:rPr>
              <a:t>品牌A機器人</a:t>
            </a:r>
            <a:endParaRPr lang="en-US" sz="1200" dirty="0"/>
          </a:p>
        </p:txBody>
      </p:sp>
      <p:sp>
        <p:nvSpPr>
          <p:cNvPr id="50" name="Text 3"/>
          <p:cNvSpPr/>
          <p:nvPr/>
        </p:nvSpPr>
        <p:spPr>
          <a:xfrm>
            <a:off x="1245096" y="3238500"/>
            <a:ext cx="445056"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(普渡)</a:t>
            </a:r>
            <a:endParaRPr lang="en-US" sz="1050" dirty="0"/>
          </a:p>
        </p:txBody>
      </p:sp>
      <p:sp>
        <p:nvSpPr>
          <p:cNvPr id="51" name="Text 4"/>
          <p:cNvSpPr/>
          <p:nvPr/>
        </p:nvSpPr>
        <p:spPr>
          <a:xfrm>
            <a:off x="4191000" y="3009900"/>
            <a:ext cx="1053882" cy="228600"/>
          </a:xfrm>
          <a:prstGeom prst="rect">
            <a:avLst/>
          </a:prstGeom>
          <a:noFill/>
          <a:ln/>
        </p:spPr>
        <p:txBody>
          <a:bodyPr wrap="square" lIns="0" tIns="0" rIns="0" bIns="0" rtlCol="0" anchor="t" vert="horz"/>
          <a:lstStyle/>
          <a:p>
            <a:pPr indent="0" marL="0">
              <a:lnSpc>
                <a:spcPts val="1800"/>
              </a:lnSpc>
              <a:buNone/>
            </a:pPr>
            <a:r>
              <a:rPr lang="en-US" sz="1200" b="1" dirty="0">
                <a:solidFill>
                  <a:srgbClr val="86EFAC"/>
                </a:solidFill>
                <a:latin typeface="ui-sans-serif" pitchFamily="34" charset="0"/>
                <a:ea typeface="ui-sans-serif" pitchFamily="34" charset="-122"/>
                <a:cs typeface="ui-sans-serif" pitchFamily="34" charset="-120"/>
              </a:rPr>
              <a:t>品牌B機器人</a:t>
            </a:r>
            <a:endParaRPr lang="en-US" sz="1200" dirty="0"/>
          </a:p>
        </p:txBody>
      </p:sp>
      <p:sp>
        <p:nvSpPr>
          <p:cNvPr id="52" name="Text 5"/>
          <p:cNvSpPr/>
          <p:nvPr/>
        </p:nvSpPr>
        <p:spPr>
          <a:xfrm>
            <a:off x="4444603" y="3238500"/>
            <a:ext cx="445056"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(擎朗)</a:t>
            </a:r>
            <a:endParaRPr lang="en-US" sz="1050" dirty="0"/>
          </a:p>
        </p:txBody>
      </p:sp>
      <p:sp>
        <p:nvSpPr>
          <p:cNvPr id="53" name="Text 6"/>
          <p:cNvSpPr/>
          <p:nvPr/>
        </p:nvSpPr>
        <p:spPr>
          <a:xfrm>
            <a:off x="7127081" y="3009900"/>
            <a:ext cx="1048702" cy="228600"/>
          </a:xfrm>
          <a:prstGeom prst="rect">
            <a:avLst/>
          </a:prstGeom>
          <a:noFill/>
          <a:ln/>
        </p:spPr>
        <p:txBody>
          <a:bodyPr wrap="square" lIns="0" tIns="0" rIns="0" bIns="0" rtlCol="0" anchor="t" vert="horz"/>
          <a:lstStyle/>
          <a:p>
            <a:pPr indent="0" marL="0">
              <a:lnSpc>
                <a:spcPts val="1800"/>
              </a:lnSpc>
              <a:buNone/>
            </a:pPr>
            <a:r>
              <a:rPr lang="en-US" sz="1200" b="1" dirty="0">
                <a:solidFill>
                  <a:srgbClr val="D8B4FE"/>
                </a:solidFill>
                <a:latin typeface="ui-sans-serif" pitchFamily="34" charset="0"/>
                <a:ea typeface="ui-sans-serif" pitchFamily="34" charset="-122"/>
                <a:cs typeface="ui-sans-serif" pitchFamily="34" charset="-120"/>
              </a:rPr>
              <a:t>品牌C機器人</a:t>
            </a:r>
            <a:endParaRPr lang="en-US" sz="1200" dirty="0"/>
          </a:p>
        </p:txBody>
      </p:sp>
      <p:sp>
        <p:nvSpPr>
          <p:cNvPr id="54" name="Text 7"/>
          <p:cNvSpPr/>
          <p:nvPr/>
        </p:nvSpPr>
        <p:spPr>
          <a:xfrm>
            <a:off x="7378601" y="3238500"/>
            <a:ext cx="445056"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(熊貓)</a:t>
            </a:r>
            <a:endParaRPr lang="en-US" sz="1050" dirty="0"/>
          </a:p>
        </p:txBody>
      </p:sp>
      <p:sp>
        <p:nvSpPr>
          <p:cNvPr id="55" name="Text 8"/>
          <p:cNvSpPr/>
          <p:nvPr/>
        </p:nvSpPr>
        <p:spPr>
          <a:xfrm>
            <a:off x="10383143" y="3009900"/>
            <a:ext cx="981908" cy="228600"/>
          </a:xfrm>
          <a:prstGeom prst="rect">
            <a:avLst/>
          </a:prstGeom>
          <a:noFill/>
          <a:ln/>
        </p:spPr>
        <p:txBody>
          <a:bodyPr wrap="square" lIns="0" tIns="0" rIns="0" bIns="0" rtlCol="0" anchor="t" vert="horz"/>
          <a:lstStyle/>
          <a:p>
            <a:pPr indent="0" marL="0">
              <a:lnSpc>
                <a:spcPts val="1800"/>
              </a:lnSpc>
              <a:buNone/>
            </a:pPr>
            <a:r>
              <a:rPr lang="en-US" sz="1200" b="1" dirty="0">
                <a:solidFill>
                  <a:srgbClr val="FDE047"/>
                </a:solidFill>
                <a:latin typeface="ui-sans-serif" pitchFamily="34" charset="0"/>
                <a:ea typeface="ui-sans-serif" pitchFamily="34" charset="-122"/>
                <a:cs typeface="ui-sans-serif" pitchFamily="34" charset="-120"/>
              </a:rPr>
              <a:t>本專案AGV</a:t>
            </a:r>
            <a:endParaRPr lang="en-US" sz="1200" dirty="0"/>
          </a:p>
        </p:txBody>
      </p:sp>
      <p:sp>
        <p:nvSpPr>
          <p:cNvPr id="56" name="Text 9"/>
          <p:cNvSpPr/>
          <p:nvPr/>
        </p:nvSpPr>
        <p:spPr>
          <a:xfrm>
            <a:off x="10473482" y="3238500"/>
            <a:ext cx="765096"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(原生支援)</a:t>
            </a:r>
            <a:endParaRPr lang="en-US" sz="1050" dirty="0"/>
          </a:p>
        </p:txBody>
      </p:sp>
      <p:sp>
        <p:nvSpPr>
          <p:cNvPr id="57" name="Text 10"/>
          <p:cNvSpPr/>
          <p:nvPr/>
        </p:nvSpPr>
        <p:spPr>
          <a:xfrm>
            <a:off x="1143000" y="2933700"/>
            <a:ext cx="15240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93C5FD"/>
                </a:solidFill>
                <a:latin typeface="ui-sans-serif" pitchFamily="34" charset="0"/>
                <a:ea typeface="ui-sans-serif" pitchFamily="34" charset="-122"/>
                <a:cs typeface="ui-sans-serif" pitchFamily="34" charset="-120"/>
              </a:rPr>
              <a:t>普渡適配器</a:t>
            </a:r>
            <a:endParaRPr lang="en-US" sz="1200" dirty="0"/>
          </a:p>
        </p:txBody>
      </p:sp>
      <p:sp>
        <p:nvSpPr>
          <p:cNvPr id="58" name="Text 11"/>
          <p:cNvSpPr/>
          <p:nvPr/>
        </p:nvSpPr>
        <p:spPr>
          <a:xfrm>
            <a:off x="4343400" y="2933700"/>
            <a:ext cx="15240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86EFAC"/>
                </a:solidFill>
                <a:latin typeface="ui-sans-serif" pitchFamily="34" charset="0"/>
                <a:ea typeface="ui-sans-serif" pitchFamily="34" charset="-122"/>
                <a:cs typeface="ui-sans-serif" pitchFamily="34" charset="-120"/>
              </a:rPr>
              <a:t>擎朗適配器</a:t>
            </a:r>
            <a:endParaRPr lang="en-US" sz="1200" dirty="0"/>
          </a:p>
        </p:txBody>
      </p:sp>
      <p:sp>
        <p:nvSpPr>
          <p:cNvPr id="59" name="Text 12"/>
          <p:cNvSpPr/>
          <p:nvPr/>
        </p:nvSpPr>
        <p:spPr>
          <a:xfrm>
            <a:off x="6324600" y="2933700"/>
            <a:ext cx="15240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D8B4FE"/>
                </a:solidFill>
                <a:latin typeface="ui-sans-serif" pitchFamily="34" charset="0"/>
                <a:ea typeface="ui-sans-serif" pitchFamily="34" charset="-122"/>
                <a:cs typeface="ui-sans-serif" pitchFamily="34" charset="-120"/>
              </a:rPr>
              <a:t>熊貓適配器</a:t>
            </a:r>
            <a:endParaRPr lang="en-US" sz="1200" dirty="0"/>
          </a:p>
        </p:txBody>
      </p:sp>
      <p:sp>
        <p:nvSpPr>
          <p:cNvPr id="60" name="Text 13"/>
          <p:cNvSpPr/>
          <p:nvPr/>
        </p:nvSpPr>
        <p:spPr>
          <a:xfrm>
            <a:off x="9525000" y="2933700"/>
            <a:ext cx="15240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DE047"/>
                </a:solidFill>
                <a:latin typeface="ui-sans-serif" pitchFamily="34" charset="0"/>
                <a:ea typeface="ui-sans-serif" pitchFamily="34" charset="-122"/>
                <a:cs typeface="ui-sans-serif" pitchFamily="34" charset="-120"/>
              </a:rPr>
              <a:t>原生支援</a:t>
            </a:r>
            <a:endParaRPr lang="en-US" sz="1200" dirty="0"/>
          </a:p>
        </p:txBody>
      </p:sp>
      <p:sp>
        <p:nvSpPr>
          <p:cNvPr id="61" name="Text 14"/>
          <p:cNvSpPr/>
          <p:nvPr/>
        </p:nvSpPr>
        <p:spPr>
          <a:xfrm>
            <a:off x="4495800" y="3238500"/>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統一協調層</a:t>
            </a:r>
            <a:endParaRPr lang="en-US" sz="1500" dirty="0"/>
          </a:p>
        </p:txBody>
      </p:sp>
      <p:sp>
        <p:nvSpPr>
          <p:cNvPr id="62" name="Text 15"/>
          <p:cNvSpPr/>
          <p:nvPr/>
        </p:nvSpPr>
        <p:spPr>
          <a:xfrm>
            <a:off x="4175760" y="3543300"/>
            <a:ext cx="384048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所有品牌機器人共同的"智慧大腦"</a:t>
            </a:r>
            <a:endParaRPr lang="en-US" sz="1050" dirty="0"/>
          </a:p>
        </p:txBody>
      </p:sp>
      <p:sp>
        <p:nvSpPr>
          <p:cNvPr id="63" name="Text 16"/>
          <p:cNvSpPr/>
          <p:nvPr/>
        </p:nvSpPr>
        <p:spPr>
          <a:xfrm>
            <a:off x="819150" y="4305300"/>
            <a:ext cx="6263640" cy="266700"/>
          </a:xfrm>
          <a:prstGeom prst="rect">
            <a:avLst/>
          </a:prstGeom>
          <a:noFill/>
          <a:ln/>
        </p:spPr>
        <p:txBody>
          <a:bodyPr wrap="square" lIns="0" tIns="0" rIns="0" bIns="0" rtlCol="0" anchor="t" vert="horz"/>
          <a:lstStyle/>
          <a:p>
            <a:pPr indent="0" marL="0">
              <a:lnSpc>
                <a:spcPts val="2100"/>
              </a:lnSpc>
              <a:buNone/>
            </a:pPr>
            <a:r>
              <a:rPr lang="en-US" sz="1500" b="1" dirty="0">
                <a:solidFill>
                  <a:srgbClr val="4ADE80"/>
                </a:solidFill>
                <a:latin typeface="ui-sans-serif" pitchFamily="34" charset="0"/>
                <a:ea typeface="ui-sans-serif" pitchFamily="34" charset="-122"/>
                <a:cs typeface="ui-sans-serif" pitchFamily="34" charset="-120"/>
              </a:rPr>
              <a:t>輸入轉換 (Input Transformation)</a:t>
            </a:r>
            <a:endParaRPr lang="en-US" sz="1500" dirty="0"/>
          </a:p>
        </p:txBody>
      </p:sp>
      <p:sp>
        <p:nvSpPr>
          <p:cNvPr id="64" name="Text 17"/>
          <p:cNvSpPr/>
          <p:nvPr/>
        </p:nvSpPr>
        <p:spPr>
          <a:xfrm>
            <a:off x="800100" y="4686300"/>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讀取品牌機器人位置</a:t>
            </a:r>
            <a:endParaRPr lang="en-US" sz="1200" dirty="0"/>
          </a:p>
        </p:txBody>
      </p:sp>
      <p:sp>
        <p:nvSpPr>
          <p:cNvPr id="65" name="Text 18"/>
          <p:cNvSpPr/>
          <p:nvPr/>
        </p:nvSpPr>
        <p:spPr>
          <a:xfrm>
            <a:off x="800100" y="4991100"/>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獲取狀態和電量信息</a:t>
            </a:r>
            <a:endParaRPr lang="en-US" sz="1200" dirty="0"/>
          </a:p>
        </p:txBody>
      </p:sp>
      <p:sp>
        <p:nvSpPr>
          <p:cNvPr id="66" name="Text 19"/>
          <p:cNvSpPr/>
          <p:nvPr/>
        </p:nvSpPr>
        <p:spPr>
          <a:xfrm>
            <a:off x="800100" y="5295900"/>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轉換為統一協議格式</a:t>
            </a:r>
            <a:endParaRPr lang="en-US" sz="1200" dirty="0"/>
          </a:p>
        </p:txBody>
      </p:sp>
      <p:sp>
        <p:nvSpPr>
          <p:cNvPr id="67" name="Text 20"/>
          <p:cNvSpPr/>
          <p:nvPr/>
        </p:nvSpPr>
        <p:spPr>
          <a:xfrm>
            <a:off x="800100" y="5600700"/>
            <a:ext cx="128016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廣播到協調網路</a:t>
            </a:r>
            <a:endParaRPr lang="en-US" sz="1200" dirty="0"/>
          </a:p>
        </p:txBody>
      </p:sp>
      <p:sp>
        <p:nvSpPr>
          <p:cNvPr id="68" name="Text 21"/>
          <p:cNvSpPr/>
          <p:nvPr/>
        </p:nvSpPr>
        <p:spPr>
          <a:xfrm>
            <a:off x="6648450" y="4305300"/>
            <a:ext cx="626364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87171"/>
                </a:solidFill>
                <a:latin typeface="ui-sans-serif" pitchFamily="34" charset="0"/>
                <a:ea typeface="ui-sans-serif" pitchFamily="34" charset="-122"/>
                <a:cs typeface="ui-sans-serif" pitchFamily="34" charset="-120"/>
              </a:rPr>
              <a:t>輸出轉換 (Output Transformation)</a:t>
            </a:r>
            <a:endParaRPr lang="en-US" sz="1500" dirty="0"/>
          </a:p>
        </p:txBody>
      </p:sp>
      <p:sp>
        <p:nvSpPr>
          <p:cNvPr id="69" name="Text 22"/>
          <p:cNvSpPr/>
          <p:nvPr/>
        </p:nvSpPr>
        <p:spPr>
          <a:xfrm>
            <a:off x="6629400" y="46863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接收協調指令</a:t>
            </a:r>
            <a:endParaRPr lang="en-US" sz="1200" dirty="0"/>
          </a:p>
        </p:txBody>
      </p:sp>
      <p:sp>
        <p:nvSpPr>
          <p:cNvPr id="70" name="Text 23"/>
          <p:cNvSpPr/>
          <p:nvPr/>
        </p:nvSpPr>
        <p:spPr>
          <a:xfrm>
            <a:off x="6629400" y="4991100"/>
            <a:ext cx="1685746"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轉換為品牌 API 格式</a:t>
            </a:r>
            <a:endParaRPr lang="en-US" sz="1200" dirty="0"/>
          </a:p>
        </p:txBody>
      </p:sp>
      <p:sp>
        <p:nvSpPr>
          <p:cNvPr id="71" name="Text 24"/>
          <p:cNvSpPr/>
          <p:nvPr/>
        </p:nvSpPr>
        <p:spPr>
          <a:xfrm>
            <a:off x="6629400" y="52959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下發控制命令</a:t>
            </a:r>
            <a:endParaRPr lang="en-US" sz="1200" dirty="0"/>
          </a:p>
        </p:txBody>
      </p:sp>
      <p:sp>
        <p:nvSpPr>
          <p:cNvPr id="72" name="Text 25"/>
          <p:cNvSpPr/>
          <p:nvPr/>
        </p:nvSpPr>
        <p:spPr>
          <a:xfrm>
            <a:off x="6629400" y="56007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反饋執行狀態</a:t>
            </a:r>
            <a:endParaRPr lang="en-US" sz="1200" dirty="0"/>
          </a:p>
        </p:txBody>
      </p:sp>
      <p:sp>
        <p:nvSpPr>
          <p:cNvPr id="73" name="Text 26"/>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74" name="Text 27"/>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866900"/>
            <a:ext cx="1777901" cy="1676400"/>
          </a:xfrm>
          <a:prstGeom prst="rect">
            <a:avLst/>
          </a:prstGeom>
        </p:spPr>
      </p:pic>
      <p:pic>
        <p:nvPicPr>
          <p:cNvPr id="5" name="Image 3" descr="preencoded.png">    </p:cNvPr>
          <p:cNvPicPr>
            <a:picLocks noChangeAspect="1"/>
          </p:cNvPicPr>
          <p:nvPr/>
        </p:nvPicPr>
        <p:blipFill>
          <a:blip r:embed="rId4"/>
          <a:stretch>
            <a:fillRect/>
          </a:stretch>
        </p:blipFill>
        <p:spPr>
          <a:xfrm>
            <a:off x="533400" y="2019300"/>
            <a:ext cx="1473101" cy="381000"/>
          </a:xfrm>
          <a:prstGeom prst="rect">
            <a:avLst/>
          </a:prstGeom>
        </p:spPr>
      </p:pic>
      <p:pic>
        <p:nvPicPr>
          <p:cNvPr id="6" name="Image 4" descr="preencoded.png">    </p:cNvPr>
          <p:cNvPicPr>
            <a:picLocks noChangeAspect="1"/>
          </p:cNvPicPr>
          <p:nvPr/>
        </p:nvPicPr>
        <p:blipFill>
          <a:blip r:embed="rId5"/>
          <a:stretch>
            <a:fillRect/>
          </a:stretch>
        </p:blipFill>
        <p:spPr>
          <a:xfrm>
            <a:off x="965150" y="2514600"/>
            <a:ext cx="609600" cy="609600"/>
          </a:xfrm>
          <a:prstGeom prst="rect">
            <a:avLst/>
          </a:prstGeom>
        </p:spPr>
      </p:pic>
      <p:pic>
        <p:nvPicPr>
          <p:cNvPr id="7" name="Image 5" descr="preencoded.png">    </p:cNvPr>
          <p:cNvPicPr>
            <a:picLocks noChangeAspect="1"/>
          </p:cNvPicPr>
          <p:nvPr/>
        </p:nvPicPr>
        <p:blipFill>
          <a:blip r:embed="rId6"/>
          <a:stretch>
            <a:fillRect/>
          </a:stretch>
        </p:blipFill>
        <p:spPr>
          <a:xfrm>
            <a:off x="1141363" y="2667000"/>
            <a:ext cx="257175" cy="304800"/>
          </a:xfrm>
          <a:prstGeom prst="rect">
            <a:avLst/>
          </a:prstGeom>
        </p:spPr>
      </p:pic>
      <p:pic>
        <p:nvPicPr>
          <p:cNvPr id="8" name="Image 6" descr="preencoded.png">    </p:cNvPr>
          <p:cNvPicPr>
            <a:picLocks noChangeAspect="1"/>
          </p:cNvPicPr>
          <p:nvPr/>
        </p:nvPicPr>
        <p:blipFill>
          <a:blip r:embed="rId7"/>
          <a:stretch>
            <a:fillRect/>
          </a:stretch>
        </p:blipFill>
        <p:spPr>
          <a:xfrm>
            <a:off x="2311301" y="1866900"/>
            <a:ext cx="1778050" cy="1676400"/>
          </a:xfrm>
          <a:prstGeom prst="rect">
            <a:avLst/>
          </a:prstGeom>
        </p:spPr>
      </p:pic>
      <p:pic>
        <p:nvPicPr>
          <p:cNvPr id="9" name="Image 7" descr="preencoded.png">    </p:cNvPr>
          <p:cNvPicPr>
            <a:picLocks noChangeAspect="1"/>
          </p:cNvPicPr>
          <p:nvPr/>
        </p:nvPicPr>
        <p:blipFill>
          <a:blip r:embed="rId8"/>
          <a:stretch>
            <a:fillRect/>
          </a:stretch>
        </p:blipFill>
        <p:spPr>
          <a:xfrm>
            <a:off x="2463701" y="2019300"/>
            <a:ext cx="1178570" cy="381000"/>
          </a:xfrm>
          <a:prstGeom prst="rect">
            <a:avLst/>
          </a:prstGeom>
        </p:spPr>
      </p:pic>
      <p:pic>
        <p:nvPicPr>
          <p:cNvPr id="10" name="Image 8" descr="preencoded.png">    </p:cNvPr>
          <p:cNvPicPr>
            <a:picLocks noChangeAspect="1"/>
          </p:cNvPicPr>
          <p:nvPr/>
        </p:nvPicPr>
        <p:blipFill>
          <a:blip r:embed="rId9"/>
          <a:stretch>
            <a:fillRect/>
          </a:stretch>
        </p:blipFill>
        <p:spPr>
          <a:xfrm>
            <a:off x="2895451" y="2514600"/>
            <a:ext cx="609600" cy="609600"/>
          </a:xfrm>
          <a:prstGeom prst="rect">
            <a:avLst/>
          </a:prstGeom>
        </p:spPr>
      </p:pic>
      <p:pic>
        <p:nvPicPr>
          <p:cNvPr id="11" name="Image 9" descr="preencoded.png">    </p:cNvPr>
          <p:cNvPicPr>
            <a:picLocks noChangeAspect="1"/>
          </p:cNvPicPr>
          <p:nvPr/>
        </p:nvPicPr>
        <p:blipFill>
          <a:blip r:embed="rId10"/>
          <a:stretch>
            <a:fillRect/>
          </a:stretch>
        </p:blipFill>
        <p:spPr>
          <a:xfrm>
            <a:off x="3071664" y="2667000"/>
            <a:ext cx="257175" cy="304800"/>
          </a:xfrm>
          <a:prstGeom prst="rect">
            <a:avLst/>
          </a:prstGeom>
        </p:spPr>
      </p:pic>
      <p:pic>
        <p:nvPicPr>
          <p:cNvPr id="12" name="Image 10" descr="preencoded.png">    </p:cNvPr>
          <p:cNvPicPr>
            <a:picLocks noChangeAspect="1"/>
          </p:cNvPicPr>
          <p:nvPr/>
        </p:nvPicPr>
        <p:blipFill>
          <a:blip r:embed="rId11"/>
          <a:stretch>
            <a:fillRect/>
          </a:stretch>
        </p:blipFill>
        <p:spPr>
          <a:xfrm>
            <a:off x="4241750" y="1866900"/>
            <a:ext cx="1778050" cy="1676400"/>
          </a:xfrm>
          <a:prstGeom prst="rect">
            <a:avLst/>
          </a:prstGeom>
        </p:spPr>
      </p:pic>
      <p:pic>
        <p:nvPicPr>
          <p:cNvPr id="13" name="Image 11" descr="preencoded.png">    </p:cNvPr>
          <p:cNvPicPr>
            <a:picLocks noChangeAspect="1"/>
          </p:cNvPicPr>
          <p:nvPr/>
        </p:nvPicPr>
        <p:blipFill>
          <a:blip r:embed="rId12"/>
          <a:stretch>
            <a:fillRect/>
          </a:stretch>
        </p:blipFill>
        <p:spPr>
          <a:xfrm>
            <a:off x="4394150" y="2019300"/>
            <a:ext cx="1031230" cy="381000"/>
          </a:xfrm>
          <a:prstGeom prst="rect">
            <a:avLst/>
          </a:prstGeom>
        </p:spPr>
      </p:pic>
      <p:pic>
        <p:nvPicPr>
          <p:cNvPr id="14" name="Image 12" descr="preencoded.png">    </p:cNvPr>
          <p:cNvPicPr>
            <a:picLocks noChangeAspect="1"/>
          </p:cNvPicPr>
          <p:nvPr/>
        </p:nvPicPr>
        <p:blipFill>
          <a:blip r:embed="rId13"/>
          <a:stretch>
            <a:fillRect/>
          </a:stretch>
        </p:blipFill>
        <p:spPr>
          <a:xfrm>
            <a:off x="4825901" y="2514600"/>
            <a:ext cx="609600" cy="609600"/>
          </a:xfrm>
          <a:prstGeom prst="rect">
            <a:avLst/>
          </a:prstGeom>
        </p:spPr>
      </p:pic>
      <p:pic>
        <p:nvPicPr>
          <p:cNvPr id="15" name="Image 13" descr="preencoded.png">    </p:cNvPr>
          <p:cNvPicPr>
            <a:picLocks noChangeAspect="1"/>
          </p:cNvPicPr>
          <p:nvPr/>
        </p:nvPicPr>
        <p:blipFill>
          <a:blip r:embed="rId14"/>
          <a:stretch>
            <a:fillRect/>
          </a:stretch>
        </p:blipFill>
        <p:spPr>
          <a:xfrm>
            <a:off x="5030688" y="2667000"/>
            <a:ext cx="200025" cy="304800"/>
          </a:xfrm>
          <a:prstGeom prst="rect">
            <a:avLst/>
          </a:prstGeom>
        </p:spPr>
      </p:pic>
      <p:pic>
        <p:nvPicPr>
          <p:cNvPr id="16" name="Image 14" descr="preencoded.png">    </p:cNvPr>
          <p:cNvPicPr>
            <a:picLocks noChangeAspect="1"/>
          </p:cNvPicPr>
          <p:nvPr/>
        </p:nvPicPr>
        <p:blipFill>
          <a:blip r:embed="rId15"/>
          <a:stretch>
            <a:fillRect/>
          </a:stretch>
        </p:blipFill>
        <p:spPr>
          <a:xfrm>
            <a:off x="6172200" y="1866900"/>
            <a:ext cx="1777901" cy="1676400"/>
          </a:xfrm>
          <a:prstGeom prst="rect">
            <a:avLst/>
          </a:prstGeom>
        </p:spPr>
      </p:pic>
      <p:pic>
        <p:nvPicPr>
          <p:cNvPr id="17" name="Image 15" descr="preencoded.png">    </p:cNvPr>
          <p:cNvPicPr>
            <a:picLocks noChangeAspect="1"/>
          </p:cNvPicPr>
          <p:nvPr/>
        </p:nvPicPr>
        <p:blipFill>
          <a:blip r:embed="rId16"/>
          <a:stretch>
            <a:fillRect/>
          </a:stretch>
        </p:blipFill>
        <p:spPr>
          <a:xfrm>
            <a:off x="6324600" y="2019300"/>
            <a:ext cx="736550" cy="381000"/>
          </a:xfrm>
          <a:prstGeom prst="rect">
            <a:avLst/>
          </a:prstGeom>
        </p:spPr>
      </p:pic>
      <p:pic>
        <p:nvPicPr>
          <p:cNvPr id="18" name="Image 16" descr="preencoded.png">    </p:cNvPr>
          <p:cNvPicPr>
            <a:picLocks noChangeAspect="1"/>
          </p:cNvPicPr>
          <p:nvPr/>
        </p:nvPicPr>
        <p:blipFill>
          <a:blip r:embed="rId17"/>
          <a:stretch>
            <a:fillRect/>
          </a:stretch>
        </p:blipFill>
        <p:spPr>
          <a:xfrm>
            <a:off x="6756350" y="2514600"/>
            <a:ext cx="609600" cy="609600"/>
          </a:xfrm>
          <a:prstGeom prst="rect">
            <a:avLst/>
          </a:prstGeom>
        </p:spPr>
      </p:pic>
      <p:pic>
        <p:nvPicPr>
          <p:cNvPr id="19" name="Image 17" descr="preencoded.png">    </p:cNvPr>
          <p:cNvPicPr>
            <a:picLocks noChangeAspect="1"/>
          </p:cNvPicPr>
          <p:nvPr/>
        </p:nvPicPr>
        <p:blipFill>
          <a:blip r:embed="rId18"/>
          <a:stretch>
            <a:fillRect/>
          </a:stretch>
        </p:blipFill>
        <p:spPr>
          <a:xfrm>
            <a:off x="6946850" y="2667000"/>
            <a:ext cx="228600" cy="304800"/>
          </a:xfrm>
          <a:prstGeom prst="rect">
            <a:avLst/>
          </a:prstGeom>
        </p:spPr>
      </p:pic>
      <p:pic>
        <p:nvPicPr>
          <p:cNvPr id="20" name="Image 18" descr="preencoded.png">    </p:cNvPr>
          <p:cNvPicPr>
            <a:picLocks noChangeAspect="1"/>
          </p:cNvPicPr>
          <p:nvPr/>
        </p:nvPicPr>
        <p:blipFill>
          <a:blip r:embed="rId19"/>
          <a:stretch>
            <a:fillRect/>
          </a:stretch>
        </p:blipFill>
        <p:spPr>
          <a:xfrm>
            <a:off x="8102501" y="1866900"/>
            <a:ext cx="1778050" cy="1676400"/>
          </a:xfrm>
          <a:prstGeom prst="rect">
            <a:avLst/>
          </a:prstGeom>
        </p:spPr>
      </p:pic>
      <p:pic>
        <p:nvPicPr>
          <p:cNvPr id="21" name="Image 19" descr="preencoded.png">    </p:cNvPr>
          <p:cNvPicPr>
            <a:picLocks noChangeAspect="1"/>
          </p:cNvPicPr>
          <p:nvPr/>
        </p:nvPicPr>
        <p:blipFill>
          <a:blip r:embed="rId20"/>
          <a:stretch>
            <a:fillRect/>
          </a:stretch>
        </p:blipFill>
        <p:spPr>
          <a:xfrm>
            <a:off x="8254901" y="2019300"/>
            <a:ext cx="147191" cy="381000"/>
          </a:xfrm>
          <a:prstGeom prst="rect">
            <a:avLst/>
          </a:prstGeom>
        </p:spPr>
      </p:pic>
      <p:pic>
        <p:nvPicPr>
          <p:cNvPr id="22" name="Image 20" descr="preencoded.png">    </p:cNvPr>
          <p:cNvPicPr>
            <a:picLocks noChangeAspect="1"/>
          </p:cNvPicPr>
          <p:nvPr/>
        </p:nvPicPr>
        <p:blipFill>
          <a:blip r:embed="rId21"/>
          <a:stretch>
            <a:fillRect/>
          </a:stretch>
        </p:blipFill>
        <p:spPr>
          <a:xfrm>
            <a:off x="8686651" y="2514600"/>
            <a:ext cx="609600" cy="609600"/>
          </a:xfrm>
          <a:prstGeom prst="rect">
            <a:avLst/>
          </a:prstGeom>
        </p:spPr>
      </p:pic>
      <p:pic>
        <p:nvPicPr>
          <p:cNvPr id="23" name="Image 21" descr="preencoded.png">    </p:cNvPr>
          <p:cNvPicPr>
            <a:picLocks noChangeAspect="1"/>
          </p:cNvPicPr>
          <p:nvPr/>
        </p:nvPicPr>
        <p:blipFill>
          <a:blip r:embed="rId22"/>
          <a:stretch>
            <a:fillRect/>
          </a:stretch>
        </p:blipFill>
        <p:spPr>
          <a:xfrm>
            <a:off x="8905726" y="2667000"/>
            <a:ext cx="171450" cy="304800"/>
          </a:xfrm>
          <a:prstGeom prst="rect">
            <a:avLst/>
          </a:prstGeom>
        </p:spPr>
      </p:pic>
      <p:pic>
        <p:nvPicPr>
          <p:cNvPr id="24" name="Image 22" descr="preencoded.png">    </p:cNvPr>
          <p:cNvPicPr>
            <a:picLocks noChangeAspect="1"/>
          </p:cNvPicPr>
          <p:nvPr/>
        </p:nvPicPr>
        <p:blipFill>
          <a:blip r:embed="rId23"/>
          <a:stretch>
            <a:fillRect/>
          </a:stretch>
        </p:blipFill>
        <p:spPr>
          <a:xfrm>
            <a:off x="10032950" y="1866900"/>
            <a:ext cx="1778050" cy="1676400"/>
          </a:xfrm>
          <a:prstGeom prst="rect">
            <a:avLst/>
          </a:prstGeom>
        </p:spPr>
      </p:pic>
      <p:pic>
        <p:nvPicPr>
          <p:cNvPr id="25" name="Image 23" descr="preencoded.png">    </p:cNvPr>
          <p:cNvPicPr>
            <a:picLocks noChangeAspect="1"/>
          </p:cNvPicPr>
          <p:nvPr/>
        </p:nvPicPr>
        <p:blipFill>
          <a:blip r:embed="rId24"/>
          <a:stretch>
            <a:fillRect/>
          </a:stretch>
        </p:blipFill>
        <p:spPr>
          <a:xfrm>
            <a:off x="10617101" y="2514600"/>
            <a:ext cx="609600" cy="609600"/>
          </a:xfrm>
          <a:prstGeom prst="rect">
            <a:avLst/>
          </a:prstGeom>
        </p:spPr>
      </p:pic>
      <p:pic>
        <p:nvPicPr>
          <p:cNvPr id="26" name="Image 24" descr="preencoded.png">    </p:cNvPr>
          <p:cNvPicPr>
            <a:picLocks noChangeAspect="1"/>
          </p:cNvPicPr>
          <p:nvPr/>
        </p:nvPicPr>
        <p:blipFill>
          <a:blip r:embed="rId25"/>
          <a:stretch>
            <a:fillRect/>
          </a:stretch>
        </p:blipFill>
        <p:spPr>
          <a:xfrm>
            <a:off x="10807601" y="2667000"/>
            <a:ext cx="228600" cy="304800"/>
          </a:xfrm>
          <a:prstGeom prst="rect">
            <a:avLst/>
          </a:prstGeom>
        </p:spPr>
      </p:pic>
      <p:pic>
        <p:nvPicPr>
          <p:cNvPr id="27" name="Image 25" descr="preencoded.png">    </p:cNvPr>
          <p:cNvPicPr>
            <a:picLocks noChangeAspect="1"/>
          </p:cNvPicPr>
          <p:nvPr/>
        </p:nvPicPr>
        <p:blipFill>
          <a:blip r:embed="rId26"/>
          <a:stretch>
            <a:fillRect/>
          </a:stretch>
        </p:blipFill>
        <p:spPr>
          <a:xfrm>
            <a:off x="381000" y="4762500"/>
            <a:ext cx="11430000" cy="1257300"/>
          </a:xfrm>
          <a:prstGeom prst="rect">
            <a:avLst/>
          </a:prstGeom>
        </p:spPr>
      </p:pic>
      <p:pic>
        <p:nvPicPr>
          <p:cNvPr id="28" name="Image 26" descr="preencoded.png">    </p:cNvPr>
          <p:cNvPicPr>
            <a:picLocks noChangeAspect="1"/>
          </p:cNvPicPr>
          <p:nvPr/>
        </p:nvPicPr>
        <p:blipFill>
          <a:blip r:embed="rId27"/>
          <a:stretch>
            <a:fillRect/>
          </a:stretch>
        </p:blipFill>
        <p:spPr>
          <a:xfrm>
            <a:off x="533400" y="5295900"/>
            <a:ext cx="152400" cy="152400"/>
          </a:xfrm>
          <a:prstGeom prst="rect">
            <a:avLst/>
          </a:prstGeom>
        </p:spPr>
      </p:pic>
      <p:pic>
        <p:nvPicPr>
          <p:cNvPr id="29" name="Image 27" descr="preencoded.png">    </p:cNvPr>
          <p:cNvPicPr>
            <a:picLocks noChangeAspect="1"/>
          </p:cNvPicPr>
          <p:nvPr/>
        </p:nvPicPr>
        <p:blipFill>
          <a:blip r:embed="rId28"/>
          <a:stretch>
            <a:fillRect/>
          </a:stretch>
        </p:blipFill>
        <p:spPr>
          <a:xfrm>
            <a:off x="6172200" y="5295900"/>
            <a:ext cx="152400" cy="152400"/>
          </a:xfrm>
          <a:prstGeom prst="rect">
            <a:avLst/>
          </a:prstGeom>
        </p:spPr>
      </p:pic>
      <p:pic>
        <p:nvPicPr>
          <p:cNvPr id="30" name="Image 28" descr="preencoded.png">    </p:cNvPr>
          <p:cNvPicPr>
            <a:picLocks noChangeAspect="1"/>
          </p:cNvPicPr>
          <p:nvPr/>
        </p:nvPicPr>
        <p:blipFill>
          <a:blip r:embed="rId29"/>
          <a:stretch>
            <a:fillRect/>
          </a:stretch>
        </p:blipFill>
        <p:spPr>
          <a:xfrm>
            <a:off x="533400" y="5676900"/>
            <a:ext cx="152400" cy="152400"/>
          </a:xfrm>
          <a:prstGeom prst="rect">
            <a:avLst/>
          </a:prstGeom>
        </p:spPr>
      </p:pic>
      <p:pic>
        <p:nvPicPr>
          <p:cNvPr id="31" name="Image 29" descr="preencoded.png">    </p:cNvPr>
          <p:cNvPicPr>
            <a:picLocks noChangeAspect="1"/>
          </p:cNvPicPr>
          <p:nvPr/>
        </p:nvPicPr>
        <p:blipFill>
          <a:blip r:embed="rId30"/>
          <a:stretch>
            <a:fillRect/>
          </a:stretch>
        </p:blipFill>
        <p:spPr>
          <a:xfrm>
            <a:off x="6172200" y="5676900"/>
            <a:ext cx="152400" cy="152400"/>
          </a:xfrm>
          <a:prstGeom prst="rect">
            <a:avLst/>
          </a:prstGeom>
        </p:spPr>
      </p:pic>
      <p:sp>
        <p:nvSpPr>
          <p:cNvPr id="32"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智能優先級系统</a:t>
            </a:r>
            <a:endParaRPr lang="en-US" sz="2700" dirty="0"/>
          </a:p>
        </p:txBody>
      </p:sp>
      <p:sp>
        <p:nvSpPr>
          <p:cNvPr id="33" name="Text 1"/>
          <p:cNvSpPr/>
          <p:nvPr/>
        </p:nvSpPr>
        <p:spPr>
          <a:xfrm>
            <a:off x="381000" y="1104900"/>
            <a:ext cx="11430000" cy="533400"/>
          </a:xfrm>
          <a:prstGeom prst="rect">
            <a:avLst/>
          </a:prstGeom>
          <a:noFill/>
          <a:ln/>
        </p:spPr>
        <p:txBody>
          <a:bodyPr wrap="square" lIns="0" tIns="0" rIns="0" bIns="0" rtlCol="0" anchor="t" vert="horz"/>
          <a:lstStyle/>
          <a:p>
            <a:pPr indent="0" marL="0">
              <a:lnSpc>
                <a:spcPts val="2100"/>
              </a:lnSpc>
              <a:buNone/>
            </a:pPr>
            <a:r>
              <a:rPr lang="en-US" sz="1350" dirty="0">
                <a:solidFill>
                  <a:srgbClr val="D1D5DB"/>
                </a:solidFill>
                <a:latin typeface="ui-sans-serif" pitchFamily="34" charset="0"/>
                <a:ea typeface="ui-sans-serif" pitchFamily="34" charset="-122"/>
                <a:cs typeface="ui-sans-serif" pitchFamily="34" charset="-120"/>
              </a:rPr>
              <a:t>動態優先級機制根據AGV的任務類型、電量狀態、載物情況等因素，賦予其不同的優先級權重，以在發生潛在衝突时，協調层能依據這些權重進行路權仲裁。</a:t>
            </a:r>
            <a:endParaRPr lang="en-US" sz="1350" dirty="0"/>
          </a:p>
        </p:txBody>
      </p:sp>
      <p:sp>
        <p:nvSpPr>
          <p:cNvPr id="34" name="Text 2"/>
          <p:cNvSpPr/>
          <p:nvPr/>
        </p:nvSpPr>
        <p:spPr>
          <a:xfrm>
            <a:off x="647700" y="2019300"/>
            <a:ext cx="381833"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100</a:t>
            </a:r>
            <a:endParaRPr lang="en-US" sz="1200" dirty="0"/>
          </a:p>
        </p:txBody>
      </p:sp>
      <p:sp>
        <p:nvSpPr>
          <p:cNvPr id="35" name="Text 3"/>
          <p:cNvSpPr/>
          <p:nvPr/>
        </p:nvSpPr>
        <p:spPr>
          <a:xfrm>
            <a:off x="1282601" y="2019300"/>
            <a:ext cx="731520"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緊急任務</a:t>
            </a:r>
            <a:endParaRPr lang="en-US" sz="1200" dirty="0"/>
          </a:p>
        </p:txBody>
      </p:sp>
      <p:sp>
        <p:nvSpPr>
          <p:cNvPr id="36" name="Text 4"/>
          <p:cNvSpPr/>
          <p:nvPr/>
        </p:nvSpPr>
        <p:spPr>
          <a:xfrm>
            <a:off x="386090" y="3200400"/>
            <a:ext cx="1767721"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醫療配送、緊急物料運輸</a:t>
            </a:r>
            <a:endParaRPr lang="en-US" sz="1050" dirty="0"/>
          </a:p>
        </p:txBody>
      </p:sp>
      <p:sp>
        <p:nvSpPr>
          <p:cNvPr id="37" name="Text 5"/>
          <p:cNvSpPr/>
          <p:nvPr/>
        </p:nvSpPr>
        <p:spPr>
          <a:xfrm>
            <a:off x="2578001" y="2019300"/>
            <a:ext cx="254496"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80</a:t>
            </a:r>
            <a:endParaRPr lang="en-US" sz="1200" dirty="0"/>
          </a:p>
        </p:txBody>
      </p:sp>
      <p:sp>
        <p:nvSpPr>
          <p:cNvPr id="38" name="Text 6"/>
          <p:cNvSpPr/>
          <p:nvPr/>
        </p:nvSpPr>
        <p:spPr>
          <a:xfrm>
            <a:off x="3365450" y="2019300"/>
            <a:ext cx="548640"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低電量</a:t>
            </a:r>
            <a:endParaRPr lang="en-US" sz="1200" dirty="0"/>
          </a:p>
        </p:txBody>
      </p:sp>
      <p:sp>
        <p:nvSpPr>
          <p:cNvPr id="39" name="Text 7"/>
          <p:cNvSpPr/>
          <p:nvPr/>
        </p:nvSpPr>
        <p:spPr>
          <a:xfrm>
            <a:off x="2316376" y="3200400"/>
            <a:ext cx="17679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電量過低需返回充電</a:t>
            </a:r>
            <a:endParaRPr lang="en-US" sz="1050" dirty="0"/>
          </a:p>
        </p:txBody>
      </p:sp>
      <p:sp>
        <p:nvSpPr>
          <p:cNvPr id="40" name="Text 8"/>
          <p:cNvSpPr/>
          <p:nvPr/>
        </p:nvSpPr>
        <p:spPr>
          <a:xfrm>
            <a:off x="4508450" y="2019300"/>
            <a:ext cx="254496"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70</a:t>
            </a:r>
            <a:endParaRPr lang="en-US" sz="1200" dirty="0"/>
          </a:p>
        </p:txBody>
      </p:sp>
      <p:sp>
        <p:nvSpPr>
          <p:cNvPr id="41" name="Text 9"/>
          <p:cNvSpPr/>
          <p:nvPr/>
        </p:nvSpPr>
        <p:spPr>
          <a:xfrm>
            <a:off x="5087838" y="2019300"/>
            <a:ext cx="798314"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載物/載客</a:t>
            </a:r>
            <a:endParaRPr lang="en-US" sz="1200" dirty="0"/>
          </a:p>
        </p:txBody>
      </p:sp>
      <p:sp>
        <p:nvSpPr>
          <p:cNvPr id="42" name="Text 10"/>
          <p:cNvSpPr/>
          <p:nvPr/>
        </p:nvSpPr>
        <p:spPr>
          <a:xfrm>
            <a:off x="4246825" y="3200400"/>
            <a:ext cx="17679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送餐、載物或載客任務</a:t>
            </a:r>
            <a:endParaRPr lang="en-US" sz="1050" dirty="0"/>
          </a:p>
        </p:txBody>
      </p:sp>
      <p:sp>
        <p:nvSpPr>
          <p:cNvPr id="43" name="Text 11"/>
          <p:cNvSpPr/>
          <p:nvPr/>
        </p:nvSpPr>
        <p:spPr>
          <a:xfrm>
            <a:off x="6438900" y="2019300"/>
            <a:ext cx="254496"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50</a:t>
            </a:r>
            <a:endParaRPr lang="en-US" sz="1200" dirty="0"/>
          </a:p>
        </p:txBody>
      </p:sp>
      <p:sp>
        <p:nvSpPr>
          <p:cNvPr id="44" name="Text 12"/>
          <p:cNvSpPr/>
          <p:nvPr/>
        </p:nvSpPr>
        <p:spPr>
          <a:xfrm>
            <a:off x="7073801" y="2019300"/>
            <a:ext cx="731520"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一般任務</a:t>
            </a:r>
            <a:endParaRPr lang="en-US" sz="1200" dirty="0"/>
          </a:p>
        </p:txBody>
      </p:sp>
      <p:sp>
        <p:nvSpPr>
          <p:cNvPr id="45" name="Text 13"/>
          <p:cNvSpPr/>
          <p:nvPr/>
        </p:nvSpPr>
        <p:spPr>
          <a:xfrm>
            <a:off x="6177290" y="3200400"/>
            <a:ext cx="1767721"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正常移動中的AGV</a:t>
            </a:r>
            <a:endParaRPr lang="en-US" sz="1050" dirty="0"/>
          </a:p>
        </p:txBody>
      </p:sp>
      <p:sp>
        <p:nvSpPr>
          <p:cNvPr id="46" name="Text 14"/>
          <p:cNvSpPr/>
          <p:nvPr/>
        </p:nvSpPr>
        <p:spPr>
          <a:xfrm>
            <a:off x="8369201" y="2019300"/>
            <a:ext cx="254496"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10</a:t>
            </a:r>
            <a:endParaRPr lang="en-US" sz="1200" dirty="0"/>
          </a:p>
        </p:txBody>
      </p:sp>
      <p:sp>
        <p:nvSpPr>
          <p:cNvPr id="47" name="Text 15"/>
          <p:cNvSpPr/>
          <p:nvPr/>
        </p:nvSpPr>
        <p:spPr>
          <a:xfrm>
            <a:off x="9004250" y="2019300"/>
            <a:ext cx="731520"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空閒狀態</a:t>
            </a:r>
            <a:endParaRPr lang="en-US" sz="1200" dirty="0"/>
          </a:p>
        </p:txBody>
      </p:sp>
      <p:sp>
        <p:nvSpPr>
          <p:cNvPr id="48" name="Text 16"/>
          <p:cNvSpPr/>
          <p:nvPr/>
        </p:nvSpPr>
        <p:spPr>
          <a:xfrm>
            <a:off x="8107576" y="3200400"/>
            <a:ext cx="17679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待命或無任務的AGV</a:t>
            </a:r>
            <a:endParaRPr lang="en-US" sz="1050" dirty="0"/>
          </a:p>
        </p:txBody>
      </p:sp>
      <p:sp>
        <p:nvSpPr>
          <p:cNvPr id="49" name="Text 17"/>
          <p:cNvSpPr/>
          <p:nvPr/>
        </p:nvSpPr>
        <p:spPr>
          <a:xfrm>
            <a:off x="10299650" y="2019300"/>
            <a:ext cx="127337"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0</a:t>
            </a:r>
            <a:endParaRPr lang="en-US" sz="1200" dirty="0"/>
          </a:p>
        </p:txBody>
      </p:sp>
      <p:sp>
        <p:nvSpPr>
          <p:cNvPr id="50" name="Text 18"/>
          <p:cNvSpPr/>
          <p:nvPr/>
        </p:nvSpPr>
        <p:spPr>
          <a:xfrm>
            <a:off x="10934700" y="2019300"/>
            <a:ext cx="731520"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故障模式</a:t>
            </a:r>
            <a:endParaRPr lang="en-US" sz="1200" dirty="0"/>
          </a:p>
        </p:txBody>
      </p:sp>
      <p:sp>
        <p:nvSpPr>
          <p:cNvPr id="51" name="Text 19"/>
          <p:cNvSpPr/>
          <p:nvPr/>
        </p:nvSpPr>
        <p:spPr>
          <a:xfrm>
            <a:off x="10038025" y="3200400"/>
            <a:ext cx="17679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發生故障的AGV</a:t>
            </a:r>
            <a:endParaRPr lang="en-US" sz="1050" dirty="0"/>
          </a:p>
        </p:txBody>
      </p:sp>
      <p:sp>
        <p:nvSpPr>
          <p:cNvPr id="52" name="Text 20"/>
          <p:cNvSpPr/>
          <p:nvPr/>
        </p:nvSpPr>
        <p:spPr>
          <a:xfrm>
            <a:off x="533400" y="4914900"/>
            <a:ext cx="111252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優先級規則</a:t>
            </a:r>
            <a:endParaRPr lang="en-US" sz="1500" dirty="0"/>
          </a:p>
        </p:txBody>
      </p:sp>
      <p:sp>
        <p:nvSpPr>
          <p:cNvPr id="53" name="Text 21"/>
          <p:cNvSpPr/>
          <p:nvPr/>
        </p:nvSpPr>
        <p:spPr>
          <a:xfrm>
            <a:off x="762000" y="5257800"/>
            <a:ext cx="16459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優先級高者優先通行</a:t>
            </a:r>
            <a:endParaRPr lang="en-US" sz="1200" dirty="0"/>
          </a:p>
        </p:txBody>
      </p:sp>
      <p:sp>
        <p:nvSpPr>
          <p:cNvPr id="54" name="Text 22"/>
          <p:cNvSpPr/>
          <p:nvPr/>
        </p:nvSpPr>
        <p:spPr>
          <a:xfrm>
            <a:off x="6400800" y="5257800"/>
            <a:ext cx="25603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同優先級時，先預約路徑者優先</a:t>
            </a:r>
            <a:endParaRPr lang="en-US" sz="1200" dirty="0"/>
          </a:p>
        </p:txBody>
      </p:sp>
      <p:sp>
        <p:nvSpPr>
          <p:cNvPr id="55" name="Text 23"/>
          <p:cNvSpPr/>
          <p:nvPr/>
        </p:nvSpPr>
        <p:spPr>
          <a:xfrm>
            <a:off x="762000" y="5638800"/>
            <a:ext cx="21945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距離避讓點近的機器人避讓</a:t>
            </a:r>
            <a:endParaRPr lang="en-US" sz="1200" dirty="0"/>
          </a:p>
        </p:txBody>
      </p:sp>
      <p:sp>
        <p:nvSpPr>
          <p:cNvPr id="56" name="Text 24"/>
          <p:cNvSpPr/>
          <p:nvPr/>
        </p:nvSpPr>
        <p:spPr>
          <a:xfrm>
            <a:off x="6400800" y="5638800"/>
            <a:ext cx="201168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選擇總體延遲最小的方案</a:t>
            </a:r>
            <a:endParaRPr lang="en-US" sz="1200" dirty="0"/>
          </a:p>
        </p:txBody>
      </p:sp>
      <p:sp>
        <p:nvSpPr>
          <p:cNvPr id="57" name="Text 25"/>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跨品牌協同系統</a:t>
            </a:r>
            <a:endParaRPr lang="en-US" sz="1200" dirty="0"/>
          </a:p>
        </p:txBody>
      </p:sp>
      <p:sp>
        <p:nvSpPr>
          <p:cNvPr id="58" name="Text 26"/>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095375"/>
            <a:ext cx="228600" cy="228600"/>
          </a:xfrm>
          <a:prstGeom prst="rect">
            <a:avLst/>
          </a:prstGeom>
        </p:spPr>
      </p:pic>
      <p:pic>
        <p:nvPicPr>
          <p:cNvPr id="5" name="Image 3" descr="preencoded.png">    </p:cNvPr>
          <p:cNvPicPr>
            <a:picLocks noChangeAspect="1"/>
          </p:cNvPicPr>
          <p:nvPr/>
        </p:nvPicPr>
        <p:blipFill>
          <a:blip r:embed="rId4"/>
          <a:stretch>
            <a:fillRect/>
          </a:stretch>
        </p:blipFill>
        <p:spPr>
          <a:xfrm>
            <a:off x="381000" y="1485900"/>
            <a:ext cx="6629400" cy="647700"/>
          </a:xfrm>
          <a:prstGeom prst="rect">
            <a:avLst/>
          </a:prstGeom>
        </p:spPr>
      </p:pic>
      <p:pic>
        <p:nvPicPr>
          <p:cNvPr id="6" name="Image 4" descr="preencoded.png">    </p:cNvPr>
          <p:cNvPicPr>
            <a:picLocks noChangeAspect="1"/>
          </p:cNvPicPr>
          <p:nvPr/>
        </p:nvPicPr>
        <p:blipFill>
          <a:blip r:embed="rId5"/>
          <a:stretch>
            <a:fillRect/>
          </a:stretch>
        </p:blipFill>
        <p:spPr>
          <a:xfrm>
            <a:off x="457200" y="1600200"/>
            <a:ext cx="190500" cy="190500"/>
          </a:xfrm>
          <a:prstGeom prst="rect">
            <a:avLst/>
          </a:prstGeom>
        </p:spPr>
      </p:pic>
      <p:pic>
        <p:nvPicPr>
          <p:cNvPr id="7" name="Image 5" descr="preencoded.png">    </p:cNvPr>
          <p:cNvPicPr>
            <a:picLocks noChangeAspect="1"/>
          </p:cNvPicPr>
          <p:nvPr/>
        </p:nvPicPr>
        <p:blipFill>
          <a:blip r:embed="rId6"/>
          <a:stretch>
            <a:fillRect/>
          </a:stretch>
        </p:blipFill>
        <p:spPr>
          <a:xfrm>
            <a:off x="381000" y="2209800"/>
            <a:ext cx="6629400" cy="647700"/>
          </a:xfrm>
          <a:prstGeom prst="rect">
            <a:avLst/>
          </a:prstGeom>
        </p:spPr>
      </p:pic>
      <p:pic>
        <p:nvPicPr>
          <p:cNvPr id="8" name="Image 6" descr="preencoded.png">    </p:cNvPr>
          <p:cNvPicPr>
            <a:picLocks noChangeAspect="1"/>
          </p:cNvPicPr>
          <p:nvPr/>
        </p:nvPicPr>
        <p:blipFill>
          <a:blip r:embed="rId7"/>
          <a:stretch>
            <a:fillRect/>
          </a:stretch>
        </p:blipFill>
        <p:spPr>
          <a:xfrm>
            <a:off x="457200" y="2324100"/>
            <a:ext cx="190500" cy="190500"/>
          </a:xfrm>
          <a:prstGeom prst="rect">
            <a:avLst/>
          </a:prstGeom>
        </p:spPr>
      </p:pic>
      <p:pic>
        <p:nvPicPr>
          <p:cNvPr id="9" name="Image 7" descr="preencoded.png">    </p:cNvPr>
          <p:cNvPicPr>
            <a:picLocks noChangeAspect="1"/>
          </p:cNvPicPr>
          <p:nvPr/>
        </p:nvPicPr>
        <p:blipFill>
          <a:blip r:embed="rId8"/>
          <a:stretch>
            <a:fillRect/>
          </a:stretch>
        </p:blipFill>
        <p:spPr>
          <a:xfrm>
            <a:off x="381000" y="2933700"/>
            <a:ext cx="6629400" cy="647700"/>
          </a:xfrm>
          <a:prstGeom prst="rect">
            <a:avLst/>
          </a:prstGeom>
        </p:spPr>
      </p:pic>
      <p:pic>
        <p:nvPicPr>
          <p:cNvPr id="10" name="Image 8" descr="preencoded.png">    </p:cNvPr>
          <p:cNvPicPr>
            <a:picLocks noChangeAspect="1"/>
          </p:cNvPicPr>
          <p:nvPr/>
        </p:nvPicPr>
        <p:blipFill>
          <a:blip r:embed="rId9"/>
          <a:stretch>
            <a:fillRect/>
          </a:stretch>
        </p:blipFill>
        <p:spPr>
          <a:xfrm>
            <a:off x="457200" y="3048000"/>
            <a:ext cx="190500" cy="190500"/>
          </a:xfrm>
          <a:prstGeom prst="rect">
            <a:avLst/>
          </a:prstGeom>
        </p:spPr>
      </p:pic>
      <p:pic>
        <p:nvPicPr>
          <p:cNvPr id="11" name="Image 9" descr="preencoded.png">    </p:cNvPr>
          <p:cNvPicPr>
            <a:picLocks noChangeAspect="1"/>
          </p:cNvPicPr>
          <p:nvPr/>
        </p:nvPicPr>
        <p:blipFill>
          <a:blip r:embed="rId10"/>
          <a:stretch>
            <a:fillRect/>
          </a:stretch>
        </p:blipFill>
        <p:spPr>
          <a:xfrm>
            <a:off x="381000" y="3657600"/>
            <a:ext cx="6629400" cy="647700"/>
          </a:xfrm>
          <a:prstGeom prst="rect">
            <a:avLst/>
          </a:prstGeom>
        </p:spPr>
      </p:pic>
      <p:pic>
        <p:nvPicPr>
          <p:cNvPr id="12" name="Image 10" descr="preencoded.png">    </p:cNvPr>
          <p:cNvPicPr>
            <a:picLocks noChangeAspect="1"/>
          </p:cNvPicPr>
          <p:nvPr/>
        </p:nvPicPr>
        <p:blipFill>
          <a:blip r:embed="rId11"/>
          <a:stretch>
            <a:fillRect/>
          </a:stretch>
        </p:blipFill>
        <p:spPr>
          <a:xfrm>
            <a:off x="457200" y="3771900"/>
            <a:ext cx="190500" cy="190500"/>
          </a:xfrm>
          <a:prstGeom prst="rect">
            <a:avLst/>
          </a:prstGeom>
        </p:spPr>
      </p:pic>
      <p:pic>
        <p:nvPicPr>
          <p:cNvPr id="13" name="Image 11" descr="preencoded.png">    </p:cNvPr>
          <p:cNvPicPr>
            <a:picLocks noChangeAspect="1"/>
          </p:cNvPicPr>
          <p:nvPr/>
        </p:nvPicPr>
        <p:blipFill>
          <a:blip r:embed="rId12"/>
          <a:stretch>
            <a:fillRect/>
          </a:stretch>
        </p:blipFill>
        <p:spPr>
          <a:xfrm>
            <a:off x="7467600" y="1095375"/>
            <a:ext cx="200025" cy="228600"/>
          </a:xfrm>
          <a:prstGeom prst="rect">
            <a:avLst/>
          </a:prstGeom>
        </p:spPr>
      </p:pic>
      <p:pic>
        <p:nvPicPr>
          <p:cNvPr id="14" name="Image 12" descr="preencoded.png">    </p:cNvPr>
          <p:cNvPicPr>
            <a:picLocks noChangeAspect="1"/>
          </p:cNvPicPr>
          <p:nvPr/>
        </p:nvPicPr>
        <p:blipFill>
          <a:blip r:embed="rId13"/>
          <a:stretch>
            <a:fillRect/>
          </a:stretch>
        </p:blipFill>
        <p:spPr>
          <a:xfrm>
            <a:off x="7467600" y="1485900"/>
            <a:ext cx="4343400" cy="990600"/>
          </a:xfrm>
          <a:prstGeom prst="rect">
            <a:avLst/>
          </a:prstGeom>
        </p:spPr>
      </p:pic>
      <p:pic>
        <p:nvPicPr>
          <p:cNvPr id="15" name="Image 13" descr="preencoded.png">    </p:cNvPr>
          <p:cNvPicPr>
            <a:picLocks noChangeAspect="1"/>
          </p:cNvPicPr>
          <p:nvPr/>
        </p:nvPicPr>
        <p:blipFill>
          <a:blip r:embed="rId14"/>
          <a:stretch>
            <a:fillRect/>
          </a:stretch>
        </p:blipFill>
        <p:spPr>
          <a:xfrm>
            <a:off x="7467600" y="2590800"/>
            <a:ext cx="4343400" cy="1409700"/>
          </a:xfrm>
          <a:prstGeom prst="rect">
            <a:avLst/>
          </a:prstGeom>
        </p:spPr>
      </p:pic>
      <p:pic>
        <p:nvPicPr>
          <p:cNvPr id="16" name="Image 14" descr="preencoded.png">    </p:cNvPr>
          <p:cNvPicPr>
            <a:picLocks noChangeAspect="1"/>
          </p:cNvPicPr>
          <p:nvPr/>
        </p:nvPicPr>
        <p:blipFill>
          <a:blip r:embed="rId15"/>
          <a:stretch>
            <a:fillRect/>
          </a:stretch>
        </p:blipFill>
        <p:spPr>
          <a:xfrm>
            <a:off x="7581900" y="3009900"/>
            <a:ext cx="266700" cy="266700"/>
          </a:xfrm>
          <a:prstGeom prst="rect">
            <a:avLst/>
          </a:prstGeom>
        </p:spPr>
      </p:pic>
      <p:pic>
        <p:nvPicPr>
          <p:cNvPr id="17" name="Image 15" descr="preencoded.png">    </p:cNvPr>
          <p:cNvPicPr>
            <a:picLocks noChangeAspect="1"/>
          </p:cNvPicPr>
          <p:nvPr/>
        </p:nvPicPr>
        <p:blipFill>
          <a:blip r:embed="rId16"/>
          <a:stretch>
            <a:fillRect/>
          </a:stretch>
        </p:blipFill>
        <p:spPr>
          <a:xfrm>
            <a:off x="7581900" y="3314700"/>
            <a:ext cx="266700" cy="266700"/>
          </a:xfrm>
          <a:prstGeom prst="rect">
            <a:avLst/>
          </a:prstGeom>
        </p:spPr>
      </p:pic>
      <p:pic>
        <p:nvPicPr>
          <p:cNvPr id="18" name="Image 16" descr="preencoded.png">    </p:cNvPr>
          <p:cNvPicPr>
            <a:picLocks noChangeAspect="1"/>
          </p:cNvPicPr>
          <p:nvPr/>
        </p:nvPicPr>
        <p:blipFill>
          <a:blip r:embed="rId17"/>
          <a:stretch>
            <a:fillRect/>
          </a:stretch>
        </p:blipFill>
        <p:spPr>
          <a:xfrm>
            <a:off x="7581900" y="3619500"/>
            <a:ext cx="266700" cy="266700"/>
          </a:xfrm>
          <a:prstGeom prst="rect">
            <a:avLst/>
          </a:prstGeom>
        </p:spPr>
      </p:pic>
      <p:pic>
        <p:nvPicPr>
          <p:cNvPr id="19" name="Image 17" descr="preencoded.png">    </p:cNvPr>
          <p:cNvPicPr>
            <a:picLocks noChangeAspect="1"/>
          </p:cNvPicPr>
          <p:nvPr/>
        </p:nvPicPr>
        <p:blipFill>
          <a:blip r:embed="rId18"/>
          <a:stretch>
            <a:fillRect/>
          </a:stretch>
        </p:blipFill>
        <p:spPr>
          <a:xfrm>
            <a:off x="7467600" y="4143375"/>
            <a:ext cx="4343400" cy="1428750"/>
          </a:xfrm>
          <a:prstGeom prst="rect">
            <a:avLst/>
          </a:prstGeom>
        </p:spPr>
      </p:pic>
      <p:sp>
        <p:nvSpPr>
          <p:cNvPr id="20"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衝突解決算法</a:t>
            </a:r>
            <a:endParaRPr lang="en-US" sz="2700" dirty="0"/>
          </a:p>
        </p:txBody>
      </p:sp>
      <p:sp>
        <p:nvSpPr>
          <p:cNvPr id="21" name="Text 1"/>
          <p:cNvSpPr/>
          <p:nvPr/>
        </p:nvSpPr>
        <p:spPr>
          <a:xfrm>
            <a:off x="685800" y="1066800"/>
            <a:ext cx="66294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多層級衝突解決規則</a:t>
            </a:r>
            <a:endParaRPr lang="en-US" sz="1800" dirty="0"/>
          </a:p>
        </p:txBody>
      </p:sp>
      <p:sp>
        <p:nvSpPr>
          <p:cNvPr id="22" name="Text 2"/>
          <p:cNvSpPr/>
          <p:nvPr/>
        </p:nvSpPr>
        <p:spPr>
          <a:xfrm>
            <a:off x="723900" y="1562100"/>
            <a:ext cx="2961442" cy="266700"/>
          </a:xfrm>
          <a:prstGeom prst="rect">
            <a:avLst/>
          </a:prstGeom>
          <a:noFill/>
          <a:ln/>
        </p:spPr>
        <p:txBody>
          <a:bodyPr wrap="square" lIns="0" tIns="0" rIns="0" bIns="0" rtlCol="0" anchor="t" vert="horz"/>
          <a:lstStyle/>
          <a:p>
            <a:pPr indent="0" marL="0">
              <a:lnSpc>
                <a:spcPts val="2100"/>
              </a:lnSpc>
              <a:buNone/>
            </a:pPr>
            <a:r>
              <a:rPr lang="en-US" sz="1500" dirty="0">
                <a:solidFill>
                  <a:srgbClr val="FFFFFF"/>
                </a:solidFill>
                <a:latin typeface="ui-sans-serif" pitchFamily="34" charset="0"/>
                <a:ea typeface="ui-sans-serif" pitchFamily="34" charset="-122"/>
                <a:cs typeface="ui-sans-serif" pitchFamily="34" charset="-120"/>
              </a:rPr>
              <a:t>規則 1：優先級高者優先通行</a:t>
            </a:r>
            <a:endParaRPr lang="en-US" sz="1500" dirty="0"/>
          </a:p>
        </p:txBody>
      </p:sp>
      <p:sp>
        <p:nvSpPr>
          <p:cNvPr id="23" name="Text 3"/>
          <p:cNvSpPr/>
          <p:nvPr/>
        </p:nvSpPr>
        <p:spPr>
          <a:xfrm>
            <a:off x="723900" y="1828800"/>
            <a:ext cx="7452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優先級高的AGV優先通行，低優先級AGV進行避讓。</a:t>
            </a:r>
            <a:endParaRPr lang="en-US" sz="1200" dirty="0"/>
          </a:p>
        </p:txBody>
      </p:sp>
      <p:sp>
        <p:nvSpPr>
          <p:cNvPr id="24" name="Text 4"/>
          <p:cNvSpPr/>
          <p:nvPr/>
        </p:nvSpPr>
        <p:spPr>
          <a:xfrm>
            <a:off x="723900" y="2286000"/>
            <a:ext cx="4104442" cy="266700"/>
          </a:xfrm>
          <a:prstGeom prst="rect">
            <a:avLst/>
          </a:prstGeom>
          <a:noFill/>
          <a:ln/>
        </p:spPr>
        <p:txBody>
          <a:bodyPr wrap="square" lIns="0" tIns="0" rIns="0" bIns="0" rtlCol="0" anchor="t" vert="horz"/>
          <a:lstStyle/>
          <a:p>
            <a:pPr indent="0" marL="0">
              <a:lnSpc>
                <a:spcPts val="2100"/>
              </a:lnSpc>
              <a:buNone/>
            </a:pPr>
            <a:r>
              <a:rPr lang="en-US" sz="1500" dirty="0">
                <a:solidFill>
                  <a:srgbClr val="FFFFFF"/>
                </a:solidFill>
                <a:latin typeface="ui-sans-serif" pitchFamily="34" charset="0"/>
                <a:ea typeface="ui-sans-serif" pitchFamily="34" charset="-122"/>
                <a:cs typeface="ui-sans-serif" pitchFamily="34" charset="-120"/>
              </a:rPr>
              <a:t>規則 2：同優先級時，先預約路徑者優先</a:t>
            </a:r>
            <a:endParaRPr lang="en-US" sz="1500" dirty="0"/>
          </a:p>
        </p:txBody>
      </p:sp>
      <p:sp>
        <p:nvSpPr>
          <p:cNvPr id="25" name="Text 5"/>
          <p:cNvSpPr/>
          <p:nvPr/>
        </p:nvSpPr>
        <p:spPr>
          <a:xfrm>
            <a:off x="723900" y="2552700"/>
            <a:ext cx="7452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優先級相同時，根據路徑預約時間戳決定，先預約者優先通行。</a:t>
            </a:r>
            <a:endParaRPr lang="en-US" sz="1200" dirty="0"/>
          </a:p>
        </p:txBody>
      </p:sp>
      <p:sp>
        <p:nvSpPr>
          <p:cNvPr id="26" name="Text 6"/>
          <p:cNvSpPr/>
          <p:nvPr/>
        </p:nvSpPr>
        <p:spPr>
          <a:xfrm>
            <a:off x="723900" y="3009900"/>
            <a:ext cx="3647242" cy="266700"/>
          </a:xfrm>
          <a:prstGeom prst="rect">
            <a:avLst/>
          </a:prstGeom>
          <a:noFill/>
          <a:ln/>
        </p:spPr>
        <p:txBody>
          <a:bodyPr wrap="square" lIns="0" tIns="0" rIns="0" bIns="0" rtlCol="0" anchor="t" vert="horz"/>
          <a:lstStyle/>
          <a:p>
            <a:pPr indent="0" marL="0">
              <a:lnSpc>
                <a:spcPts val="2100"/>
              </a:lnSpc>
              <a:buNone/>
            </a:pPr>
            <a:r>
              <a:rPr lang="en-US" sz="1500" dirty="0">
                <a:solidFill>
                  <a:srgbClr val="FFFFFF"/>
                </a:solidFill>
                <a:latin typeface="ui-sans-serif" pitchFamily="34" charset="0"/>
                <a:ea typeface="ui-sans-serif" pitchFamily="34" charset="-122"/>
                <a:cs typeface="ui-sans-serif" pitchFamily="34" charset="-120"/>
              </a:rPr>
              <a:t>規則 3：距離避讓點近的機器人避讓</a:t>
            </a:r>
            <a:endParaRPr lang="en-US" sz="1500" dirty="0"/>
          </a:p>
        </p:txBody>
      </p:sp>
      <p:sp>
        <p:nvSpPr>
          <p:cNvPr id="27" name="Text 7"/>
          <p:cNvSpPr/>
          <p:nvPr/>
        </p:nvSpPr>
        <p:spPr>
          <a:xfrm>
            <a:off x="723900" y="3276600"/>
            <a:ext cx="7452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優先級與預約時間均相同時，距離衝突點較近的AGV執行避讓。</a:t>
            </a:r>
            <a:endParaRPr lang="en-US" sz="1200" dirty="0"/>
          </a:p>
        </p:txBody>
      </p:sp>
      <p:sp>
        <p:nvSpPr>
          <p:cNvPr id="28" name="Text 8"/>
          <p:cNvSpPr/>
          <p:nvPr/>
        </p:nvSpPr>
        <p:spPr>
          <a:xfrm>
            <a:off x="723900" y="3733800"/>
            <a:ext cx="3418642" cy="266700"/>
          </a:xfrm>
          <a:prstGeom prst="rect">
            <a:avLst/>
          </a:prstGeom>
          <a:noFill/>
          <a:ln/>
        </p:spPr>
        <p:txBody>
          <a:bodyPr wrap="square" lIns="0" tIns="0" rIns="0" bIns="0" rtlCol="0" anchor="t" vert="horz"/>
          <a:lstStyle/>
          <a:p>
            <a:pPr indent="0" marL="0">
              <a:lnSpc>
                <a:spcPts val="2100"/>
              </a:lnSpc>
              <a:buNone/>
            </a:pPr>
            <a:r>
              <a:rPr lang="en-US" sz="1500" dirty="0">
                <a:solidFill>
                  <a:srgbClr val="FFFFFF"/>
                </a:solidFill>
                <a:latin typeface="ui-sans-serif" pitchFamily="34" charset="0"/>
                <a:ea typeface="ui-sans-serif" pitchFamily="34" charset="-122"/>
                <a:cs typeface="ui-sans-serif" pitchFamily="34" charset="-120"/>
              </a:rPr>
              <a:t>規則 4：選擇總體延遲最小的方案</a:t>
            </a:r>
            <a:endParaRPr lang="en-US" sz="1500" dirty="0"/>
          </a:p>
        </p:txBody>
      </p:sp>
      <p:sp>
        <p:nvSpPr>
          <p:cNvPr id="29" name="Text 9"/>
          <p:cNvSpPr/>
          <p:nvPr/>
        </p:nvSpPr>
        <p:spPr>
          <a:xfrm>
            <a:off x="723900" y="4000500"/>
            <a:ext cx="74523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評估多種避讓方案，選擇使所有受影響AGV任務延遲最小的方案。</a:t>
            </a:r>
            <a:endParaRPr lang="en-US" sz="1200" dirty="0"/>
          </a:p>
        </p:txBody>
      </p:sp>
      <p:sp>
        <p:nvSpPr>
          <p:cNvPr id="30" name="Text 10"/>
          <p:cNvSpPr/>
          <p:nvPr/>
        </p:nvSpPr>
        <p:spPr>
          <a:xfrm>
            <a:off x="7743825" y="1066800"/>
            <a:ext cx="43434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死鎖處理機制</a:t>
            </a:r>
            <a:endParaRPr lang="en-US" sz="1800" dirty="0"/>
          </a:p>
        </p:txBody>
      </p:sp>
      <p:sp>
        <p:nvSpPr>
          <p:cNvPr id="31" name="Text 11"/>
          <p:cNvSpPr/>
          <p:nvPr/>
        </p:nvSpPr>
        <p:spPr>
          <a:xfrm>
            <a:off x="7581900" y="1600200"/>
            <a:ext cx="4114800" cy="266700"/>
          </a:xfrm>
          <a:prstGeom prst="rect">
            <a:avLst/>
          </a:prstGeom>
          <a:noFill/>
          <a:ln/>
        </p:spPr>
        <p:txBody>
          <a:bodyPr wrap="square" lIns="0" tIns="0" rIns="0" bIns="0" rtlCol="0" anchor="t" vert="horz"/>
          <a:lstStyle/>
          <a:p>
            <a:pPr indent="0" marL="0">
              <a:lnSpc>
                <a:spcPts val="2100"/>
              </a:lnSpc>
              <a:buNone/>
            </a:pPr>
            <a:r>
              <a:rPr lang="en-US" sz="1500" dirty="0">
                <a:solidFill>
                  <a:srgbClr val="F87171"/>
                </a:solidFill>
                <a:latin typeface="ui-sans-serif" pitchFamily="34" charset="0"/>
                <a:ea typeface="ui-sans-serif" pitchFamily="34" charset="-122"/>
                <a:cs typeface="ui-sans-serif" pitchFamily="34" charset="-120"/>
              </a:rPr>
              <a:t>死鎖檢測</a:t>
            </a:r>
            <a:endParaRPr lang="en-US" sz="1500" dirty="0"/>
          </a:p>
        </p:txBody>
      </p:sp>
      <p:sp>
        <p:nvSpPr>
          <p:cNvPr id="32" name="Text 12"/>
          <p:cNvSpPr/>
          <p:nvPr/>
        </p:nvSpPr>
        <p:spPr>
          <a:xfrm>
            <a:off x="7581900" y="1905000"/>
            <a:ext cx="41148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系統監控AGV間的等待關係，檢測到循環等待時判定為死鎖狀態。</a:t>
            </a:r>
            <a:endParaRPr lang="en-US" sz="1200" dirty="0"/>
          </a:p>
        </p:txBody>
      </p:sp>
      <p:sp>
        <p:nvSpPr>
          <p:cNvPr id="33" name="Text 13"/>
          <p:cNvSpPr/>
          <p:nvPr/>
        </p:nvSpPr>
        <p:spPr>
          <a:xfrm>
            <a:off x="7581900" y="2705100"/>
            <a:ext cx="4114800" cy="266700"/>
          </a:xfrm>
          <a:prstGeom prst="rect">
            <a:avLst/>
          </a:prstGeom>
          <a:noFill/>
          <a:ln/>
        </p:spPr>
        <p:txBody>
          <a:bodyPr wrap="square" lIns="0" tIns="0" rIns="0" bIns="0" rtlCol="0" anchor="t" vert="horz"/>
          <a:lstStyle/>
          <a:p>
            <a:pPr indent="0" marL="0">
              <a:lnSpc>
                <a:spcPts val="2100"/>
              </a:lnSpc>
              <a:buNone/>
            </a:pPr>
            <a:r>
              <a:rPr lang="en-US" sz="1500" dirty="0">
                <a:solidFill>
                  <a:srgbClr val="FFFFFF"/>
                </a:solidFill>
                <a:latin typeface="ui-sans-serif" pitchFamily="34" charset="0"/>
                <a:ea typeface="ui-sans-serif" pitchFamily="34" charset="-122"/>
                <a:cs typeface="ui-sans-serif" pitchFamily="34" charset="-120"/>
              </a:rPr>
              <a:t>死鎖解決流程</a:t>
            </a:r>
            <a:endParaRPr lang="en-US" sz="1500" dirty="0"/>
          </a:p>
        </p:txBody>
      </p:sp>
      <p:sp>
        <p:nvSpPr>
          <p:cNvPr id="34" name="Text 14"/>
          <p:cNvSpPr/>
          <p:nvPr/>
        </p:nvSpPr>
        <p:spPr>
          <a:xfrm>
            <a:off x="7662118" y="3028950"/>
            <a:ext cx="127337"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1</a:t>
            </a:r>
            <a:endParaRPr lang="en-US" sz="1200" dirty="0"/>
          </a:p>
        </p:txBody>
      </p:sp>
      <p:sp>
        <p:nvSpPr>
          <p:cNvPr id="35" name="Text 15"/>
          <p:cNvSpPr/>
          <p:nvPr/>
        </p:nvSpPr>
        <p:spPr>
          <a:xfrm>
            <a:off x="7962900" y="3028950"/>
            <a:ext cx="91440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檢測到死鎖</a:t>
            </a:r>
            <a:endParaRPr lang="en-US" sz="1200" dirty="0"/>
          </a:p>
        </p:txBody>
      </p:sp>
      <p:sp>
        <p:nvSpPr>
          <p:cNvPr id="36" name="Text 16"/>
          <p:cNvSpPr/>
          <p:nvPr/>
        </p:nvSpPr>
        <p:spPr>
          <a:xfrm>
            <a:off x="7662118" y="3333750"/>
            <a:ext cx="127337"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2</a:t>
            </a:r>
            <a:endParaRPr lang="en-US" sz="1200" dirty="0"/>
          </a:p>
        </p:txBody>
      </p:sp>
      <p:sp>
        <p:nvSpPr>
          <p:cNvPr id="37" name="Text 17"/>
          <p:cNvSpPr/>
          <p:nvPr/>
        </p:nvSpPr>
        <p:spPr>
          <a:xfrm>
            <a:off x="7962900" y="3333750"/>
            <a:ext cx="1851839"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識別優先級最低的AGV</a:t>
            </a:r>
            <a:endParaRPr lang="en-US" sz="1200" dirty="0"/>
          </a:p>
        </p:txBody>
      </p:sp>
      <p:sp>
        <p:nvSpPr>
          <p:cNvPr id="38" name="Text 18"/>
          <p:cNvSpPr/>
          <p:nvPr/>
        </p:nvSpPr>
        <p:spPr>
          <a:xfrm>
            <a:off x="7662118" y="3638550"/>
            <a:ext cx="127337"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3</a:t>
            </a:r>
            <a:endParaRPr lang="en-US" sz="1200" dirty="0"/>
          </a:p>
        </p:txBody>
      </p:sp>
      <p:sp>
        <p:nvSpPr>
          <p:cNvPr id="39" name="Text 19"/>
          <p:cNvSpPr/>
          <p:nvPr/>
        </p:nvSpPr>
        <p:spPr>
          <a:xfrm>
            <a:off x="7962900" y="3638550"/>
            <a:ext cx="2583359"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強制最低優先級AGV後退或停止</a:t>
            </a:r>
            <a:endParaRPr lang="en-US" sz="1200" dirty="0"/>
          </a:p>
        </p:txBody>
      </p:sp>
      <p:sp>
        <p:nvSpPr>
          <p:cNvPr id="40" name="Text 20"/>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41" name="Text 21"/>
          <p:cNvSpPr/>
          <p:nvPr/>
        </p:nvSpPr>
        <p:spPr>
          <a:xfrm>
            <a:off x="11371808" y="6248400"/>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83896"/>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095375"/>
            <a:ext cx="228600" cy="228600"/>
          </a:xfrm>
          <a:prstGeom prst="rect">
            <a:avLst/>
          </a:prstGeom>
        </p:spPr>
      </p:pic>
      <p:pic>
        <p:nvPicPr>
          <p:cNvPr id="5" name="Image 3" descr="preencoded.png">    </p:cNvPr>
          <p:cNvPicPr>
            <a:picLocks noChangeAspect="1"/>
          </p:cNvPicPr>
          <p:nvPr/>
        </p:nvPicPr>
        <p:blipFill>
          <a:blip r:embed="rId4"/>
          <a:stretch>
            <a:fillRect/>
          </a:stretch>
        </p:blipFill>
        <p:spPr>
          <a:xfrm>
            <a:off x="381000" y="2019300"/>
            <a:ext cx="5486400" cy="1104900"/>
          </a:xfrm>
          <a:prstGeom prst="rect">
            <a:avLst/>
          </a:prstGeom>
        </p:spPr>
      </p:pic>
      <p:pic>
        <p:nvPicPr>
          <p:cNvPr id="6" name="Image 4" descr="preencoded.png">    </p:cNvPr>
          <p:cNvPicPr>
            <a:picLocks noChangeAspect="1"/>
          </p:cNvPicPr>
          <p:nvPr/>
        </p:nvPicPr>
        <p:blipFill>
          <a:blip r:embed="rId5"/>
          <a:stretch>
            <a:fillRect/>
          </a:stretch>
        </p:blipFill>
        <p:spPr>
          <a:xfrm>
            <a:off x="381000" y="3238500"/>
            <a:ext cx="5486400" cy="1104900"/>
          </a:xfrm>
          <a:prstGeom prst="rect">
            <a:avLst/>
          </a:prstGeom>
        </p:spPr>
      </p:pic>
      <p:pic>
        <p:nvPicPr>
          <p:cNvPr id="7" name="Image 5" descr="preencoded.png">    </p:cNvPr>
          <p:cNvPicPr>
            <a:picLocks noChangeAspect="1"/>
          </p:cNvPicPr>
          <p:nvPr/>
        </p:nvPicPr>
        <p:blipFill>
          <a:blip r:embed="rId6"/>
          <a:stretch>
            <a:fillRect/>
          </a:stretch>
        </p:blipFill>
        <p:spPr>
          <a:xfrm>
            <a:off x="6324600" y="1066800"/>
            <a:ext cx="5486400" cy="5055096"/>
          </a:xfrm>
          <a:prstGeom prst="rect">
            <a:avLst/>
          </a:prstGeom>
        </p:spPr>
      </p:pic>
      <p:pic>
        <p:nvPicPr>
          <p:cNvPr id="8" name="Image 6" descr="preencoded.png">    </p:cNvPr>
          <p:cNvPicPr>
            <a:picLocks noChangeAspect="1"/>
          </p:cNvPicPr>
          <p:nvPr/>
        </p:nvPicPr>
        <p:blipFill>
          <a:blip r:embed="rId7"/>
          <a:stretch>
            <a:fillRect/>
          </a:stretch>
        </p:blipFill>
        <p:spPr>
          <a:xfrm>
            <a:off x="6477000" y="1600200"/>
            <a:ext cx="5181600" cy="2826246"/>
          </a:xfrm>
          <a:prstGeom prst="rect">
            <a:avLst/>
          </a:prstGeom>
        </p:spPr>
      </p:pic>
      <p:pic>
        <p:nvPicPr>
          <p:cNvPr id="9" name="Image 7" descr="preencoded.png">    </p:cNvPr>
          <p:cNvPicPr>
            <a:picLocks noChangeAspect="1"/>
          </p:cNvPicPr>
          <p:nvPr/>
        </p:nvPicPr>
        <p:blipFill>
          <a:blip r:embed="rId8"/>
          <a:stretch>
            <a:fillRect/>
          </a:stretch>
        </p:blipFill>
        <p:spPr>
          <a:xfrm>
            <a:off x="6477000" y="4540746"/>
            <a:ext cx="5181600" cy="228600"/>
          </a:xfrm>
          <a:prstGeom prst="rect">
            <a:avLst/>
          </a:prstGeom>
        </p:spPr>
      </p:pic>
      <p:pic>
        <p:nvPicPr>
          <p:cNvPr id="10" name="Image 8" descr="preencoded.png">    </p:cNvPr>
          <p:cNvPicPr>
            <a:picLocks noChangeAspect="1"/>
          </p:cNvPicPr>
          <p:nvPr/>
        </p:nvPicPr>
        <p:blipFill>
          <a:blip r:embed="rId9"/>
          <a:stretch>
            <a:fillRect/>
          </a:stretch>
        </p:blipFill>
        <p:spPr>
          <a:xfrm>
            <a:off x="6477000" y="4864596"/>
            <a:ext cx="5181600" cy="457200"/>
          </a:xfrm>
          <a:prstGeom prst="rect">
            <a:avLst/>
          </a:prstGeom>
        </p:spPr>
      </p:pic>
      <p:pic>
        <p:nvPicPr>
          <p:cNvPr id="11" name="Image 9" descr="preencoded.png">    </p:cNvPr>
          <p:cNvPicPr>
            <a:picLocks noChangeAspect="1"/>
          </p:cNvPicPr>
          <p:nvPr/>
        </p:nvPicPr>
        <p:blipFill>
          <a:blip r:embed="rId10"/>
          <a:stretch>
            <a:fillRect/>
          </a:stretch>
        </p:blipFill>
        <p:spPr>
          <a:xfrm>
            <a:off x="6477000" y="5417046"/>
            <a:ext cx="5181600" cy="457200"/>
          </a:xfrm>
          <a:prstGeom prst="rect">
            <a:avLst/>
          </a:prstGeom>
        </p:spPr>
      </p:pic>
      <p:sp>
        <p:nvSpPr>
          <p:cNvPr id="12"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路徑規劃與避障</a:t>
            </a:r>
            <a:endParaRPr lang="en-US" sz="2700" dirty="0"/>
          </a:p>
        </p:txBody>
      </p:sp>
      <p:sp>
        <p:nvSpPr>
          <p:cNvPr id="13" name="Text 1"/>
          <p:cNvSpPr/>
          <p:nvPr/>
        </p:nvSpPr>
        <p:spPr>
          <a:xfrm>
            <a:off x="685800" y="1066800"/>
            <a:ext cx="54864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改進型CBS算法</a:t>
            </a:r>
            <a:endParaRPr lang="en-US" sz="1800" dirty="0"/>
          </a:p>
        </p:txBody>
      </p:sp>
      <p:sp>
        <p:nvSpPr>
          <p:cNvPr id="14" name="Text 2"/>
          <p:cNvSpPr/>
          <p:nvPr/>
        </p:nvSpPr>
        <p:spPr>
          <a:xfrm>
            <a:off x="381000" y="1447800"/>
            <a:ext cx="54864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本系統借鑒並改進了Conflict-Based Search (CBS) 算法，實現高效且無衝突的路徑規劃。</a:t>
            </a:r>
            <a:endParaRPr lang="en-US" sz="1200" dirty="0"/>
          </a:p>
        </p:txBody>
      </p:sp>
      <p:sp>
        <p:nvSpPr>
          <p:cNvPr id="15" name="Text 3"/>
          <p:cNvSpPr/>
          <p:nvPr/>
        </p:nvSpPr>
        <p:spPr>
          <a:xfrm>
            <a:off x="533400" y="2171700"/>
            <a:ext cx="51816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60A5FA"/>
                </a:solidFill>
                <a:latin typeface="ui-sans-serif" pitchFamily="34" charset="0"/>
                <a:ea typeface="ui-sans-serif" pitchFamily="34" charset="-122"/>
                <a:cs typeface="ui-sans-serif" pitchFamily="34" charset="-120"/>
              </a:rPr>
              <a:t>衝突代價 (C1)</a:t>
            </a:r>
            <a:endParaRPr lang="en-US" sz="1500" dirty="0"/>
          </a:p>
        </p:txBody>
      </p:sp>
      <p:sp>
        <p:nvSpPr>
          <p:cNvPr id="16" name="Text 4"/>
          <p:cNvSpPr/>
          <p:nvPr/>
        </p:nvSpPr>
        <p:spPr>
          <a:xfrm>
            <a:off x="533400" y="2514600"/>
            <a:ext cx="51816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當AGV規劃路徑點與其他AGV預計路徑點在同一時空範圍內發生衝突時，會被賦予較高的衝突代價，促使AGV主動避開這些潛在衝突點。</a:t>
            </a:r>
            <a:endParaRPr lang="en-US" sz="1200" dirty="0"/>
          </a:p>
        </p:txBody>
      </p:sp>
      <p:sp>
        <p:nvSpPr>
          <p:cNvPr id="17" name="Text 5"/>
          <p:cNvSpPr/>
          <p:nvPr/>
        </p:nvSpPr>
        <p:spPr>
          <a:xfrm>
            <a:off x="533400" y="3390900"/>
            <a:ext cx="51816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4ADE80"/>
                </a:solidFill>
                <a:latin typeface="ui-sans-serif" pitchFamily="34" charset="0"/>
                <a:ea typeface="ui-sans-serif" pitchFamily="34" charset="-122"/>
                <a:cs typeface="ui-sans-serif" pitchFamily="34" charset="-120"/>
              </a:rPr>
              <a:t>避路代價 (C2)</a:t>
            </a:r>
            <a:endParaRPr lang="en-US" sz="1500" dirty="0"/>
          </a:p>
        </p:txBody>
      </p:sp>
      <p:sp>
        <p:nvSpPr>
          <p:cNvPr id="18" name="Text 6"/>
          <p:cNvSpPr/>
          <p:nvPr/>
        </p:nvSpPr>
        <p:spPr>
          <a:xfrm>
            <a:off x="533400" y="3733800"/>
            <a:ext cx="518160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系統會在其他AGV路徑點周圍的半徑r範圍內設置避路代價，使AGV在規劃時傾向於選擇遠離其他AGV路徑的路線，保持一定安全距離。</a:t>
            </a:r>
            <a:endParaRPr lang="en-US" sz="1200" dirty="0"/>
          </a:p>
        </p:txBody>
      </p:sp>
      <p:sp>
        <p:nvSpPr>
          <p:cNvPr id="19" name="Text 7"/>
          <p:cNvSpPr/>
          <p:nvPr/>
        </p:nvSpPr>
        <p:spPr>
          <a:xfrm>
            <a:off x="6477000" y="1219200"/>
            <a:ext cx="518160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路徑規劃可視化</a:t>
            </a:r>
            <a:endParaRPr lang="en-US" sz="1500" dirty="0"/>
          </a:p>
        </p:txBody>
      </p:sp>
      <p:sp>
        <p:nvSpPr>
          <p:cNvPr id="20" name="Text 8"/>
          <p:cNvSpPr/>
          <p:nvPr/>
        </p:nvSpPr>
        <p:spPr>
          <a:xfrm>
            <a:off x="6619875" y="4540746"/>
            <a:ext cx="6046470" cy="228600"/>
          </a:xfrm>
          <a:prstGeom prst="rect">
            <a:avLst/>
          </a:prstGeom>
          <a:noFill/>
          <a:ln/>
        </p:spPr>
        <p:txBody>
          <a:bodyPr wrap="square" lIns="0" tIns="0" rIns="0" bIns="0" rtlCol="0" anchor="t" vert="horz"/>
          <a:lstStyle/>
          <a:p>
            <a:pPr indent="0" marL="0">
              <a:lnSpc>
                <a:spcPts val="1800"/>
              </a:lnSpc>
              <a:buNone/>
            </a:pPr>
            <a:r>
              <a:rPr lang="en-US" sz="1200" b="1" dirty="0">
                <a:solidFill>
                  <a:srgbClr val="667EEA"/>
                </a:solidFill>
                <a:latin typeface="ui-sans-serif" pitchFamily="34" charset="0"/>
                <a:ea typeface="ui-sans-serif" pitchFamily="34" charset="-122"/>
                <a:cs typeface="ui-sans-serif" pitchFamily="34" charset="-120"/>
              </a:rPr>
              <a:t>步驟1:</a:t>
            </a:r>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協調層生成約束，定義AGV不能佔用的位置或不能執行的動作。</a:t>
            </a:r>
            <a:endParaRPr lang="en-US" sz="1200" dirty="0"/>
          </a:p>
        </p:txBody>
      </p:sp>
      <p:sp>
        <p:nvSpPr>
          <p:cNvPr id="21" name="Text 9"/>
          <p:cNvSpPr/>
          <p:nvPr/>
        </p:nvSpPr>
        <p:spPr>
          <a:xfrm>
            <a:off x="6619875" y="4864596"/>
            <a:ext cx="5038725" cy="457200"/>
          </a:xfrm>
          <a:prstGeom prst="rect">
            <a:avLst/>
          </a:prstGeom>
          <a:noFill/>
          <a:ln/>
        </p:spPr>
        <p:txBody>
          <a:bodyPr wrap="square" lIns="0" tIns="0" rIns="0" bIns="0" rtlCol="0" anchor="t" vert="horz"/>
          <a:lstStyle/>
          <a:p>
            <a:pPr indent="0" marL="0">
              <a:lnSpc>
                <a:spcPts val="1800"/>
              </a:lnSpc>
              <a:buNone/>
            </a:pPr>
            <a:r>
              <a:rPr lang="en-US" sz="1200" b="1" dirty="0">
                <a:solidFill>
                  <a:srgbClr val="667EEA"/>
                </a:solidFill>
                <a:latin typeface="ui-sans-serif" pitchFamily="34" charset="0"/>
                <a:ea typeface="ui-sans-serif" pitchFamily="34" charset="-122"/>
                <a:cs typeface="ui-sans-serif" pitchFamily="34" charset="-120"/>
              </a:rPr>
              <a:t>步驟2:</a:t>
            </a:r>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每個AGV使用改進型A*算法重新規劃路徑，考慮衝突代價與避路代價。</a:t>
            </a:r>
            <a:endParaRPr lang="en-US" sz="1200" dirty="0"/>
          </a:p>
        </p:txBody>
      </p:sp>
      <p:sp>
        <p:nvSpPr>
          <p:cNvPr id="22" name="Text 10"/>
          <p:cNvSpPr/>
          <p:nvPr/>
        </p:nvSpPr>
        <p:spPr>
          <a:xfrm>
            <a:off x="6619875" y="5417046"/>
            <a:ext cx="5038725" cy="457200"/>
          </a:xfrm>
          <a:prstGeom prst="rect">
            <a:avLst/>
          </a:prstGeom>
          <a:noFill/>
          <a:ln/>
        </p:spPr>
        <p:txBody>
          <a:bodyPr wrap="square" lIns="0" tIns="0" rIns="0" bIns="0" rtlCol="0" anchor="t" vert="horz"/>
          <a:lstStyle/>
          <a:p>
            <a:pPr indent="0" marL="0">
              <a:lnSpc>
                <a:spcPts val="1800"/>
              </a:lnSpc>
              <a:buNone/>
            </a:pPr>
            <a:r>
              <a:rPr lang="en-US" sz="1200" b="1" dirty="0">
                <a:solidFill>
                  <a:srgbClr val="667EEA"/>
                </a:solidFill>
                <a:latin typeface="ui-sans-serif" pitchFamily="34" charset="0"/>
                <a:ea typeface="ui-sans-serif" pitchFamily="34" charset="-122"/>
                <a:cs typeface="ui-sans-serif" pitchFamily="34" charset="-120"/>
              </a:rPr>
              <a:t>步驟3:</a:t>
            </a:r>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系統評估多種避讓方案，選擇能使所有受影響AGV總體任務延遲最小的方案。</a:t>
            </a:r>
            <a:endParaRPr lang="en-US" sz="1200" dirty="0"/>
          </a:p>
        </p:txBody>
      </p:sp>
      <p:sp>
        <p:nvSpPr>
          <p:cNvPr id="23" name="Text 11"/>
          <p:cNvSpPr/>
          <p:nvPr/>
        </p:nvSpPr>
        <p:spPr>
          <a:xfrm>
            <a:off x="381000" y="6274296"/>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24" name="Text 12"/>
          <p:cNvSpPr/>
          <p:nvPr/>
        </p:nvSpPr>
        <p:spPr>
          <a:xfrm>
            <a:off x="11371808" y="6274296"/>
            <a:ext cx="527030"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04800" y="7620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2832050" y="2895600"/>
            <a:ext cx="2438400" cy="1333500"/>
          </a:xfrm>
          <a:prstGeom prst="rect">
            <a:avLst/>
          </a:prstGeom>
        </p:spPr>
      </p:pic>
      <p:pic>
        <p:nvPicPr>
          <p:cNvPr id="5" name="Image 3" descr="preencoded.png">    </p:cNvPr>
          <p:cNvPicPr>
            <a:picLocks noChangeAspect="1"/>
          </p:cNvPicPr>
          <p:nvPr/>
        </p:nvPicPr>
        <p:blipFill>
          <a:blip r:embed="rId4"/>
          <a:stretch>
            <a:fillRect/>
          </a:stretch>
        </p:blipFill>
        <p:spPr>
          <a:xfrm>
            <a:off x="3784550" y="3009900"/>
            <a:ext cx="533400" cy="533400"/>
          </a:xfrm>
          <a:prstGeom prst="rect">
            <a:avLst/>
          </a:prstGeom>
        </p:spPr>
      </p:pic>
      <p:pic>
        <p:nvPicPr>
          <p:cNvPr id="6" name="Image 4" descr="preencoded.png">    </p:cNvPr>
          <p:cNvPicPr>
            <a:picLocks noChangeAspect="1"/>
          </p:cNvPicPr>
          <p:nvPr/>
        </p:nvPicPr>
        <p:blipFill>
          <a:blip r:embed="rId5"/>
          <a:stretch>
            <a:fillRect/>
          </a:stretch>
        </p:blipFill>
        <p:spPr>
          <a:xfrm>
            <a:off x="3936950" y="3124200"/>
            <a:ext cx="228600" cy="304800"/>
          </a:xfrm>
          <a:prstGeom prst="rect">
            <a:avLst/>
          </a:prstGeom>
        </p:spPr>
      </p:pic>
      <p:pic>
        <p:nvPicPr>
          <p:cNvPr id="7" name="Image 5" descr="preencoded.png">    </p:cNvPr>
          <p:cNvPicPr>
            <a:picLocks noChangeAspect="1"/>
          </p:cNvPicPr>
          <p:nvPr/>
        </p:nvPicPr>
        <p:blipFill>
          <a:blip r:embed="rId6"/>
          <a:stretch>
            <a:fillRect/>
          </a:stretch>
        </p:blipFill>
        <p:spPr>
          <a:xfrm>
            <a:off x="1111151" y="1685925"/>
            <a:ext cx="2133600" cy="1143000"/>
          </a:xfrm>
          <a:prstGeom prst="rect">
            <a:avLst/>
          </a:prstGeom>
        </p:spPr>
      </p:pic>
      <p:pic>
        <p:nvPicPr>
          <p:cNvPr id="8" name="Image 6" descr="preencoded.png">    </p:cNvPr>
          <p:cNvPicPr>
            <a:picLocks noChangeAspect="1"/>
          </p:cNvPicPr>
          <p:nvPr/>
        </p:nvPicPr>
        <p:blipFill>
          <a:blip r:embed="rId7"/>
          <a:stretch>
            <a:fillRect/>
          </a:stretch>
        </p:blipFill>
        <p:spPr>
          <a:xfrm>
            <a:off x="1987451" y="1800225"/>
            <a:ext cx="381000" cy="381000"/>
          </a:xfrm>
          <a:prstGeom prst="rect">
            <a:avLst/>
          </a:prstGeom>
        </p:spPr>
      </p:pic>
      <p:pic>
        <p:nvPicPr>
          <p:cNvPr id="9" name="Image 7" descr="preencoded.png">    </p:cNvPr>
          <p:cNvPicPr>
            <a:picLocks noChangeAspect="1"/>
          </p:cNvPicPr>
          <p:nvPr/>
        </p:nvPicPr>
        <p:blipFill>
          <a:blip r:embed="rId8"/>
          <a:stretch>
            <a:fillRect/>
          </a:stretch>
        </p:blipFill>
        <p:spPr>
          <a:xfrm>
            <a:off x="2106513" y="1857375"/>
            <a:ext cx="142875" cy="266700"/>
          </a:xfrm>
          <a:prstGeom prst="rect">
            <a:avLst/>
          </a:prstGeom>
        </p:spPr>
      </p:pic>
      <p:pic>
        <p:nvPicPr>
          <p:cNvPr id="10" name="Image 8" descr="preencoded.png">    </p:cNvPr>
          <p:cNvPicPr>
            <a:picLocks noChangeAspect="1"/>
          </p:cNvPicPr>
          <p:nvPr/>
        </p:nvPicPr>
        <p:blipFill>
          <a:blip r:embed="rId9"/>
          <a:stretch>
            <a:fillRect/>
          </a:stretch>
        </p:blipFill>
        <p:spPr>
          <a:xfrm>
            <a:off x="0" y="552450"/>
            <a:ext cx="1066800" cy="800100"/>
          </a:xfrm>
          <a:prstGeom prst="rect">
            <a:avLst/>
          </a:prstGeom>
        </p:spPr>
      </p:pic>
      <p:pic>
        <p:nvPicPr>
          <p:cNvPr id="11" name="Image 9" descr="preencoded.png">    </p:cNvPr>
          <p:cNvPicPr>
            <a:picLocks noChangeAspect="1"/>
          </p:cNvPicPr>
          <p:nvPr/>
        </p:nvPicPr>
        <p:blipFill>
          <a:blip r:embed="rId10"/>
          <a:stretch>
            <a:fillRect/>
          </a:stretch>
        </p:blipFill>
        <p:spPr>
          <a:xfrm>
            <a:off x="114300" y="628650"/>
            <a:ext cx="381000" cy="381000"/>
          </a:xfrm>
          <a:prstGeom prst="rect">
            <a:avLst/>
          </a:prstGeom>
        </p:spPr>
      </p:pic>
      <p:pic>
        <p:nvPicPr>
          <p:cNvPr id="12" name="Image 10" descr="preencoded.png">    </p:cNvPr>
          <p:cNvPicPr>
            <a:picLocks noChangeAspect="1"/>
          </p:cNvPicPr>
          <p:nvPr/>
        </p:nvPicPr>
        <p:blipFill>
          <a:blip r:embed="rId11"/>
          <a:stretch>
            <a:fillRect/>
          </a:stretch>
        </p:blipFill>
        <p:spPr>
          <a:xfrm>
            <a:off x="195263" y="685800"/>
            <a:ext cx="219075" cy="266700"/>
          </a:xfrm>
          <a:prstGeom prst="rect">
            <a:avLst/>
          </a:prstGeom>
        </p:spPr>
      </p:pic>
      <p:pic>
        <p:nvPicPr>
          <p:cNvPr id="13" name="Image 11" descr="preencoded.png">    </p:cNvPr>
          <p:cNvPicPr>
            <a:picLocks noChangeAspect="1"/>
          </p:cNvPicPr>
          <p:nvPr/>
        </p:nvPicPr>
        <p:blipFill>
          <a:blip r:embed="rId12"/>
          <a:stretch>
            <a:fillRect/>
          </a:stretch>
        </p:blipFill>
        <p:spPr>
          <a:xfrm>
            <a:off x="1066800" y="552450"/>
            <a:ext cx="1524000" cy="800100"/>
          </a:xfrm>
          <a:prstGeom prst="rect">
            <a:avLst/>
          </a:prstGeom>
        </p:spPr>
      </p:pic>
      <p:pic>
        <p:nvPicPr>
          <p:cNvPr id="14" name="Image 12" descr="preencoded.png">    </p:cNvPr>
          <p:cNvPicPr>
            <a:picLocks noChangeAspect="1"/>
          </p:cNvPicPr>
          <p:nvPr/>
        </p:nvPicPr>
        <p:blipFill>
          <a:blip r:embed="rId13"/>
          <a:stretch>
            <a:fillRect/>
          </a:stretch>
        </p:blipFill>
        <p:spPr>
          <a:xfrm>
            <a:off x="1638300" y="628650"/>
            <a:ext cx="381000" cy="381000"/>
          </a:xfrm>
          <a:prstGeom prst="rect">
            <a:avLst/>
          </a:prstGeom>
        </p:spPr>
      </p:pic>
      <p:pic>
        <p:nvPicPr>
          <p:cNvPr id="15" name="Image 13" descr="preencoded.png">    </p:cNvPr>
          <p:cNvPicPr>
            <a:picLocks noChangeAspect="1"/>
          </p:cNvPicPr>
          <p:nvPr/>
        </p:nvPicPr>
        <p:blipFill>
          <a:blip r:embed="rId14"/>
          <a:stretch>
            <a:fillRect/>
          </a:stretch>
        </p:blipFill>
        <p:spPr>
          <a:xfrm>
            <a:off x="1719263" y="685800"/>
            <a:ext cx="219075" cy="266700"/>
          </a:xfrm>
          <a:prstGeom prst="rect">
            <a:avLst/>
          </a:prstGeom>
        </p:spPr>
      </p:pic>
      <p:pic>
        <p:nvPicPr>
          <p:cNvPr id="16" name="Image 14" descr="preencoded.png">    </p:cNvPr>
          <p:cNvPicPr>
            <a:picLocks noChangeAspect="1"/>
          </p:cNvPicPr>
          <p:nvPr/>
        </p:nvPicPr>
        <p:blipFill>
          <a:blip r:embed="rId15"/>
          <a:stretch>
            <a:fillRect/>
          </a:stretch>
        </p:blipFill>
        <p:spPr>
          <a:xfrm>
            <a:off x="1111151" y="4295775"/>
            <a:ext cx="2133600" cy="1143000"/>
          </a:xfrm>
          <a:prstGeom prst="rect">
            <a:avLst/>
          </a:prstGeom>
        </p:spPr>
      </p:pic>
      <p:pic>
        <p:nvPicPr>
          <p:cNvPr id="17" name="Image 15" descr="preencoded.png">    </p:cNvPr>
          <p:cNvPicPr>
            <a:picLocks noChangeAspect="1"/>
          </p:cNvPicPr>
          <p:nvPr/>
        </p:nvPicPr>
        <p:blipFill>
          <a:blip r:embed="rId16"/>
          <a:stretch>
            <a:fillRect/>
          </a:stretch>
        </p:blipFill>
        <p:spPr>
          <a:xfrm>
            <a:off x="1987451" y="4410075"/>
            <a:ext cx="381000" cy="381000"/>
          </a:xfrm>
          <a:prstGeom prst="rect">
            <a:avLst/>
          </a:prstGeom>
        </p:spPr>
      </p:pic>
      <p:pic>
        <p:nvPicPr>
          <p:cNvPr id="18" name="Image 16" descr="preencoded.png">    </p:cNvPr>
          <p:cNvPicPr>
            <a:picLocks noChangeAspect="1"/>
          </p:cNvPicPr>
          <p:nvPr/>
        </p:nvPicPr>
        <p:blipFill>
          <a:blip r:embed="rId17"/>
          <a:stretch>
            <a:fillRect/>
          </a:stretch>
        </p:blipFill>
        <p:spPr>
          <a:xfrm>
            <a:off x="2068413" y="4467225"/>
            <a:ext cx="219075" cy="266700"/>
          </a:xfrm>
          <a:prstGeom prst="rect">
            <a:avLst/>
          </a:prstGeom>
        </p:spPr>
      </p:pic>
      <p:pic>
        <p:nvPicPr>
          <p:cNvPr id="19" name="Image 17" descr="preencoded.png">    </p:cNvPr>
          <p:cNvPicPr>
            <a:picLocks noChangeAspect="1"/>
          </p:cNvPicPr>
          <p:nvPr/>
        </p:nvPicPr>
        <p:blipFill>
          <a:blip r:embed="rId18"/>
          <a:stretch>
            <a:fillRect/>
          </a:stretch>
        </p:blipFill>
        <p:spPr>
          <a:xfrm>
            <a:off x="0" y="1352550"/>
            <a:ext cx="1066800" cy="800100"/>
          </a:xfrm>
          <a:prstGeom prst="rect">
            <a:avLst/>
          </a:prstGeom>
        </p:spPr>
      </p:pic>
      <p:pic>
        <p:nvPicPr>
          <p:cNvPr id="20" name="Image 18" descr="preencoded.png">    </p:cNvPr>
          <p:cNvPicPr>
            <a:picLocks noChangeAspect="1"/>
          </p:cNvPicPr>
          <p:nvPr/>
        </p:nvPicPr>
        <p:blipFill>
          <a:blip r:embed="rId19"/>
          <a:stretch>
            <a:fillRect/>
          </a:stretch>
        </p:blipFill>
        <p:spPr>
          <a:xfrm>
            <a:off x="114300" y="1428750"/>
            <a:ext cx="381000" cy="381000"/>
          </a:xfrm>
          <a:prstGeom prst="rect">
            <a:avLst/>
          </a:prstGeom>
        </p:spPr>
      </p:pic>
      <p:pic>
        <p:nvPicPr>
          <p:cNvPr id="21" name="Image 19" descr="preencoded.png">    </p:cNvPr>
          <p:cNvPicPr>
            <a:picLocks noChangeAspect="1"/>
          </p:cNvPicPr>
          <p:nvPr/>
        </p:nvPicPr>
        <p:blipFill>
          <a:blip r:embed="rId20"/>
          <a:stretch>
            <a:fillRect/>
          </a:stretch>
        </p:blipFill>
        <p:spPr>
          <a:xfrm>
            <a:off x="195263" y="1485900"/>
            <a:ext cx="219075" cy="266700"/>
          </a:xfrm>
          <a:prstGeom prst="rect">
            <a:avLst/>
          </a:prstGeom>
        </p:spPr>
      </p:pic>
      <p:pic>
        <p:nvPicPr>
          <p:cNvPr id="22" name="Image 20" descr="preencoded.png">    </p:cNvPr>
          <p:cNvPicPr>
            <a:picLocks noChangeAspect="1"/>
          </p:cNvPicPr>
          <p:nvPr/>
        </p:nvPicPr>
        <p:blipFill>
          <a:blip r:embed="rId21"/>
          <a:stretch>
            <a:fillRect/>
          </a:stretch>
        </p:blipFill>
        <p:spPr>
          <a:xfrm>
            <a:off x="1066800" y="1352550"/>
            <a:ext cx="1524000" cy="800100"/>
          </a:xfrm>
          <a:prstGeom prst="rect">
            <a:avLst/>
          </a:prstGeom>
        </p:spPr>
      </p:pic>
      <p:pic>
        <p:nvPicPr>
          <p:cNvPr id="23" name="Image 21" descr="preencoded.png">    </p:cNvPr>
          <p:cNvPicPr>
            <a:picLocks noChangeAspect="1"/>
          </p:cNvPicPr>
          <p:nvPr/>
        </p:nvPicPr>
        <p:blipFill>
          <a:blip r:embed="rId22"/>
          <a:stretch>
            <a:fillRect/>
          </a:stretch>
        </p:blipFill>
        <p:spPr>
          <a:xfrm>
            <a:off x="1638300" y="1428750"/>
            <a:ext cx="381000" cy="381000"/>
          </a:xfrm>
          <a:prstGeom prst="rect">
            <a:avLst/>
          </a:prstGeom>
        </p:spPr>
      </p:pic>
      <p:pic>
        <p:nvPicPr>
          <p:cNvPr id="24" name="Image 22" descr="preencoded.png">    </p:cNvPr>
          <p:cNvPicPr>
            <a:picLocks noChangeAspect="1"/>
          </p:cNvPicPr>
          <p:nvPr/>
        </p:nvPicPr>
        <p:blipFill>
          <a:blip r:embed="rId23"/>
          <a:stretch>
            <a:fillRect/>
          </a:stretch>
        </p:blipFill>
        <p:spPr>
          <a:xfrm>
            <a:off x="1719263" y="1485900"/>
            <a:ext cx="219075" cy="266700"/>
          </a:xfrm>
          <a:prstGeom prst="rect">
            <a:avLst/>
          </a:prstGeom>
        </p:spPr>
      </p:pic>
      <p:pic>
        <p:nvPicPr>
          <p:cNvPr id="25" name="Image 23" descr="preencoded.png">    </p:cNvPr>
          <p:cNvPicPr>
            <a:picLocks noChangeAspect="1"/>
          </p:cNvPicPr>
          <p:nvPr/>
        </p:nvPicPr>
        <p:blipFill>
          <a:blip r:embed="rId24"/>
          <a:stretch>
            <a:fillRect/>
          </a:stretch>
        </p:blipFill>
        <p:spPr>
          <a:xfrm>
            <a:off x="304800" y="952500"/>
            <a:ext cx="7492901" cy="5224016"/>
          </a:xfrm>
          <a:prstGeom prst="rect">
            <a:avLst/>
          </a:prstGeom>
        </p:spPr>
      </p:pic>
      <p:pic>
        <p:nvPicPr>
          <p:cNvPr id="26" name="Image 24" descr="preencoded.png">    </p:cNvPr>
          <p:cNvPicPr>
            <a:picLocks noChangeAspect="1"/>
          </p:cNvPicPr>
          <p:nvPr/>
        </p:nvPicPr>
        <p:blipFill>
          <a:blip r:embed="rId25"/>
          <a:stretch>
            <a:fillRect/>
          </a:stretch>
        </p:blipFill>
        <p:spPr>
          <a:xfrm>
            <a:off x="8254901" y="952500"/>
            <a:ext cx="3632150" cy="5219700"/>
          </a:xfrm>
          <a:prstGeom prst="rect">
            <a:avLst/>
          </a:prstGeom>
        </p:spPr>
      </p:pic>
      <p:pic>
        <p:nvPicPr>
          <p:cNvPr id="27" name="Image 25" descr="preencoded.png">    </p:cNvPr>
          <p:cNvPicPr>
            <a:picLocks noChangeAspect="1"/>
          </p:cNvPicPr>
          <p:nvPr/>
        </p:nvPicPr>
        <p:blipFill>
          <a:blip r:embed="rId26"/>
          <a:stretch>
            <a:fillRect/>
          </a:stretch>
        </p:blipFill>
        <p:spPr>
          <a:xfrm>
            <a:off x="8407301" y="1828800"/>
            <a:ext cx="190500" cy="152400"/>
          </a:xfrm>
          <a:prstGeom prst="rect">
            <a:avLst/>
          </a:prstGeom>
        </p:spPr>
      </p:pic>
      <p:pic>
        <p:nvPicPr>
          <p:cNvPr id="28" name="Image 26" descr="preencoded.png">    </p:cNvPr>
          <p:cNvPicPr>
            <a:picLocks noChangeAspect="1"/>
          </p:cNvPicPr>
          <p:nvPr/>
        </p:nvPicPr>
        <p:blipFill>
          <a:blip r:embed="rId27"/>
          <a:stretch>
            <a:fillRect/>
          </a:stretch>
        </p:blipFill>
        <p:spPr>
          <a:xfrm>
            <a:off x="8407301" y="2095500"/>
            <a:ext cx="95250" cy="152400"/>
          </a:xfrm>
          <a:prstGeom prst="rect">
            <a:avLst/>
          </a:prstGeom>
        </p:spPr>
      </p:pic>
      <p:pic>
        <p:nvPicPr>
          <p:cNvPr id="29" name="Image 27" descr="preencoded.png">    </p:cNvPr>
          <p:cNvPicPr>
            <a:picLocks noChangeAspect="1"/>
          </p:cNvPicPr>
          <p:nvPr/>
        </p:nvPicPr>
        <p:blipFill>
          <a:blip r:embed="rId28"/>
          <a:stretch>
            <a:fillRect/>
          </a:stretch>
        </p:blipFill>
        <p:spPr>
          <a:xfrm>
            <a:off x="8407301" y="2362200"/>
            <a:ext cx="152400" cy="152400"/>
          </a:xfrm>
          <a:prstGeom prst="rect">
            <a:avLst/>
          </a:prstGeom>
        </p:spPr>
      </p:pic>
      <p:pic>
        <p:nvPicPr>
          <p:cNvPr id="30" name="Image 28" descr="preencoded.png">    </p:cNvPr>
          <p:cNvPicPr>
            <a:picLocks noChangeAspect="1"/>
          </p:cNvPicPr>
          <p:nvPr/>
        </p:nvPicPr>
        <p:blipFill>
          <a:blip r:embed="rId29"/>
          <a:stretch>
            <a:fillRect/>
          </a:stretch>
        </p:blipFill>
        <p:spPr>
          <a:xfrm>
            <a:off x="8407301" y="2628900"/>
            <a:ext cx="152400" cy="152400"/>
          </a:xfrm>
          <a:prstGeom prst="rect">
            <a:avLst/>
          </a:prstGeom>
        </p:spPr>
      </p:pic>
      <p:pic>
        <p:nvPicPr>
          <p:cNvPr id="31" name="Image 29" descr="preencoded.png">    </p:cNvPr>
          <p:cNvPicPr>
            <a:picLocks noChangeAspect="1"/>
          </p:cNvPicPr>
          <p:nvPr/>
        </p:nvPicPr>
        <p:blipFill>
          <a:blip r:embed="rId30"/>
          <a:stretch>
            <a:fillRect/>
          </a:stretch>
        </p:blipFill>
        <p:spPr>
          <a:xfrm>
            <a:off x="8407301" y="3314700"/>
            <a:ext cx="114300" cy="152400"/>
          </a:xfrm>
          <a:prstGeom prst="rect">
            <a:avLst/>
          </a:prstGeom>
        </p:spPr>
      </p:pic>
      <p:pic>
        <p:nvPicPr>
          <p:cNvPr id="32" name="Image 30" descr="preencoded.png">    </p:cNvPr>
          <p:cNvPicPr>
            <a:picLocks noChangeAspect="1"/>
          </p:cNvPicPr>
          <p:nvPr/>
        </p:nvPicPr>
        <p:blipFill>
          <a:blip r:embed="rId31"/>
          <a:stretch>
            <a:fillRect/>
          </a:stretch>
        </p:blipFill>
        <p:spPr>
          <a:xfrm>
            <a:off x="8407301" y="3581400"/>
            <a:ext cx="114300" cy="152400"/>
          </a:xfrm>
          <a:prstGeom prst="rect">
            <a:avLst/>
          </a:prstGeom>
        </p:spPr>
      </p:pic>
      <p:pic>
        <p:nvPicPr>
          <p:cNvPr id="33" name="Image 31" descr="preencoded.png">    </p:cNvPr>
          <p:cNvPicPr>
            <a:picLocks noChangeAspect="1"/>
          </p:cNvPicPr>
          <p:nvPr/>
        </p:nvPicPr>
        <p:blipFill>
          <a:blip r:embed="rId32"/>
          <a:stretch>
            <a:fillRect/>
          </a:stretch>
        </p:blipFill>
        <p:spPr>
          <a:xfrm>
            <a:off x="8407301" y="3848100"/>
            <a:ext cx="114300" cy="152400"/>
          </a:xfrm>
          <a:prstGeom prst="rect">
            <a:avLst/>
          </a:prstGeom>
        </p:spPr>
      </p:pic>
      <p:pic>
        <p:nvPicPr>
          <p:cNvPr id="34" name="Image 32" descr="preencoded.png">    </p:cNvPr>
          <p:cNvPicPr>
            <a:picLocks noChangeAspect="1"/>
          </p:cNvPicPr>
          <p:nvPr/>
        </p:nvPicPr>
        <p:blipFill>
          <a:blip r:embed="rId33"/>
          <a:stretch>
            <a:fillRect/>
          </a:stretch>
        </p:blipFill>
        <p:spPr>
          <a:xfrm>
            <a:off x="9834860" y="4552950"/>
            <a:ext cx="152400" cy="133350"/>
          </a:xfrm>
          <a:prstGeom prst="rect">
            <a:avLst/>
          </a:prstGeom>
        </p:spPr>
      </p:pic>
      <p:pic>
        <p:nvPicPr>
          <p:cNvPr id="35" name="Image 33" descr="preencoded.png">    </p:cNvPr>
          <p:cNvPicPr>
            <a:picLocks noChangeAspect="1"/>
          </p:cNvPicPr>
          <p:nvPr/>
        </p:nvPicPr>
        <p:blipFill>
          <a:blip r:embed="rId34"/>
          <a:stretch>
            <a:fillRect/>
          </a:stretch>
        </p:blipFill>
        <p:spPr>
          <a:xfrm>
            <a:off x="8521601" y="4895850"/>
            <a:ext cx="152400" cy="133350"/>
          </a:xfrm>
          <a:prstGeom prst="rect">
            <a:avLst/>
          </a:prstGeom>
        </p:spPr>
      </p:pic>
      <p:pic>
        <p:nvPicPr>
          <p:cNvPr id="36" name="Image 34" descr="preencoded.png">    </p:cNvPr>
          <p:cNvPicPr>
            <a:picLocks noChangeAspect="1"/>
          </p:cNvPicPr>
          <p:nvPr/>
        </p:nvPicPr>
        <p:blipFill>
          <a:blip r:embed="rId35"/>
          <a:stretch>
            <a:fillRect/>
          </a:stretch>
        </p:blipFill>
        <p:spPr>
          <a:xfrm>
            <a:off x="9970145" y="4895850"/>
            <a:ext cx="133350" cy="133350"/>
          </a:xfrm>
          <a:prstGeom prst="rect">
            <a:avLst/>
          </a:prstGeom>
        </p:spPr>
      </p:pic>
      <p:sp>
        <p:nvSpPr>
          <p:cNvPr id="37" name="Text 0"/>
          <p:cNvSpPr/>
          <p:nvPr/>
        </p:nvSpPr>
        <p:spPr>
          <a:xfrm>
            <a:off x="304800" y="304800"/>
            <a:ext cx="115824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技術架構与模組</a:t>
            </a:r>
            <a:endParaRPr lang="en-US" sz="2700" dirty="0"/>
          </a:p>
        </p:txBody>
      </p:sp>
      <p:sp>
        <p:nvSpPr>
          <p:cNvPr id="38" name="Text 1"/>
          <p:cNvSpPr/>
          <p:nvPr/>
        </p:nvSpPr>
        <p:spPr>
          <a:xfrm>
            <a:off x="2946350" y="3619500"/>
            <a:ext cx="22098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協調層核心</a:t>
            </a:r>
            <a:endParaRPr lang="en-US" sz="1500" dirty="0"/>
          </a:p>
        </p:txBody>
      </p:sp>
      <p:sp>
        <p:nvSpPr>
          <p:cNvPr id="39" name="Text 2"/>
          <p:cNvSpPr/>
          <p:nvPr/>
        </p:nvSpPr>
        <p:spPr>
          <a:xfrm>
            <a:off x="2725370" y="3924300"/>
            <a:ext cx="265176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AGV集群的"智慧大腦"</a:t>
            </a:r>
            <a:endParaRPr lang="en-US" sz="1050" dirty="0"/>
          </a:p>
        </p:txBody>
      </p:sp>
      <p:sp>
        <p:nvSpPr>
          <p:cNvPr id="40" name="Text 3"/>
          <p:cNvSpPr/>
          <p:nvPr/>
        </p:nvSpPr>
        <p:spPr>
          <a:xfrm>
            <a:off x="1225451" y="2219325"/>
            <a:ext cx="1905000" cy="266700"/>
          </a:xfrm>
          <a:prstGeom prst="rect">
            <a:avLst/>
          </a:prstGeom>
          <a:noFill/>
          <a:ln/>
        </p:spPr>
        <p:txBody>
          <a:bodyPr wrap="square" lIns="0" tIns="0" rIns="0" bIns="0" rtlCol="0" anchor="t" vert="horz"/>
          <a:lstStyle/>
          <a:p>
            <a:pPr algn="ctr" indent="0" marL="0">
              <a:lnSpc>
                <a:spcPts val="2100"/>
              </a:lnSpc>
              <a:buNone/>
            </a:pPr>
            <a:r>
              <a:rPr lang="en-US" sz="1350" b="1" dirty="0">
                <a:solidFill>
                  <a:srgbClr val="FFFFFF"/>
                </a:solidFill>
                <a:latin typeface="ui-sans-serif" pitchFamily="34" charset="0"/>
                <a:ea typeface="ui-sans-serif" pitchFamily="34" charset="-122"/>
                <a:cs typeface="ui-sans-serif" pitchFamily="34" charset="-120"/>
              </a:rPr>
              <a:t>品牌適配器</a:t>
            </a:r>
            <a:endParaRPr lang="en-US" sz="1350" dirty="0"/>
          </a:p>
        </p:txBody>
      </p:sp>
      <p:sp>
        <p:nvSpPr>
          <p:cNvPr id="41" name="Text 4"/>
          <p:cNvSpPr/>
          <p:nvPr/>
        </p:nvSpPr>
        <p:spPr>
          <a:xfrm>
            <a:off x="1034951" y="2524125"/>
            <a:ext cx="22860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實現跨品牌互聯互通</a:t>
            </a:r>
            <a:endParaRPr lang="en-US" sz="1050" dirty="0"/>
          </a:p>
        </p:txBody>
      </p:sp>
      <p:sp>
        <p:nvSpPr>
          <p:cNvPr id="42" name="Text 5"/>
          <p:cNvSpPr/>
          <p:nvPr/>
        </p:nvSpPr>
        <p:spPr>
          <a:xfrm>
            <a:off x="-518160" y="1047750"/>
            <a:ext cx="164592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普渡適配器</a:t>
            </a:r>
            <a:endParaRPr lang="en-US" sz="1200" dirty="0"/>
          </a:p>
        </p:txBody>
      </p:sp>
      <p:sp>
        <p:nvSpPr>
          <p:cNvPr id="43" name="Text 6"/>
          <p:cNvSpPr/>
          <p:nvPr/>
        </p:nvSpPr>
        <p:spPr>
          <a:xfrm>
            <a:off x="1005840" y="1047750"/>
            <a:ext cx="164592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擎朗適配器</a:t>
            </a:r>
            <a:endParaRPr lang="en-US" sz="1200" dirty="0"/>
          </a:p>
        </p:txBody>
      </p:sp>
      <p:sp>
        <p:nvSpPr>
          <p:cNvPr id="44" name="Text 7"/>
          <p:cNvSpPr/>
          <p:nvPr/>
        </p:nvSpPr>
        <p:spPr>
          <a:xfrm>
            <a:off x="1225451" y="4829175"/>
            <a:ext cx="1905000" cy="266700"/>
          </a:xfrm>
          <a:prstGeom prst="rect">
            <a:avLst/>
          </a:prstGeom>
          <a:noFill/>
          <a:ln/>
        </p:spPr>
        <p:txBody>
          <a:bodyPr wrap="square" lIns="0" tIns="0" rIns="0" bIns="0" rtlCol="0" anchor="t" vert="horz"/>
          <a:lstStyle/>
          <a:p>
            <a:pPr algn="ctr" indent="0" marL="0">
              <a:lnSpc>
                <a:spcPts val="2100"/>
              </a:lnSpc>
              <a:buNone/>
            </a:pPr>
            <a:r>
              <a:rPr lang="en-US" sz="1350" b="1" dirty="0">
                <a:solidFill>
                  <a:srgbClr val="FFFFFF"/>
                </a:solidFill>
                <a:latin typeface="ui-sans-serif" pitchFamily="34" charset="0"/>
                <a:ea typeface="ui-sans-serif" pitchFamily="34" charset="-122"/>
                <a:cs typeface="ui-sans-serif" pitchFamily="34" charset="-120"/>
              </a:rPr>
              <a:t>導航與控制</a:t>
            </a:r>
            <a:endParaRPr lang="en-US" sz="1350" dirty="0"/>
          </a:p>
        </p:txBody>
      </p:sp>
      <p:sp>
        <p:nvSpPr>
          <p:cNvPr id="45" name="Text 8"/>
          <p:cNvSpPr/>
          <p:nvPr/>
        </p:nvSpPr>
        <p:spPr>
          <a:xfrm>
            <a:off x="1034951" y="5133975"/>
            <a:ext cx="22860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運動控制與感知模組</a:t>
            </a:r>
            <a:endParaRPr lang="en-US" sz="1050" dirty="0"/>
          </a:p>
        </p:txBody>
      </p:sp>
      <p:sp>
        <p:nvSpPr>
          <p:cNvPr id="46" name="Text 9"/>
          <p:cNvSpPr/>
          <p:nvPr/>
        </p:nvSpPr>
        <p:spPr>
          <a:xfrm>
            <a:off x="-381000" y="1847850"/>
            <a:ext cx="13716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仿真環境</a:t>
            </a:r>
            <a:endParaRPr lang="en-US" sz="1200" dirty="0"/>
          </a:p>
        </p:txBody>
      </p:sp>
      <p:sp>
        <p:nvSpPr>
          <p:cNvPr id="47" name="Text 10"/>
          <p:cNvSpPr/>
          <p:nvPr/>
        </p:nvSpPr>
        <p:spPr>
          <a:xfrm>
            <a:off x="1143000" y="1847850"/>
            <a:ext cx="1371600" cy="228600"/>
          </a:xfrm>
          <a:prstGeom prst="rect">
            <a:avLst/>
          </a:prstGeom>
          <a:noFill/>
          <a:ln/>
        </p:spPr>
        <p:txBody>
          <a:bodyPr wrap="square" lIns="0" tIns="0" rIns="0" bIns="0" rtlCol="0" anchor="t" vert="horz"/>
          <a:lstStyle/>
          <a:p>
            <a:pPr algn="ct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技術棧</a:t>
            </a:r>
            <a:endParaRPr lang="en-US" sz="1200" dirty="0"/>
          </a:p>
        </p:txBody>
      </p:sp>
      <p:sp>
        <p:nvSpPr>
          <p:cNvPr id="48" name="Text 11"/>
          <p:cNvSpPr/>
          <p:nvPr/>
        </p:nvSpPr>
        <p:spPr>
          <a:xfrm>
            <a:off x="8407301" y="1104900"/>
            <a:ext cx="3327350"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系統模組與技術棧</a:t>
            </a:r>
            <a:endParaRPr lang="en-US" sz="1500" dirty="0"/>
          </a:p>
        </p:txBody>
      </p:sp>
      <p:sp>
        <p:nvSpPr>
          <p:cNvPr id="49" name="Text 12"/>
          <p:cNvSpPr/>
          <p:nvPr/>
        </p:nvSpPr>
        <p:spPr>
          <a:xfrm>
            <a:off x="8407301" y="1485900"/>
            <a:ext cx="3327350" cy="266700"/>
          </a:xfrm>
          <a:prstGeom prst="rect">
            <a:avLst/>
          </a:prstGeom>
          <a:noFill/>
          <a:ln/>
        </p:spPr>
        <p:txBody>
          <a:bodyPr wrap="square" lIns="0" tIns="0" rIns="0" bIns="0" rtlCol="0" anchor="t" vert="horz"/>
          <a:lstStyle/>
          <a:p>
            <a:pPr indent="0" marL="0">
              <a:lnSpc>
                <a:spcPts val="2100"/>
              </a:lnSpc>
              <a:buNone/>
            </a:pPr>
            <a:r>
              <a:rPr lang="en-US" sz="1350" b="1" dirty="0">
                <a:solidFill>
                  <a:srgbClr val="93C5FD"/>
                </a:solidFill>
                <a:latin typeface="ui-sans-serif" pitchFamily="34" charset="0"/>
                <a:ea typeface="ui-sans-serif" pitchFamily="34" charset="-122"/>
                <a:cs typeface="ui-sans-serif" pitchFamily="34" charset="-120"/>
              </a:rPr>
              <a:t>核心模組</a:t>
            </a:r>
            <a:endParaRPr lang="en-US" sz="1350" dirty="0"/>
          </a:p>
        </p:txBody>
      </p:sp>
      <p:sp>
        <p:nvSpPr>
          <p:cNvPr id="50" name="Text 13"/>
          <p:cNvSpPr/>
          <p:nvPr/>
        </p:nvSpPr>
        <p:spPr>
          <a:xfrm>
            <a:off x="8712101" y="1790700"/>
            <a:ext cx="1803261"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協調協議 (MQTT 5.0)</a:t>
            </a:r>
            <a:endParaRPr lang="en-US" sz="1200" dirty="0"/>
          </a:p>
        </p:txBody>
      </p:sp>
      <p:sp>
        <p:nvSpPr>
          <p:cNvPr id="51" name="Text 14"/>
          <p:cNvSpPr/>
          <p:nvPr/>
        </p:nvSpPr>
        <p:spPr>
          <a:xfrm>
            <a:off x="8616851" y="2057400"/>
            <a:ext cx="9144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交通管理器</a:t>
            </a:r>
            <a:endParaRPr lang="en-US" sz="1200" dirty="0"/>
          </a:p>
        </p:txBody>
      </p:sp>
      <p:sp>
        <p:nvSpPr>
          <p:cNvPr id="52" name="Text 15"/>
          <p:cNvSpPr/>
          <p:nvPr/>
        </p:nvSpPr>
        <p:spPr>
          <a:xfrm>
            <a:off x="8674001" y="23241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衝突解決引擎</a:t>
            </a:r>
            <a:endParaRPr lang="en-US" sz="1200" dirty="0"/>
          </a:p>
        </p:txBody>
      </p:sp>
      <p:sp>
        <p:nvSpPr>
          <p:cNvPr id="53" name="Text 16"/>
          <p:cNvSpPr/>
          <p:nvPr/>
        </p:nvSpPr>
        <p:spPr>
          <a:xfrm>
            <a:off x="8674001" y="2590800"/>
            <a:ext cx="128016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死鎖檢測與解決</a:t>
            </a:r>
            <a:endParaRPr lang="en-US" sz="1200" dirty="0"/>
          </a:p>
        </p:txBody>
      </p:sp>
      <p:sp>
        <p:nvSpPr>
          <p:cNvPr id="54" name="Text 17"/>
          <p:cNvSpPr/>
          <p:nvPr/>
        </p:nvSpPr>
        <p:spPr>
          <a:xfrm>
            <a:off x="8407301" y="2971800"/>
            <a:ext cx="3327350" cy="266700"/>
          </a:xfrm>
          <a:prstGeom prst="rect">
            <a:avLst/>
          </a:prstGeom>
          <a:noFill/>
          <a:ln/>
        </p:spPr>
        <p:txBody>
          <a:bodyPr wrap="square" lIns="0" tIns="0" rIns="0" bIns="0" rtlCol="0" anchor="t" vert="horz"/>
          <a:lstStyle/>
          <a:p>
            <a:pPr indent="0" marL="0">
              <a:lnSpc>
                <a:spcPts val="2100"/>
              </a:lnSpc>
              <a:buNone/>
            </a:pPr>
            <a:r>
              <a:rPr lang="en-US" sz="1350" b="1" dirty="0">
                <a:solidFill>
                  <a:srgbClr val="86EFAC"/>
                </a:solidFill>
                <a:latin typeface="ui-sans-serif" pitchFamily="34" charset="0"/>
                <a:ea typeface="ui-sans-serif" pitchFamily="34" charset="-122"/>
                <a:cs typeface="ui-sans-serif" pitchFamily="34" charset="-120"/>
              </a:rPr>
              <a:t>品牌適配器</a:t>
            </a:r>
            <a:endParaRPr lang="en-US" sz="1350" dirty="0"/>
          </a:p>
        </p:txBody>
      </p:sp>
      <p:sp>
        <p:nvSpPr>
          <p:cNvPr id="55" name="Text 18"/>
          <p:cNvSpPr/>
          <p:nvPr/>
        </p:nvSpPr>
        <p:spPr>
          <a:xfrm>
            <a:off x="8635901" y="3276600"/>
            <a:ext cx="9144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普渡機器人</a:t>
            </a:r>
            <a:endParaRPr lang="en-US" sz="1200" dirty="0"/>
          </a:p>
        </p:txBody>
      </p:sp>
      <p:sp>
        <p:nvSpPr>
          <p:cNvPr id="56" name="Text 19"/>
          <p:cNvSpPr/>
          <p:nvPr/>
        </p:nvSpPr>
        <p:spPr>
          <a:xfrm>
            <a:off x="8635901" y="3543300"/>
            <a:ext cx="9144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擎朗機器人</a:t>
            </a:r>
            <a:endParaRPr lang="en-US" sz="1200" dirty="0"/>
          </a:p>
        </p:txBody>
      </p:sp>
      <p:sp>
        <p:nvSpPr>
          <p:cNvPr id="57" name="Text 20"/>
          <p:cNvSpPr/>
          <p:nvPr/>
        </p:nvSpPr>
        <p:spPr>
          <a:xfrm>
            <a:off x="8635901" y="3810000"/>
            <a:ext cx="9144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E5E7EB"/>
                </a:solidFill>
                <a:latin typeface="ui-sans-serif" pitchFamily="34" charset="0"/>
                <a:ea typeface="ui-sans-serif" pitchFamily="34" charset="-122"/>
                <a:cs typeface="ui-sans-serif" pitchFamily="34" charset="-120"/>
              </a:rPr>
              <a:t>通用適配器</a:t>
            </a:r>
            <a:endParaRPr lang="en-US" sz="1200" dirty="0"/>
          </a:p>
        </p:txBody>
      </p:sp>
      <p:sp>
        <p:nvSpPr>
          <p:cNvPr id="58" name="Text 21"/>
          <p:cNvSpPr/>
          <p:nvPr/>
        </p:nvSpPr>
        <p:spPr>
          <a:xfrm>
            <a:off x="8407301" y="4191000"/>
            <a:ext cx="3327350" cy="266700"/>
          </a:xfrm>
          <a:prstGeom prst="rect">
            <a:avLst/>
          </a:prstGeom>
          <a:noFill/>
          <a:ln/>
        </p:spPr>
        <p:txBody>
          <a:bodyPr wrap="square" lIns="0" tIns="0" rIns="0" bIns="0" rtlCol="0" anchor="t" vert="horz"/>
          <a:lstStyle/>
          <a:p>
            <a:pPr indent="0" marL="0">
              <a:lnSpc>
                <a:spcPts val="2100"/>
              </a:lnSpc>
              <a:buNone/>
            </a:pPr>
            <a:r>
              <a:rPr lang="en-US" sz="1350" b="1" dirty="0">
                <a:solidFill>
                  <a:srgbClr val="D8B4FE"/>
                </a:solidFill>
                <a:latin typeface="ui-sans-serif" pitchFamily="34" charset="0"/>
                <a:ea typeface="ui-sans-serif" pitchFamily="34" charset="-122"/>
                <a:cs typeface="ui-sans-serif" pitchFamily="34" charset="-120"/>
              </a:rPr>
              <a:t>技術棧</a:t>
            </a:r>
            <a:endParaRPr lang="en-US" sz="1350" dirty="0"/>
          </a:p>
        </p:txBody>
      </p:sp>
      <p:sp>
        <p:nvSpPr>
          <p:cNvPr id="59" name="Text 22"/>
          <p:cNvSpPr/>
          <p:nvPr/>
        </p:nvSpPr>
        <p:spPr>
          <a:xfrm>
            <a:off x="8559701" y="4495800"/>
            <a:ext cx="1484471" cy="266700"/>
          </a:xfrm>
          <a:prstGeom prst="rect">
            <a:avLst/>
          </a:prstGeom>
          <a:noFill/>
          <a:ln/>
        </p:spPr>
        <p:txBody>
          <a:bodyPr wrap="square" lIns="0" tIns="0" rIns="0" bIns="0" rtlCol="0" anchor="t" vert="horz"/>
          <a:lstStyle/>
          <a:p>
            <a:pPr indent="0" marL="0">
              <a:lnSpc>
                <a:spcPts val="1500"/>
              </a:lnSpc>
              <a:buNone/>
            </a:pPr>
            <a:r>
              <a:rPr lang="en-US" sz="1050" dirty="0">
                <a:solidFill>
                  <a:srgbClr val="FFFFFF"/>
                </a:solidFill>
                <a:latin typeface="ui-sans-serif" pitchFamily="34" charset="0"/>
                <a:ea typeface="ui-sans-serif" pitchFamily="34" charset="-122"/>
                <a:cs typeface="ui-sans-serif" pitchFamily="34" charset="-120"/>
              </a:rPr>
              <a:t> ROS2 Humble</a:t>
            </a:r>
            <a:endParaRPr lang="en-US" sz="1050" dirty="0"/>
          </a:p>
        </p:txBody>
      </p:sp>
      <p:sp>
        <p:nvSpPr>
          <p:cNvPr id="60" name="Text 23"/>
          <p:cNvSpPr/>
          <p:nvPr/>
        </p:nvSpPr>
        <p:spPr>
          <a:xfrm>
            <a:off x="10025360" y="4495800"/>
            <a:ext cx="1548051" cy="266700"/>
          </a:xfrm>
          <a:prstGeom prst="rect">
            <a:avLst/>
          </a:prstGeom>
          <a:noFill/>
          <a:ln/>
        </p:spPr>
        <p:txBody>
          <a:bodyPr wrap="square" lIns="0" tIns="0" rIns="0" bIns="0" rtlCol="0" anchor="t" vert="horz"/>
          <a:lstStyle/>
          <a:p>
            <a:pPr indent="0" marL="0">
              <a:lnSpc>
                <a:spcPts val="1500"/>
              </a:lnSpc>
              <a:buNone/>
            </a:pPr>
            <a:r>
              <a:rPr lang="en-US" sz="1050" dirty="0">
                <a:solidFill>
                  <a:srgbClr val="667EEA"/>
                </a:solidFill>
                <a:latin typeface="ui-sans-serif" pitchFamily="34" charset="0"/>
                <a:ea typeface="ui-sans-serif" pitchFamily="34" charset="-122"/>
                <a:cs typeface="ui-sans-serif" pitchFamily="34" charset="-120"/>
              </a:rPr>
              <a:t> Python 3.8+</a:t>
            </a:r>
            <a:endParaRPr lang="en-US" sz="1050" dirty="0"/>
          </a:p>
        </p:txBody>
      </p:sp>
      <p:sp>
        <p:nvSpPr>
          <p:cNvPr id="61" name="Text 24"/>
          <p:cNvSpPr/>
          <p:nvPr/>
        </p:nvSpPr>
        <p:spPr>
          <a:xfrm>
            <a:off x="8712101" y="4838700"/>
            <a:ext cx="1646813" cy="266700"/>
          </a:xfrm>
          <a:prstGeom prst="rect">
            <a:avLst/>
          </a:prstGeom>
          <a:noFill/>
          <a:ln/>
        </p:spPr>
        <p:txBody>
          <a:bodyPr wrap="square" lIns="0" tIns="0" rIns="0" bIns="0" rtlCol="0" anchor="t" vert="horz"/>
          <a:lstStyle/>
          <a:p>
            <a:pPr indent="0" marL="0">
              <a:lnSpc>
                <a:spcPts val="1500"/>
              </a:lnSpc>
              <a:buNone/>
            </a:pPr>
            <a:r>
              <a:rPr lang="en-US" sz="1050" dirty="0">
                <a:solidFill>
                  <a:srgbClr val="667EEA"/>
                </a:solidFill>
                <a:latin typeface="ui-sans-serif" pitchFamily="34" charset="0"/>
                <a:ea typeface="ui-sans-serif" pitchFamily="34" charset="-122"/>
                <a:cs typeface="ui-sans-serif" pitchFamily="34" charset="-120"/>
              </a:rPr>
              <a:t> SLAM Toolbox</a:t>
            </a:r>
            <a:endParaRPr lang="en-US" sz="1050" dirty="0"/>
          </a:p>
        </p:txBody>
      </p:sp>
      <p:sp>
        <p:nvSpPr>
          <p:cNvPr id="62" name="Text 25"/>
          <p:cNvSpPr/>
          <p:nvPr/>
        </p:nvSpPr>
        <p:spPr>
          <a:xfrm>
            <a:off x="10141595" y="4838700"/>
            <a:ext cx="1495901" cy="266700"/>
          </a:xfrm>
          <a:prstGeom prst="rect">
            <a:avLst/>
          </a:prstGeom>
          <a:noFill/>
          <a:ln/>
        </p:spPr>
        <p:txBody>
          <a:bodyPr wrap="square" lIns="0" tIns="0" rIns="0" bIns="0" rtlCol="0" anchor="t" vert="horz"/>
          <a:lstStyle/>
          <a:p>
            <a:pPr indent="0" marL="0">
              <a:lnSpc>
                <a:spcPts val="1500"/>
              </a:lnSpc>
              <a:buNone/>
            </a:pPr>
            <a:r>
              <a:rPr lang="en-US" sz="1050" dirty="0">
                <a:solidFill>
                  <a:srgbClr val="667EEA"/>
                </a:solidFill>
                <a:latin typeface="ui-sans-serif" pitchFamily="34" charset="0"/>
                <a:ea typeface="ui-sans-serif" pitchFamily="34" charset="-122"/>
                <a:cs typeface="ui-sans-serif" pitchFamily="34" charset="-120"/>
              </a:rPr>
              <a:t> Navigation2</a:t>
            </a:r>
            <a:endParaRPr lang="en-US" sz="1050" dirty="0"/>
          </a:p>
        </p:txBody>
      </p:sp>
      <p:sp>
        <p:nvSpPr>
          <p:cNvPr id="63" name="Text 26"/>
          <p:cNvSpPr/>
          <p:nvPr/>
        </p:nvSpPr>
        <p:spPr>
          <a:xfrm>
            <a:off x="304800" y="63246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64" name="Text 27"/>
          <p:cNvSpPr/>
          <p:nvPr/>
        </p:nvSpPr>
        <p:spPr>
          <a:xfrm>
            <a:off x="11351121" y="63246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028700"/>
            <a:ext cx="5619750" cy="2762250"/>
          </a:xfrm>
          <a:prstGeom prst="rect">
            <a:avLst/>
          </a:prstGeom>
        </p:spPr>
      </p:pic>
      <p:pic>
        <p:nvPicPr>
          <p:cNvPr id="5" name="Image 3" descr="preencoded.png">    </p:cNvPr>
          <p:cNvPicPr>
            <a:picLocks noChangeAspect="1"/>
          </p:cNvPicPr>
          <p:nvPr/>
        </p:nvPicPr>
        <p:blipFill>
          <a:blip r:embed="rId4"/>
          <a:stretch>
            <a:fillRect/>
          </a:stretch>
        </p:blipFill>
        <p:spPr>
          <a:xfrm>
            <a:off x="533400" y="1181100"/>
            <a:ext cx="476250" cy="476250"/>
          </a:xfrm>
          <a:prstGeom prst="rect">
            <a:avLst/>
          </a:prstGeom>
        </p:spPr>
      </p:pic>
      <p:pic>
        <p:nvPicPr>
          <p:cNvPr id="6" name="Image 4" descr="preencoded.png">    </p:cNvPr>
          <p:cNvPicPr>
            <a:picLocks noChangeAspect="1"/>
          </p:cNvPicPr>
          <p:nvPr/>
        </p:nvPicPr>
        <p:blipFill>
          <a:blip r:embed="rId5"/>
          <a:stretch>
            <a:fillRect/>
          </a:stretch>
        </p:blipFill>
        <p:spPr>
          <a:xfrm>
            <a:off x="676275" y="1285875"/>
            <a:ext cx="190500" cy="266700"/>
          </a:xfrm>
          <a:prstGeom prst="rect">
            <a:avLst/>
          </a:prstGeom>
        </p:spPr>
      </p:pic>
      <p:pic>
        <p:nvPicPr>
          <p:cNvPr id="7" name="Image 5" descr="preencoded.png">    </p:cNvPr>
          <p:cNvPicPr>
            <a:picLocks noChangeAspect="1"/>
          </p:cNvPicPr>
          <p:nvPr/>
        </p:nvPicPr>
        <p:blipFill>
          <a:blip r:embed="rId6"/>
          <a:stretch>
            <a:fillRect/>
          </a:stretch>
        </p:blipFill>
        <p:spPr>
          <a:xfrm>
            <a:off x="533400" y="1866900"/>
            <a:ext cx="1720751" cy="685800"/>
          </a:xfrm>
          <a:prstGeom prst="rect">
            <a:avLst/>
          </a:prstGeom>
        </p:spPr>
      </p:pic>
      <p:pic>
        <p:nvPicPr>
          <p:cNvPr id="8" name="Image 6" descr="preencoded.png">    </p:cNvPr>
          <p:cNvPicPr>
            <a:picLocks noChangeAspect="1"/>
          </p:cNvPicPr>
          <p:nvPr/>
        </p:nvPicPr>
        <p:blipFill>
          <a:blip r:embed="rId7"/>
          <a:stretch>
            <a:fillRect/>
          </a:stretch>
        </p:blipFill>
        <p:spPr>
          <a:xfrm>
            <a:off x="2330351" y="1866900"/>
            <a:ext cx="1720900" cy="685800"/>
          </a:xfrm>
          <a:prstGeom prst="rect">
            <a:avLst/>
          </a:prstGeom>
        </p:spPr>
      </p:pic>
      <p:pic>
        <p:nvPicPr>
          <p:cNvPr id="9" name="Image 7" descr="preencoded.png">    </p:cNvPr>
          <p:cNvPicPr>
            <a:picLocks noChangeAspect="1"/>
          </p:cNvPicPr>
          <p:nvPr/>
        </p:nvPicPr>
        <p:blipFill>
          <a:blip r:embed="rId8"/>
          <a:stretch>
            <a:fillRect/>
          </a:stretch>
        </p:blipFill>
        <p:spPr>
          <a:xfrm>
            <a:off x="4127450" y="1866900"/>
            <a:ext cx="1720900" cy="685800"/>
          </a:xfrm>
          <a:prstGeom prst="rect">
            <a:avLst/>
          </a:prstGeom>
        </p:spPr>
      </p:pic>
      <p:pic>
        <p:nvPicPr>
          <p:cNvPr id="10" name="Image 8" descr="preencoded.png">    </p:cNvPr>
          <p:cNvPicPr>
            <a:picLocks noChangeAspect="1"/>
          </p:cNvPicPr>
          <p:nvPr/>
        </p:nvPicPr>
        <p:blipFill>
          <a:blip r:embed="rId9"/>
          <a:stretch>
            <a:fillRect/>
          </a:stretch>
        </p:blipFill>
        <p:spPr>
          <a:xfrm>
            <a:off x="533400" y="2667000"/>
            <a:ext cx="152400" cy="152400"/>
          </a:xfrm>
          <a:prstGeom prst="rect">
            <a:avLst/>
          </a:prstGeom>
        </p:spPr>
      </p:pic>
      <p:pic>
        <p:nvPicPr>
          <p:cNvPr id="11" name="Image 9" descr="preencoded.png">    </p:cNvPr>
          <p:cNvPicPr>
            <a:picLocks noChangeAspect="1"/>
          </p:cNvPicPr>
          <p:nvPr/>
        </p:nvPicPr>
        <p:blipFill>
          <a:blip r:embed="rId10"/>
          <a:stretch>
            <a:fillRect/>
          </a:stretch>
        </p:blipFill>
        <p:spPr>
          <a:xfrm>
            <a:off x="533400" y="2933700"/>
            <a:ext cx="152400" cy="152400"/>
          </a:xfrm>
          <a:prstGeom prst="rect">
            <a:avLst/>
          </a:prstGeom>
        </p:spPr>
      </p:pic>
      <p:pic>
        <p:nvPicPr>
          <p:cNvPr id="12" name="Image 10" descr="preencoded.png">    </p:cNvPr>
          <p:cNvPicPr>
            <a:picLocks noChangeAspect="1"/>
          </p:cNvPicPr>
          <p:nvPr/>
        </p:nvPicPr>
        <p:blipFill>
          <a:blip r:embed="rId11"/>
          <a:stretch>
            <a:fillRect/>
          </a:stretch>
        </p:blipFill>
        <p:spPr>
          <a:xfrm>
            <a:off x="6191250" y="1028700"/>
            <a:ext cx="5619750" cy="2762250"/>
          </a:xfrm>
          <a:prstGeom prst="rect">
            <a:avLst/>
          </a:prstGeom>
        </p:spPr>
      </p:pic>
      <p:pic>
        <p:nvPicPr>
          <p:cNvPr id="13" name="Image 11" descr="preencoded.png">    </p:cNvPr>
          <p:cNvPicPr>
            <a:picLocks noChangeAspect="1"/>
          </p:cNvPicPr>
          <p:nvPr/>
        </p:nvPicPr>
        <p:blipFill>
          <a:blip r:embed="rId12"/>
          <a:stretch>
            <a:fillRect/>
          </a:stretch>
        </p:blipFill>
        <p:spPr>
          <a:xfrm>
            <a:off x="6343650" y="1181100"/>
            <a:ext cx="476250" cy="476250"/>
          </a:xfrm>
          <a:prstGeom prst="rect">
            <a:avLst/>
          </a:prstGeom>
        </p:spPr>
      </p:pic>
      <p:pic>
        <p:nvPicPr>
          <p:cNvPr id="14" name="Image 12" descr="preencoded.png">    </p:cNvPr>
          <p:cNvPicPr>
            <a:picLocks noChangeAspect="1"/>
          </p:cNvPicPr>
          <p:nvPr/>
        </p:nvPicPr>
        <p:blipFill>
          <a:blip r:embed="rId13"/>
          <a:stretch>
            <a:fillRect/>
          </a:stretch>
        </p:blipFill>
        <p:spPr>
          <a:xfrm>
            <a:off x="6486525" y="1285875"/>
            <a:ext cx="190500" cy="266700"/>
          </a:xfrm>
          <a:prstGeom prst="rect">
            <a:avLst/>
          </a:prstGeom>
        </p:spPr>
      </p:pic>
      <p:pic>
        <p:nvPicPr>
          <p:cNvPr id="15" name="Image 13" descr="preencoded.png">    </p:cNvPr>
          <p:cNvPicPr>
            <a:picLocks noChangeAspect="1"/>
          </p:cNvPicPr>
          <p:nvPr/>
        </p:nvPicPr>
        <p:blipFill>
          <a:blip r:embed="rId14"/>
          <a:stretch>
            <a:fillRect/>
          </a:stretch>
        </p:blipFill>
        <p:spPr>
          <a:xfrm>
            <a:off x="6343650" y="1866900"/>
            <a:ext cx="5314950" cy="914400"/>
          </a:xfrm>
          <a:prstGeom prst="rect">
            <a:avLst/>
          </a:prstGeom>
        </p:spPr>
      </p:pic>
      <p:pic>
        <p:nvPicPr>
          <p:cNvPr id="16" name="Image 14" descr="preencoded.png">    </p:cNvPr>
          <p:cNvPicPr>
            <a:picLocks noChangeAspect="1"/>
          </p:cNvPicPr>
          <p:nvPr/>
        </p:nvPicPr>
        <p:blipFill>
          <a:blip r:embed="rId15"/>
          <a:stretch>
            <a:fillRect/>
          </a:stretch>
        </p:blipFill>
        <p:spPr>
          <a:xfrm>
            <a:off x="6343650" y="2895600"/>
            <a:ext cx="152400" cy="152400"/>
          </a:xfrm>
          <a:prstGeom prst="rect">
            <a:avLst/>
          </a:prstGeom>
        </p:spPr>
      </p:pic>
      <p:pic>
        <p:nvPicPr>
          <p:cNvPr id="17" name="Image 15" descr="preencoded.png">    </p:cNvPr>
          <p:cNvPicPr>
            <a:picLocks noChangeAspect="1"/>
          </p:cNvPicPr>
          <p:nvPr/>
        </p:nvPicPr>
        <p:blipFill>
          <a:blip r:embed="rId16"/>
          <a:stretch>
            <a:fillRect/>
          </a:stretch>
        </p:blipFill>
        <p:spPr>
          <a:xfrm>
            <a:off x="6343650" y="3162300"/>
            <a:ext cx="152400" cy="152400"/>
          </a:xfrm>
          <a:prstGeom prst="rect">
            <a:avLst/>
          </a:prstGeom>
        </p:spPr>
      </p:pic>
      <p:pic>
        <p:nvPicPr>
          <p:cNvPr id="18" name="Image 16" descr="preencoded.png">    </p:cNvPr>
          <p:cNvPicPr>
            <a:picLocks noChangeAspect="1"/>
          </p:cNvPicPr>
          <p:nvPr/>
        </p:nvPicPr>
        <p:blipFill>
          <a:blip r:embed="rId17"/>
          <a:stretch>
            <a:fillRect/>
          </a:stretch>
        </p:blipFill>
        <p:spPr>
          <a:xfrm>
            <a:off x="381000" y="3981450"/>
            <a:ext cx="5619750" cy="2114550"/>
          </a:xfrm>
          <a:prstGeom prst="rect">
            <a:avLst/>
          </a:prstGeom>
        </p:spPr>
      </p:pic>
      <p:pic>
        <p:nvPicPr>
          <p:cNvPr id="19" name="Image 17" descr="preencoded.png">    </p:cNvPr>
          <p:cNvPicPr>
            <a:picLocks noChangeAspect="1"/>
          </p:cNvPicPr>
          <p:nvPr/>
        </p:nvPicPr>
        <p:blipFill>
          <a:blip r:embed="rId18"/>
          <a:stretch>
            <a:fillRect/>
          </a:stretch>
        </p:blipFill>
        <p:spPr>
          <a:xfrm>
            <a:off x="533400" y="4133850"/>
            <a:ext cx="476250" cy="476250"/>
          </a:xfrm>
          <a:prstGeom prst="rect">
            <a:avLst/>
          </a:prstGeom>
        </p:spPr>
      </p:pic>
      <p:pic>
        <p:nvPicPr>
          <p:cNvPr id="20" name="Image 18" descr="preencoded.png">    </p:cNvPr>
          <p:cNvPicPr>
            <a:picLocks noChangeAspect="1"/>
          </p:cNvPicPr>
          <p:nvPr/>
        </p:nvPicPr>
        <p:blipFill>
          <a:blip r:embed="rId19"/>
          <a:stretch>
            <a:fillRect/>
          </a:stretch>
        </p:blipFill>
        <p:spPr>
          <a:xfrm>
            <a:off x="700088" y="4238625"/>
            <a:ext cx="142875" cy="266700"/>
          </a:xfrm>
          <a:prstGeom prst="rect">
            <a:avLst/>
          </a:prstGeom>
        </p:spPr>
      </p:pic>
      <p:pic>
        <p:nvPicPr>
          <p:cNvPr id="21" name="Image 19" descr="preencoded.png">    </p:cNvPr>
          <p:cNvPicPr>
            <a:picLocks noChangeAspect="1"/>
          </p:cNvPicPr>
          <p:nvPr/>
        </p:nvPicPr>
        <p:blipFill>
          <a:blip r:embed="rId20"/>
          <a:stretch>
            <a:fillRect/>
          </a:stretch>
        </p:blipFill>
        <p:spPr>
          <a:xfrm>
            <a:off x="533400" y="4819650"/>
            <a:ext cx="1720751" cy="723900"/>
          </a:xfrm>
          <a:prstGeom prst="rect">
            <a:avLst/>
          </a:prstGeom>
        </p:spPr>
      </p:pic>
      <p:pic>
        <p:nvPicPr>
          <p:cNvPr id="22" name="Image 20" descr="preencoded.png">    </p:cNvPr>
          <p:cNvPicPr>
            <a:picLocks noChangeAspect="1"/>
          </p:cNvPicPr>
          <p:nvPr/>
        </p:nvPicPr>
        <p:blipFill>
          <a:blip r:embed="rId21"/>
          <a:stretch>
            <a:fillRect/>
          </a:stretch>
        </p:blipFill>
        <p:spPr>
          <a:xfrm>
            <a:off x="1293763" y="4895850"/>
            <a:ext cx="200025" cy="304800"/>
          </a:xfrm>
          <a:prstGeom prst="rect">
            <a:avLst/>
          </a:prstGeom>
        </p:spPr>
      </p:pic>
      <p:pic>
        <p:nvPicPr>
          <p:cNvPr id="23" name="Image 21" descr="preencoded.png">    </p:cNvPr>
          <p:cNvPicPr>
            <a:picLocks noChangeAspect="1"/>
          </p:cNvPicPr>
          <p:nvPr/>
        </p:nvPicPr>
        <p:blipFill>
          <a:blip r:embed="rId22"/>
          <a:stretch>
            <a:fillRect/>
          </a:stretch>
        </p:blipFill>
        <p:spPr>
          <a:xfrm>
            <a:off x="2330351" y="4819650"/>
            <a:ext cx="1720900" cy="723900"/>
          </a:xfrm>
          <a:prstGeom prst="rect">
            <a:avLst/>
          </a:prstGeom>
        </p:spPr>
      </p:pic>
      <p:pic>
        <p:nvPicPr>
          <p:cNvPr id="24" name="Image 22" descr="preencoded.png">    </p:cNvPr>
          <p:cNvPicPr>
            <a:picLocks noChangeAspect="1"/>
          </p:cNvPicPr>
          <p:nvPr/>
        </p:nvPicPr>
        <p:blipFill>
          <a:blip r:embed="rId23"/>
          <a:stretch>
            <a:fillRect/>
          </a:stretch>
        </p:blipFill>
        <p:spPr>
          <a:xfrm>
            <a:off x="3047851" y="4895850"/>
            <a:ext cx="285750" cy="304800"/>
          </a:xfrm>
          <a:prstGeom prst="rect">
            <a:avLst/>
          </a:prstGeom>
        </p:spPr>
      </p:pic>
      <p:pic>
        <p:nvPicPr>
          <p:cNvPr id="25" name="Image 23" descr="preencoded.png">    </p:cNvPr>
          <p:cNvPicPr>
            <a:picLocks noChangeAspect="1"/>
          </p:cNvPicPr>
          <p:nvPr/>
        </p:nvPicPr>
        <p:blipFill>
          <a:blip r:embed="rId24"/>
          <a:stretch>
            <a:fillRect/>
          </a:stretch>
        </p:blipFill>
        <p:spPr>
          <a:xfrm>
            <a:off x="4127450" y="4819650"/>
            <a:ext cx="1720900" cy="723900"/>
          </a:xfrm>
          <a:prstGeom prst="rect">
            <a:avLst/>
          </a:prstGeom>
        </p:spPr>
      </p:pic>
      <p:pic>
        <p:nvPicPr>
          <p:cNvPr id="26" name="Image 24" descr="preencoded.png">    </p:cNvPr>
          <p:cNvPicPr>
            <a:picLocks noChangeAspect="1"/>
          </p:cNvPicPr>
          <p:nvPr/>
        </p:nvPicPr>
        <p:blipFill>
          <a:blip r:embed="rId25"/>
          <a:stretch>
            <a:fillRect/>
          </a:stretch>
        </p:blipFill>
        <p:spPr>
          <a:xfrm>
            <a:off x="4844951" y="4895850"/>
            <a:ext cx="285750" cy="304800"/>
          </a:xfrm>
          <a:prstGeom prst="rect">
            <a:avLst/>
          </a:prstGeom>
        </p:spPr>
      </p:pic>
      <p:pic>
        <p:nvPicPr>
          <p:cNvPr id="27" name="Image 25" descr="preencoded.png">    </p:cNvPr>
          <p:cNvPicPr>
            <a:picLocks noChangeAspect="1"/>
          </p:cNvPicPr>
          <p:nvPr/>
        </p:nvPicPr>
        <p:blipFill>
          <a:blip r:embed="rId26"/>
          <a:stretch>
            <a:fillRect/>
          </a:stretch>
        </p:blipFill>
        <p:spPr>
          <a:xfrm>
            <a:off x="6191250" y="3981450"/>
            <a:ext cx="5619750" cy="2114550"/>
          </a:xfrm>
          <a:prstGeom prst="rect">
            <a:avLst/>
          </a:prstGeom>
        </p:spPr>
      </p:pic>
      <p:pic>
        <p:nvPicPr>
          <p:cNvPr id="28" name="Image 26" descr="preencoded.png">    </p:cNvPr>
          <p:cNvPicPr>
            <a:picLocks noChangeAspect="1"/>
          </p:cNvPicPr>
          <p:nvPr/>
        </p:nvPicPr>
        <p:blipFill>
          <a:blip r:embed="rId27"/>
          <a:stretch>
            <a:fillRect/>
          </a:stretch>
        </p:blipFill>
        <p:spPr>
          <a:xfrm>
            <a:off x="6343650" y="4133850"/>
            <a:ext cx="476250" cy="476250"/>
          </a:xfrm>
          <a:prstGeom prst="rect">
            <a:avLst/>
          </a:prstGeom>
        </p:spPr>
      </p:pic>
      <p:pic>
        <p:nvPicPr>
          <p:cNvPr id="29" name="Image 27" descr="preencoded.png">    </p:cNvPr>
          <p:cNvPicPr>
            <a:picLocks noChangeAspect="1"/>
          </p:cNvPicPr>
          <p:nvPr/>
        </p:nvPicPr>
        <p:blipFill>
          <a:blip r:embed="rId28"/>
          <a:stretch>
            <a:fillRect/>
          </a:stretch>
        </p:blipFill>
        <p:spPr>
          <a:xfrm>
            <a:off x="6486525" y="4238625"/>
            <a:ext cx="190500" cy="266700"/>
          </a:xfrm>
          <a:prstGeom prst="rect">
            <a:avLst/>
          </a:prstGeom>
        </p:spPr>
      </p:pic>
      <p:pic>
        <p:nvPicPr>
          <p:cNvPr id="30" name="Image 28" descr="preencoded.png">    </p:cNvPr>
          <p:cNvPicPr>
            <a:picLocks noChangeAspect="1"/>
          </p:cNvPicPr>
          <p:nvPr/>
        </p:nvPicPr>
        <p:blipFill>
          <a:blip r:embed="rId29"/>
          <a:stretch>
            <a:fillRect/>
          </a:stretch>
        </p:blipFill>
        <p:spPr>
          <a:xfrm>
            <a:off x="6343650" y="4819650"/>
            <a:ext cx="1720751" cy="838200"/>
          </a:xfrm>
          <a:prstGeom prst="rect">
            <a:avLst/>
          </a:prstGeom>
        </p:spPr>
      </p:pic>
      <p:pic>
        <p:nvPicPr>
          <p:cNvPr id="31" name="Image 29" descr="preencoded.png">    </p:cNvPr>
          <p:cNvPicPr>
            <a:picLocks noChangeAspect="1"/>
          </p:cNvPicPr>
          <p:nvPr/>
        </p:nvPicPr>
        <p:blipFill>
          <a:blip r:embed="rId30"/>
          <a:stretch>
            <a:fillRect/>
          </a:stretch>
        </p:blipFill>
        <p:spPr>
          <a:xfrm>
            <a:off x="6632525" y="4895850"/>
            <a:ext cx="190500" cy="266700"/>
          </a:xfrm>
          <a:prstGeom prst="rect">
            <a:avLst/>
          </a:prstGeom>
        </p:spPr>
      </p:pic>
      <p:pic>
        <p:nvPicPr>
          <p:cNvPr id="32" name="Image 30" descr="preencoded.png">    </p:cNvPr>
          <p:cNvPicPr>
            <a:picLocks noChangeAspect="1"/>
          </p:cNvPicPr>
          <p:nvPr/>
        </p:nvPicPr>
        <p:blipFill>
          <a:blip r:embed="rId31"/>
          <a:stretch>
            <a:fillRect/>
          </a:stretch>
        </p:blipFill>
        <p:spPr>
          <a:xfrm>
            <a:off x="8140601" y="4819650"/>
            <a:ext cx="1720900" cy="838200"/>
          </a:xfrm>
          <a:prstGeom prst="rect">
            <a:avLst/>
          </a:prstGeom>
        </p:spPr>
      </p:pic>
      <p:pic>
        <p:nvPicPr>
          <p:cNvPr id="33" name="Image 31" descr="preencoded.png">    </p:cNvPr>
          <p:cNvPicPr>
            <a:picLocks noChangeAspect="1"/>
          </p:cNvPicPr>
          <p:nvPr/>
        </p:nvPicPr>
        <p:blipFill>
          <a:blip r:embed="rId32"/>
          <a:stretch>
            <a:fillRect/>
          </a:stretch>
        </p:blipFill>
        <p:spPr>
          <a:xfrm>
            <a:off x="8405664" y="4895850"/>
            <a:ext cx="238125" cy="266700"/>
          </a:xfrm>
          <a:prstGeom prst="rect">
            <a:avLst/>
          </a:prstGeom>
        </p:spPr>
      </p:pic>
      <p:pic>
        <p:nvPicPr>
          <p:cNvPr id="34" name="Image 32" descr="preencoded.png">    </p:cNvPr>
          <p:cNvPicPr>
            <a:picLocks noChangeAspect="1"/>
          </p:cNvPicPr>
          <p:nvPr/>
        </p:nvPicPr>
        <p:blipFill>
          <a:blip r:embed="rId33"/>
          <a:stretch>
            <a:fillRect/>
          </a:stretch>
        </p:blipFill>
        <p:spPr>
          <a:xfrm>
            <a:off x="9937700" y="4819650"/>
            <a:ext cx="1720900" cy="838200"/>
          </a:xfrm>
          <a:prstGeom prst="rect">
            <a:avLst/>
          </a:prstGeom>
        </p:spPr>
      </p:pic>
      <p:pic>
        <p:nvPicPr>
          <p:cNvPr id="35" name="Image 33" descr="preencoded.png">    </p:cNvPr>
          <p:cNvPicPr>
            <a:picLocks noChangeAspect="1"/>
          </p:cNvPicPr>
          <p:nvPr/>
        </p:nvPicPr>
        <p:blipFill>
          <a:blip r:embed="rId34"/>
          <a:stretch>
            <a:fillRect/>
          </a:stretch>
        </p:blipFill>
        <p:spPr>
          <a:xfrm>
            <a:off x="10226576" y="4895850"/>
            <a:ext cx="190500" cy="266700"/>
          </a:xfrm>
          <a:prstGeom prst="rect">
            <a:avLst/>
          </a:prstGeom>
        </p:spPr>
      </p:pic>
      <p:sp>
        <p:nvSpPr>
          <p:cNvPr id="36"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預期效益與影響</a:t>
            </a:r>
            <a:endParaRPr lang="en-US" sz="2700" dirty="0"/>
          </a:p>
        </p:txBody>
      </p:sp>
      <p:sp>
        <p:nvSpPr>
          <p:cNvPr id="37" name="Text 1"/>
          <p:cNvSpPr/>
          <p:nvPr/>
        </p:nvSpPr>
        <p:spPr>
          <a:xfrm>
            <a:off x="1123950" y="1314450"/>
            <a:ext cx="109728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效率提升</a:t>
            </a:r>
            <a:endParaRPr lang="en-US" sz="1800" dirty="0"/>
          </a:p>
        </p:txBody>
      </p:sp>
      <p:sp>
        <p:nvSpPr>
          <p:cNvPr id="38" name="Text 2"/>
          <p:cNvSpPr/>
          <p:nvPr/>
        </p:nvSpPr>
        <p:spPr>
          <a:xfrm>
            <a:off x="609600" y="1943100"/>
            <a:ext cx="1568351"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F87171"/>
                </a:solidFill>
                <a:latin typeface="ui-sans-serif" pitchFamily="34" charset="0"/>
                <a:ea typeface="ui-sans-serif" pitchFamily="34" charset="-122"/>
                <a:cs typeface="ui-sans-serif" pitchFamily="34" charset="-120"/>
              </a:rPr>
              <a:t>80%</a:t>
            </a:r>
            <a:endParaRPr lang="en-US" sz="2250" dirty="0"/>
          </a:p>
        </p:txBody>
      </p:sp>
      <p:sp>
        <p:nvSpPr>
          <p:cNvPr id="39" name="Text 3"/>
          <p:cNvSpPr/>
          <p:nvPr/>
        </p:nvSpPr>
        <p:spPr>
          <a:xfrm>
            <a:off x="452765" y="2286000"/>
            <a:ext cx="1882021"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走廊卡住事件減少</a:t>
            </a:r>
            <a:endParaRPr lang="en-US" sz="1050" dirty="0"/>
          </a:p>
        </p:txBody>
      </p:sp>
      <p:sp>
        <p:nvSpPr>
          <p:cNvPr id="40" name="Text 4"/>
          <p:cNvSpPr/>
          <p:nvPr/>
        </p:nvSpPr>
        <p:spPr>
          <a:xfrm>
            <a:off x="2406551" y="1943100"/>
            <a:ext cx="1568500"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4ADE80"/>
                </a:solidFill>
                <a:latin typeface="ui-sans-serif" pitchFamily="34" charset="0"/>
                <a:ea typeface="ui-sans-serif" pitchFamily="34" charset="-122"/>
                <a:cs typeface="ui-sans-serif" pitchFamily="34" charset="-120"/>
              </a:rPr>
              <a:t>60%</a:t>
            </a:r>
            <a:endParaRPr lang="en-US" sz="2250" dirty="0"/>
          </a:p>
        </p:txBody>
      </p:sp>
      <p:sp>
        <p:nvSpPr>
          <p:cNvPr id="41" name="Text 5"/>
          <p:cNvSpPr/>
          <p:nvPr/>
        </p:nvSpPr>
        <p:spPr>
          <a:xfrm>
            <a:off x="2249701" y="2286000"/>
            <a:ext cx="18822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人工介入需求降低</a:t>
            </a:r>
            <a:endParaRPr lang="en-US" sz="1050" dirty="0"/>
          </a:p>
        </p:txBody>
      </p:sp>
      <p:sp>
        <p:nvSpPr>
          <p:cNvPr id="42" name="Text 6"/>
          <p:cNvSpPr/>
          <p:nvPr/>
        </p:nvSpPr>
        <p:spPr>
          <a:xfrm>
            <a:off x="4203650" y="1943100"/>
            <a:ext cx="1568500" cy="342900"/>
          </a:xfrm>
          <a:prstGeom prst="rect">
            <a:avLst/>
          </a:prstGeom>
          <a:noFill/>
          <a:ln/>
        </p:spPr>
        <p:txBody>
          <a:bodyPr wrap="square" lIns="0" tIns="0" rIns="0" bIns="0" rtlCol="0" anchor="t" vert="horz"/>
          <a:lstStyle/>
          <a:p>
            <a:pPr algn="ctr" indent="0" marL="0">
              <a:lnSpc>
                <a:spcPts val="2700"/>
              </a:lnSpc>
              <a:buNone/>
            </a:pPr>
            <a:r>
              <a:rPr lang="en-US" sz="2250" b="1" dirty="0">
                <a:solidFill>
                  <a:srgbClr val="FACC15"/>
                </a:solidFill>
                <a:latin typeface="ui-sans-serif" pitchFamily="34" charset="0"/>
                <a:ea typeface="ui-sans-serif" pitchFamily="34" charset="-122"/>
                <a:cs typeface="ui-sans-serif" pitchFamily="34" charset="-120"/>
              </a:rPr>
              <a:t>40%</a:t>
            </a:r>
            <a:endParaRPr lang="en-US" sz="2250" dirty="0"/>
          </a:p>
        </p:txBody>
      </p:sp>
      <p:sp>
        <p:nvSpPr>
          <p:cNvPr id="43" name="Text 7"/>
          <p:cNvSpPr/>
          <p:nvPr/>
        </p:nvSpPr>
        <p:spPr>
          <a:xfrm>
            <a:off x="4046800" y="2286000"/>
            <a:ext cx="18822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整體配送效率提升</a:t>
            </a:r>
            <a:endParaRPr lang="en-US" sz="1050" dirty="0"/>
          </a:p>
        </p:txBody>
      </p:sp>
      <p:sp>
        <p:nvSpPr>
          <p:cNvPr id="44" name="Text 8"/>
          <p:cNvSpPr/>
          <p:nvPr/>
        </p:nvSpPr>
        <p:spPr>
          <a:xfrm>
            <a:off x="762000" y="2628900"/>
            <a:ext cx="27432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優化的路徑規劃與動態優先級協商</a:t>
            </a:r>
            <a:endParaRPr lang="en-US" sz="1200" dirty="0"/>
          </a:p>
        </p:txBody>
      </p:sp>
      <p:sp>
        <p:nvSpPr>
          <p:cNvPr id="45" name="Text 9"/>
          <p:cNvSpPr/>
          <p:nvPr/>
        </p:nvSpPr>
        <p:spPr>
          <a:xfrm>
            <a:off x="762000" y="2895600"/>
            <a:ext cx="219456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自動化衝突檢測與解決機制</a:t>
            </a:r>
            <a:endParaRPr lang="en-US" sz="1200" dirty="0"/>
          </a:p>
        </p:txBody>
      </p:sp>
      <p:sp>
        <p:nvSpPr>
          <p:cNvPr id="46" name="Text 10"/>
          <p:cNvSpPr/>
          <p:nvPr/>
        </p:nvSpPr>
        <p:spPr>
          <a:xfrm>
            <a:off x="6934200" y="1314450"/>
            <a:ext cx="109728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成本節省</a:t>
            </a:r>
            <a:endParaRPr lang="en-US" sz="1800" dirty="0"/>
          </a:p>
        </p:txBody>
      </p:sp>
      <p:sp>
        <p:nvSpPr>
          <p:cNvPr id="47" name="Text 11"/>
          <p:cNvSpPr/>
          <p:nvPr/>
        </p:nvSpPr>
        <p:spPr>
          <a:xfrm>
            <a:off x="6572250" y="2857500"/>
            <a:ext cx="2217599"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無需更換現有不同品牌AGV</a:t>
            </a:r>
            <a:endParaRPr lang="en-US" sz="1200" dirty="0"/>
          </a:p>
        </p:txBody>
      </p:sp>
      <p:sp>
        <p:nvSpPr>
          <p:cNvPr id="48" name="Text 12"/>
          <p:cNvSpPr/>
          <p:nvPr/>
        </p:nvSpPr>
        <p:spPr>
          <a:xfrm>
            <a:off x="6572250" y="3124200"/>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降低人工介入頻率與維修成本</a:t>
            </a:r>
            <a:endParaRPr lang="en-US" sz="1200" dirty="0"/>
          </a:p>
        </p:txBody>
      </p:sp>
      <p:sp>
        <p:nvSpPr>
          <p:cNvPr id="49" name="Text 13"/>
          <p:cNvSpPr/>
          <p:nvPr/>
        </p:nvSpPr>
        <p:spPr>
          <a:xfrm>
            <a:off x="1123950" y="4267200"/>
            <a:ext cx="164592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應用場景擴展</a:t>
            </a:r>
            <a:endParaRPr lang="en-US" sz="1800" dirty="0"/>
          </a:p>
        </p:txBody>
      </p:sp>
      <p:sp>
        <p:nvSpPr>
          <p:cNvPr id="50" name="Text 14"/>
          <p:cNvSpPr/>
          <p:nvPr/>
        </p:nvSpPr>
        <p:spPr>
          <a:xfrm>
            <a:off x="452765" y="5238750"/>
            <a:ext cx="1882021"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餐廳送餐機器人</a:t>
            </a:r>
            <a:endParaRPr lang="en-US" sz="1200" dirty="0"/>
          </a:p>
        </p:txBody>
      </p:sp>
      <p:sp>
        <p:nvSpPr>
          <p:cNvPr id="51" name="Text 15"/>
          <p:cNvSpPr/>
          <p:nvPr/>
        </p:nvSpPr>
        <p:spPr>
          <a:xfrm>
            <a:off x="2249701" y="5238750"/>
            <a:ext cx="18822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醫院配送系統</a:t>
            </a:r>
            <a:endParaRPr lang="en-US" sz="1200" dirty="0"/>
          </a:p>
        </p:txBody>
      </p:sp>
      <p:sp>
        <p:nvSpPr>
          <p:cNvPr id="52" name="Text 16"/>
          <p:cNvSpPr/>
          <p:nvPr/>
        </p:nvSpPr>
        <p:spPr>
          <a:xfrm>
            <a:off x="4046800" y="5238750"/>
            <a:ext cx="1882200" cy="228600"/>
          </a:xfrm>
          <a:prstGeom prst="rect">
            <a:avLst/>
          </a:prstGeom>
          <a:noFill/>
          <a:ln/>
        </p:spPr>
        <p:txBody>
          <a:bodyPr wrap="square" lIns="0" tIns="0" rIns="0" bIns="0" rtlCol="0" anchor="t" vert="horz"/>
          <a:lstStyle/>
          <a:p>
            <a:pPr algn="ct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倉庫物流AGV</a:t>
            </a:r>
            <a:endParaRPr lang="en-US" sz="1200" dirty="0"/>
          </a:p>
        </p:txBody>
      </p:sp>
      <p:sp>
        <p:nvSpPr>
          <p:cNvPr id="53" name="Text 17"/>
          <p:cNvSpPr/>
          <p:nvPr/>
        </p:nvSpPr>
        <p:spPr>
          <a:xfrm>
            <a:off x="6934200" y="4267200"/>
            <a:ext cx="109728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行業影響</a:t>
            </a:r>
            <a:endParaRPr lang="en-US" sz="1800" dirty="0"/>
          </a:p>
        </p:txBody>
      </p:sp>
      <p:sp>
        <p:nvSpPr>
          <p:cNvPr id="54" name="Text 18"/>
          <p:cNvSpPr/>
          <p:nvPr/>
        </p:nvSpPr>
        <p:spPr>
          <a:xfrm>
            <a:off x="6861125" y="4914900"/>
            <a:ext cx="1097280" cy="228600"/>
          </a:xfrm>
          <a:prstGeom prst="rect">
            <a:avLst/>
          </a:prstGeom>
          <a:noFill/>
          <a:ln/>
        </p:spPr>
        <p:txBody>
          <a:bodyPr wrap="square" lIns="0" tIns="0" rIns="0" bIns="0" rtlCol="0" anchor="t" vert="horz"/>
          <a:lstStyle/>
          <a:p>
            <a:pP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推動開放標準</a:t>
            </a:r>
            <a:endParaRPr lang="en-US" sz="1200" dirty="0"/>
          </a:p>
        </p:txBody>
      </p:sp>
      <p:sp>
        <p:nvSpPr>
          <p:cNvPr id="55" name="Text 19"/>
          <p:cNvSpPr/>
          <p:nvPr/>
        </p:nvSpPr>
        <p:spPr>
          <a:xfrm>
            <a:off x="6419850" y="5200650"/>
            <a:ext cx="1568351"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促進AGV行業統一通訊協議</a:t>
            </a:r>
            <a:endParaRPr lang="en-US" sz="1050" dirty="0"/>
          </a:p>
        </p:txBody>
      </p:sp>
      <p:sp>
        <p:nvSpPr>
          <p:cNvPr id="56" name="Text 20"/>
          <p:cNvSpPr/>
          <p:nvPr/>
        </p:nvSpPr>
        <p:spPr>
          <a:xfrm>
            <a:off x="8681889" y="4914900"/>
            <a:ext cx="1097280" cy="228600"/>
          </a:xfrm>
          <a:prstGeom prst="rect">
            <a:avLst/>
          </a:prstGeom>
          <a:noFill/>
          <a:ln/>
        </p:spPr>
        <p:txBody>
          <a:bodyPr wrap="square" lIns="0" tIns="0" rIns="0" bIns="0" rtlCol="0" anchor="t" vert="horz"/>
          <a:lstStyle/>
          <a:p>
            <a:pP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促進行業互通</a:t>
            </a:r>
            <a:endParaRPr lang="en-US" sz="1200" dirty="0"/>
          </a:p>
        </p:txBody>
      </p:sp>
      <p:sp>
        <p:nvSpPr>
          <p:cNvPr id="57" name="Text 21"/>
          <p:cNvSpPr/>
          <p:nvPr/>
        </p:nvSpPr>
        <p:spPr>
          <a:xfrm>
            <a:off x="8059951" y="5200650"/>
            <a:ext cx="18822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實現不同品牌機器人協作</a:t>
            </a:r>
            <a:endParaRPr lang="en-US" sz="1050" dirty="0"/>
          </a:p>
        </p:txBody>
      </p:sp>
      <p:sp>
        <p:nvSpPr>
          <p:cNvPr id="58" name="Text 22"/>
          <p:cNvSpPr/>
          <p:nvPr/>
        </p:nvSpPr>
        <p:spPr>
          <a:xfrm>
            <a:off x="10455176" y="4914900"/>
            <a:ext cx="1097280" cy="228600"/>
          </a:xfrm>
          <a:prstGeom prst="rect">
            <a:avLst/>
          </a:prstGeom>
          <a:noFill/>
          <a:ln/>
        </p:spPr>
        <p:txBody>
          <a:bodyPr wrap="square" lIns="0" tIns="0" rIns="0" bIns="0" rtlCol="0" anchor="t" vert="horz"/>
          <a:lstStyle/>
          <a:p>
            <a:pPr indent="0" marL="0">
              <a:lnSpc>
                <a:spcPts val="1800"/>
              </a:lnSpc>
              <a:buNone/>
            </a:pPr>
            <a:r>
              <a:rPr lang="en-US" sz="1200" dirty="0">
                <a:solidFill>
                  <a:srgbClr val="FFFFFF"/>
                </a:solidFill>
                <a:latin typeface="ui-sans-serif" pitchFamily="34" charset="0"/>
                <a:ea typeface="ui-sans-serif" pitchFamily="34" charset="-122"/>
                <a:cs typeface="ui-sans-serif" pitchFamily="34" charset="-120"/>
              </a:rPr>
              <a:t>提升用戶體驗</a:t>
            </a:r>
            <a:endParaRPr lang="en-US" sz="1200" dirty="0"/>
          </a:p>
        </p:txBody>
      </p:sp>
      <p:sp>
        <p:nvSpPr>
          <p:cNvPr id="59" name="Text 23"/>
          <p:cNvSpPr/>
          <p:nvPr/>
        </p:nvSpPr>
        <p:spPr>
          <a:xfrm>
            <a:off x="10013900" y="5200650"/>
            <a:ext cx="1568500" cy="3810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提供穩定、高效的自動化服務</a:t>
            </a:r>
            <a:endParaRPr lang="en-US" sz="1050" dirty="0"/>
          </a:p>
        </p:txBody>
      </p:sp>
      <p:sp>
        <p:nvSpPr>
          <p:cNvPr id="60" name="Text 24"/>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跨品牌協同系統</a:t>
            </a:r>
            <a:endParaRPr lang="en-US" sz="1200" dirty="0"/>
          </a:p>
        </p:txBody>
      </p:sp>
      <p:sp>
        <p:nvSpPr>
          <p:cNvPr id="61" name="Text 25"/>
          <p:cNvSpPr/>
          <p:nvPr/>
        </p:nvSpPr>
        <p:spPr>
          <a:xfrm>
            <a:off x="11274921" y="62484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104900"/>
            <a:ext cx="3657600" cy="4914900"/>
          </a:xfrm>
          <a:prstGeom prst="rect">
            <a:avLst/>
          </a:prstGeom>
        </p:spPr>
      </p:pic>
      <p:pic>
        <p:nvPicPr>
          <p:cNvPr id="5" name="Image 3" descr="preencoded.png">    </p:cNvPr>
          <p:cNvPicPr>
            <a:picLocks noChangeAspect="1"/>
          </p:cNvPicPr>
          <p:nvPr/>
        </p:nvPicPr>
        <p:blipFill>
          <a:blip r:embed="rId4"/>
          <a:stretch>
            <a:fillRect/>
          </a:stretch>
        </p:blipFill>
        <p:spPr>
          <a:xfrm>
            <a:off x="571500" y="1295400"/>
            <a:ext cx="571500" cy="571500"/>
          </a:xfrm>
          <a:prstGeom prst="rect">
            <a:avLst/>
          </a:prstGeom>
        </p:spPr>
      </p:pic>
      <p:pic>
        <p:nvPicPr>
          <p:cNvPr id="6" name="Image 4" descr="preencoded.png">    </p:cNvPr>
          <p:cNvPicPr>
            <a:picLocks noChangeAspect="1"/>
          </p:cNvPicPr>
          <p:nvPr/>
        </p:nvPicPr>
        <p:blipFill>
          <a:blip r:embed="rId5"/>
          <a:stretch>
            <a:fillRect/>
          </a:stretch>
        </p:blipFill>
        <p:spPr>
          <a:xfrm>
            <a:off x="757238" y="1428750"/>
            <a:ext cx="200025" cy="304800"/>
          </a:xfrm>
          <a:prstGeom prst="rect">
            <a:avLst/>
          </a:prstGeom>
        </p:spPr>
      </p:pic>
      <p:pic>
        <p:nvPicPr>
          <p:cNvPr id="7" name="Image 5" descr="preencoded.png">    </p:cNvPr>
          <p:cNvPicPr>
            <a:picLocks noChangeAspect="1"/>
          </p:cNvPicPr>
          <p:nvPr/>
        </p:nvPicPr>
        <p:blipFill>
          <a:blip r:embed="rId6"/>
          <a:stretch>
            <a:fillRect/>
          </a:stretch>
        </p:blipFill>
        <p:spPr>
          <a:xfrm>
            <a:off x="571500" y="2019300"/>
            <a:ext cx="3276600" cy="1219200"/>
          </a:xfrm>
          <a:prstGeom prst="rect">
            <a:avLst/>
          </a:prstGeom>
        </p:spPr>
      </p:pic>
      <p:pic>
        <p:nvPicPr>
          <p:cNvPr id="8" name="Image 6" descr="preencoded.png">    </p:cNvPr>
          <p:cNvPicPr>
            <a:picLocks noChangeAspect="1"/>
          </p:cNvPicPr>
          <p:nvPr/>
        </p:nvPicPr>
        <p:blipFill>
          <a:blip r:embed="rId7"/>
          <a:stretch>
            <a:fillRect/>
          </a:stretch>
        </p:blipFill>
        <p:spPr>
          <a:xfrm>
            <a:off x="571500" y="3962400"/>
            <a:ext cx="228600" cy="228600"/>
          </a:xfrm>
          <a:prstGeom prst="rect">
            <a:avLst/>
          </a:prstGeom>
        </p:spPr>
      </p:pic>
      <p:pic>
        <p:nvPicPr>
          <p:cNvPr id="9" name="Image 7" descr="preencoded.png">    </p:cNvPr>
          <p:cNvPicPr>
            <a:picLocks noChangeAspect="1"/>
          </p:cNvPicPr>
          <p:nvPr/>
        </p:nvPicPr>
        <p:blipFill>
          <a:blip r:embed="rId8"/>
          <a:stretch>
            <a:fillRect/>
          </a:stretch>
        </p:blipFill>
        <p:spPr>
          <a:xfrm>
            <a:off x="628650" y="4000500"/>
            <a:ext cx="114300" cy="152400"/>
          </a:xfrm>
          <a:prstGeom prst="rect">
            <a:avLst/>
          </a:prstGeom>
        </p:spPr>
      </p:pic>
      <p:pic>
        <p:nvPicPr>
          <p:cNvPr id="10" name="Image 8" descr="preencoded.png">    </p:cNvPr>
          <p:cNvPicPr>
            <a:picLocks noChangeAspect="1"/>
          </p:cNvPicPr>
          <p:nvPr/>
        </p:nvPicPr>
        <p:blipFill>
          <a:blip r:embed="rId9"/>
          <a:stretch>
            <a:fillRect/>
          </a:stretch>
        </p:blipFill>
        <p:spPr>
          <a:xfrm>
            <a:off x="571500" y="4495800"/>
            <a:ext cx="228600" cy="228600"/>
          </a:xfrm>
          <a:prstGeom prst="rect">
            <a:avLst/>
          </a:prstGeom>
        </p:spPr>
      </p:pic>
      <p:pic>
        <p:nvPicPr>
          <p:cNvPr id="11" name="Image 9" descr="preencoded.png">    </p:cNvPr>
          <p:cNvPicPr>
            <a:picLocks noChangeAspect="1"/>
          </p:cNvPicPr>
          <p:nvPr/>
        </p:nvPicPr>
        <p:blipFill>
          <a:blip r:embed="rId10"/>
          <a:stretch>
            <a:fillRect/>
          </a:stretch>
        </p:blipFill>
        <p:spPr>
          <a:xfrm>
            <a:off x="628650" y="4533900"/>
            <a:ext cx="114300" cy="152400"/>
          </a:xfrm>
          <a:prstGeom prst="rect">
            <a:avLst/>
          </a:prstGeom>
        </p:spPr>
      </p:pic>
      <p:pic>
        <p:nvPicPr>
          <p:cNvPr id="12" name="Image 10" descr="preencoded.png">    </p:cNvPr>
          <p:cNvPicPr>
            <a:picLocks noChangeAspect="1"/>
          </p:cNvPicPr>
          <p:nvPr/>
        </p:nvPicPr>
        <p:blipFill>
          <a:blip r:embed="rId11"/>
          <a:stretch>
            <a:fillRect/>
          </a:stretch>
        </p:blipFill>
        <p:spPr>
          <a:xfrm>
            <a:off x="571500" y="4914900"/>
            <a:ext cx="228600" cy="228600"/>
          </a:xfrm>
          <a:prstGeom prst="rect">
            <a:avLst/>
          </a:prstGeom>
        </p:spPr>
      </p:pic>
      <p:pic>
        <p:nvPicPr>
          <p:cNvPr id="13" name="Image 11" descr="preencoded.png">    </p:cNvPr>
          <p:cNvPicPr>
            <a:picLocks noChangeAspect="1"/>
          </p:cNvPicPr>
          <p:nvPr/>
        </p:nvPicPr>
        <p:blipFill>
          <a:blip r:embed="rId12"/>
          <a:stretch>
            <a:fillRect/>
          </a:stretch>
        </p:blipFill>
        <p:spPr>
          <a:xfrm>
            <a:off x="628650" y="4953000"/>
            <a:ext cx="114300" cy="152400"/>
          </a:xfrm>
          <a:prstGeom prst="rect">
            <a:avLst/>
          </a:prstGeom>
        </p:spPr>
      </p:pic>
      <p:pic>
        <p:nvPicPr>
          <p:cNvPr id="14" name="Image 12" descr="preencoded.png">    </p:cNvPr>
          <p:cNvPicPr>
            <a:picLocks noChangeAspect="1"/>
          </p:cNvPicPr>
          <p:nvPr/>
        </p:nvPicPr>
        <p:blipFill>
          <a:blip r:embed="rId13"/>
          <a:stretch>
            <a:fillRect/>
          </a:stretch>
        </p:blipFill>
        <p:spPr>
          <a:xfrm>
            <a:off x="4267200" y="1104900"/>
            <a:ext cx="3657600" cy="4914900"/>
          </a:xfrm>
          <a:prstGeom prst="rect">
            <a:avLst/>
          </a:prstGeom>
        </p:spPr>
      </p:pic>
      <p:pic>
        <p:nvPicPr>
          <p:cNvPr id="15" name="Image 13" descr="preencoded.png">    </p:cNvPr>
          <p:cNvPicPr>
            <a:picLocks noChangeAspect="1"/>
          </p:cNvPicPr>
          <p:nvPr/>
        </p:nvPicPr>
        <p:blipFill>
          <a:blip r:embed="rId14"/>
          <a:stretch>
            <a:fillRect/>
          </a:stretch>
        </p:blipFill>
        <p:spPr>
          <a:xfrm>
            <a:off x="4457700" y="1295400"/>
            <a:ext cx="571500" cy="571500"/>
          </a:xfrm>
          <a:prstGeom prst="rect">
            <a:avLst/>
          </a:prstGeom>
        </p:spPr>
      </p:pic>
      <p:pic>
        <p:nvPicPr>
          <p:cNvPr id="16" name="Image 14" descr="preencoded.png">    </p:cNvPr>
          <p:cNvPicPr>
            <a:picLocks noChangeAspect="1"/>
          </p:cNvPicPr>
          <p:nvPr/>
        </p:nvPicPr>
        <p:blipFill>
          <a:blip r:embed="rId15"/>
          <a:stretch>
            <a:fillRect/>
          </a:stretch>
        </p:blipFill>
        <p:spPr>
          <a:xfrm>
            <a:off x="4600575" y="1428750"/>
            <a:ext cx="285750" cy="304800"/>
          </a:xfrm>
          <a:prstGeom prst="rect">
            <a:avLst/>
          </a:prstGeom>
        </p:spPr>
      </p:pic>
      <p:pic>
        <p:nvPicPr>
          <p:cNvPr id="17" name="Image 15" descr="preencoded.png">    </p:cNvPr>
          <p:cNvPicPr>
            <a:picLocks noChangeAspect="1"/>
          </p:cNvPicPr>
          <p:nvPr/>
        </p:nvPicPr>
        <p:blipFill>
          <a:blip r:embed="rId16"/>
          <a:stretch>
            <a:fillRect/>
          </a:stretch>
        </p:blipFill>
        <p:spPr>
          <a:xfrm>
            <a:off x="4457700" y="2019300"/>
            <a:ext cx="3276600" cy="1219200"/>
          </a:xfrm>
          <a:prstGeom prst="rect">
            <a:avLst/>
          </a:prstGeom>
        </p:spPr>
      </p:pic>
      <p:pic>
        <p:nvPicPr>
          <p:cNvPr id="18" name="Image 16" descr="preencoded.png">    </p:cNvPr>
          <p:cNvPicPr>
            <a:picLocks noChangeAspect="1"/>
          </p:cNvPicPr>
          <p:nvPr/>
        </p:nvPicPr>
        <p:blipFill>
          <a:blip r:embed="rId17"/>
          <a:stretch>
            <a:fillRect/>
          </a:stretch>
        </p:blipFill>
        <p:spPr>
          <a:xfrm>
            <a:off x="5524500" y="1828800"/>
            <a:ext cx="457200" cy="457200"/>
          </a:xfrm>
          <a:prstGeom prst="rect">
            <a:avLst/>
          </a:prstGeom>
        </p:spPr>
      </p:pic>
      <p:pic>
        <p:nvPicPr>
          <p:cNvPr id="19" name="Image 17" descr="preencoded.png">    </p:cNvPr>
          <p:cNvPicPr>
            <a:picLocks noChangeAspect="1"/>
          </p:cNvPicPr>
          <p:nvPr/>
        </p:nvPicPr>
        <p:blipFill>
          <a:blip r:embed="rId18"/>
          <a:stretch>
            <a:fillRect/>
          </a:stretch>
        </p:blipFill>
        <p:spPr>
          <a:xfrm>
            <a:off x="5667375" y="1981200"/>
            <a:ext cx="171450" cy="152400"/>
          </a:xfrm>
          <a:prstGeom prst="rect">
            <a:avLst/>
          </a:prstGeom>
        </p:spPr>
      </p:pic>
      <p:pic>
        <p:nvPicPr>
          <p:cNvPr id="20" name="Image 18" descr="preencoded.png">    </p:cNvPr>
          <p:cNvPicPr>
            <a:picLocks noChangeAspect="1"/>
          </p:cNvPicPr>
          <p:nvPr/>
        </p:nvPicPr>
        <p:blipFill>
          <a:blip r:embed="rId19"/>
          <a:stretch>
            <a:fillRect/>
          </a:stretch>
        </p:blipFill>
        <p:spPr>
          <a:xfrm>
            <a:off x="6210300" y="1828800"/>
            <a:ext cx="457200" cy="457200"/>
          </a:xfrm>
          <a:prstGeom prst="rect">
            <a:avLst/>
          </a:prstGeom>
        </p:spPr>
      </p:pic>
      <p:pic>
        <p:nvPicPr>
          <p:cNvPr id="21" name="Image 19" descr="preencoded.png">    </p:cNvPr>
          <p:cNvPicPr>
            <a:picLocks noChangeAspect="1"/>
          </p:cNvPicPr>
          <p:nvPr/>
        </p:nvPicPr>
        <p:blipFill>
          <a:blip r:embed="rId20"/>
          <a:stretch>
            <a:fillRect/>
          </a:stretch>
        </p:blipFill>
        <p:spPr>
          <a:xfrm>
            <a:off x="6372225" y="1981200"/>
            <a:ext cx="133350" cy="152400"/>
          </a:xfrm>
          <a:prstGeom prst="rect">
            <a:avLst/>
          </a:prstGeom>
        </p:spPr>
      </p:pic>
      <p:pic>
        <p:nvPicPr>
          <p:cNvPr id="22" name="Image 20" descr="preencoded.png">    </p:cNvPr>
          <p:cNvPicPr>
            <a:picLocks noChangeAspect="1"/>
          </p:cNvPicPr>
          <p:nvPr/>
        </p:nvPicPr>
        <p:blipFill>
          <a:blip r:embed="rId21"/>
          <a:stretch>
            <a:fillRect/>
          </a:stretch>
        </p:blipFill>
        <p:spPr>
          <a:xfrm>
            <a:off x="5524500" y="2705100"/>
            <a:ext cx="457200" cy="457200"/>
          </a:xfrm>
          <a:prstGeom prst="rect">
            <a:avLst/>
          </a:prstGeom>
        </p:spPr>
      </p:pic>
      <p:pic>
        <p:nvPicPr>
          <p:cNvPr id="23" name="Image 21" descr="preencoded.png">    </p:cNvPr>
          <p:cNvPicPr>
            <a:picLocks noChangeAspect="1"/>
          </p:cNvPicPr>
          <p:nvPr/>
        </p:nvPicPr>
        <p:blipFill>
          <a:blip r:embed="rId22"/>
          <a:stretch>
            <a:fillRect/>
          </a:stretch>
        </p:blipFill>
        <p:spPr>
          <a:xfrm>
            <a:off x="5657850" y="2857500"/>
            <a:ext cx="190500" cy="152400"/>
          </a:xfrm>
          <a:prstGeom prst="rect">
            <a:avLst/>
          </a:prstGeom>
        </p:spPr>
      </p:pic>
      <p:pic>
        <p:nvPicPr>
          <p:cNvPr id="24" name="Image 22" descr="preencoded.png">    </p:cNvPr>
          <p:cNvPicPr>
            <a:picLocks noChangeAspect="1"/>
          </p:cNvPicPr>
          <p:nvPr/>
        </p:nvPicPr>
        <p:blipFill>
          <a:blip r:embed="rId23"/>
          <a:stretch>
            <a:fillRect/>
          </a:stretch>
        </p:blipFill>
        <p:spPr>
          <a:xfrm>
            <a:off x="6210300" y="2705100"/>
            <a:ext cx="457200" cy="457200"/>
          </a:xfrm>
          <a:prstGeom prst="rect">
            <a:avLst/>
          </a:prstGeom>
        </p:spPr>
      </p:pic>
      <p:pic>
        <p:nvPicPr>
          <p:cNvPr id="25" name="Image 23" descr="preencoded.png">    </p:cNvPr>
          <p:cNvPicPr>
            <a:picLocks noChangeAspect="1"/>
          </p:cNvPicPr>
          <p:nvPr/>
        </p:nvPicPr>
        <p:blipFill>
          <a:blip r:embed="rId24"/>
          <a:stretch>
            <a:fillRect/>
          </a:stretch>
        </p:blipFill>
        <p:spPr>
          <a:xfrm>
            <a:off x="6372225" y="2857500"/>
            <a:ext cx="133350" cy="152400"/>
          </a:xfrm>
          <a:prstGeom prst="rect">
            <a:avLst/>
          </a:prstGeom>
        </p:spPr>
      </p:pic>
      <p:pic>
        <p:nvPicPr>
          <p:cNvPr id="26" name="Image 24" descr="preencoded.png">    </p:cNvPr>
          <p:cNvPicPr>
            <a:picLocks noChangeAspect="1"/>
          </p:cNvPicPr>
          <p:nvPr/>
        </p:nvPicPr>
        <p:blipFill>
          <a:blip r:embed="rId25"/>
          <a:stretch>
            <a:fillRect/>
          </a:stretch>
        </p:blipFill>
        <p:spPr>
          <a:xfrm>
            <a:off x="4457700" y="3848100"/>
            <a:ext cx="228600" cy="228600"/>
          </a:xfrm>
          <a:prstGeom prst="rect">
            <a:avLst/>
          </a:prstGeom>
        </p:spPr>
      </p:pic>
      <p:pic>
        <p:nvPicPr>
          <p:cNvPr id="27" name="Image 25" descr="preencoded.png">    </p:cNvPr>
          <p:cNvPicPr>
            <a:picLocks noChangeAspect="1"/>
          </p:cNvPicPr>
          <p:nvPr/>
        </p:nvPicPr>
        <p:blipFill>
          <a:blip r:embed="rId26"/>
          <a:stretch>
            <a:fillRect/>
          </a:stretch>
        </p:blipFill>
        <p:spPr>
          <a:xfrm>
            <a:off x="4514850" y="3886200"/>
            <a:ext cx="114300" cy="152400"/>
          </a:xfrm>
          <a:prstGeom prst="rect">
            <a:avLst/>
          </a:prstGeom>
        </p:spPr>
      </p:pic>
      <p:pic>
        <p:nvPicPr>
          <p:cNvPr id="28" name="Image 26" descr="preencoded.png">    </p:cNvPr>
          <p:cNvPicPr>
            <a:picLocks noChangeAspect="1"/>
          </p:cNvPicPr>
          <p:nvPr/>
        </p:nvPicPr>
        <p:blipFill>
          <a:blip r:embed="rId27"/>
          <a:stretch>
            <a:fillRect/>
          </a:stretch>
        </p:blipFill>
        <p:spPr>
          <a:xfrm>
            <a:off x="4457700" y="4381500"/>
            <a:ext cx="228600" cy="228600"/>
          </a:xfrm>
          <a:prstGeom prst="rect">
            <a:avLst/>
          </a:prstGeom>
        </p:spPr>
      </p:pic>
      <p:pic>
        <p:nvPicPr>
          <p:cNvPr id="29" name="Image 27" descr="preencoded.png">    </p:cNvPr>
          <p:cNvPicPr>
            <a:picLocks noChangeAspect="1"/>
          </p:cNvPicPr>
          <p:nvPr/>
        </p:nvPicPr>
        <p:blipFill>
          <a:blip r:embed="rId28"/>
          <a:stretch>
            <a:fillRect/>
          </a:stretch>
        </p:blipFill>
        <p:spPr>
          <a:xfrm>
            <a:off x="4514850" y="4419600"/>
            <a:ext cx="114300" cy="152400"/>
          </a:xfrm>
          <a:prstGeom prst="rect">
            <a:avLst/>
          </a:prstGeom>
        </p:spPr>
      </p:pic>
      <p:pic>
        <p:nvPicPr>
          <p:cNvPr id="30" name="Image 28" descr="preencoded.png">    </p:cNvPr>
          <p:cNvPicPr>
            <a:picLocks noChangeAspect="1"/>
          </p:cNvPicPr>
          <p:nvPr/>
        </p:nvPicPr>
        <p:blipFill>
          <a:blip r:embed="rId29"/>
          <a:stretch>
            <a:fillRect/>
          </a:stretch>
        </p:blipFill>
        <p:spPr>
          <a:xfrm>
            <a:off x="4457700" y="4800600"/>
            <a:ext cx="228600" cy="228600"/>
          </a:xfrm>
          <a:prstGeom prst="rect">
            <a:avLst/>
          </a:prstGeom>
        </p:spPr>
      </p:pic>
      <p:pic>
        <p:nvPicPr>
          <p:cNvPr id="31" name="Image 29" descr="preencoded.png">    </p:cNvPr>
          <p:cNvPicPr>
            <a:picLocks noChangeAspect="1"/>
          </p:cNvPicPr>
          <p:nvPr/>
        </p:nvPicPr>
        <p:blipFill>
          <a:blip r:embed="rId30"/>
          <a:stretch>
            <a:fillRect/>
          </a:stretch>
        </p:blipFill>
        <p:spPr>
          <a:xfrm>
            <a:off x="4514850" y="4838700"/>
            <a:ext cx="114300" cy="152400"/>
          </a:xfrm>
          <a:prstGeom prst="rect">
            <a:avLst/>
          </a:prstGeom>
        </p:spPr>
      </p:pic>
      <p:pic>
        <p:nvPicPr>
          <p:cNvPr id="32" name="Image 30" descr="preencoded.png">    </p:cNvPr>
          <p:cNvPicPr>
            <a:picLocks noChangeAspect="1"/>
          </p:cNvPicPr>
          <p:nvPr/>
        </p:nvPicPr>
        <p:blipFill>
          <a:blip r:embed="rId31"/>
          <a:stretch>
            <a:fillRect/>
          </a:stretch>
        </p:blipFill>
        <p:spPr>
          <a:xfrm>
            <a:off x="8153400" y="1104900"/>
            <a:ext cx="3657600" cy="4914900"/>
          </a:xfrm>
          <a:prstGeom prst="rect">
            <a:avLst/>
          </a:prstGeom>
        </p:spPr>
      </p:pic>
      <p:pic>
        <p:nvPicPr>
          <p:cNvPr id="33" name="Image 31" descr="preencoded.png">    </p:cNvPr>
          <p:cNvPicPr>
            <a:picLocks noChangeAspect="1"/>
          </p:cNvPicPr>
          <p:nvPr/>
        </p:nvPicPr>
        <p:blipFill>
          <a:blip r:embed="rId32"/>
          <a:stretch>
            <a:fillRect/>
          </a:stretch>
        </p:blipFill>
        <p:spPr>
          <a:xfrm>
            <a:off x="8343900" y="1295400"/>
            <a:ext cx="571500" cy="571500"/>
          </a:xfrm>
          <a:prstGeom prst="rect">
            <a:avLst/>
          </a:prstGeom>
        </p:spPr>
      </p:pic>
      <p:pic>
        <p:nvPicPr>
          <p:cNvPr id="34" name="Image 32" descr="preencoded.png">    </p:cNvPr>
          <p:cNvPicPr>
            <a:picLocks noChangeAspect="1"/>
          </p:cNvPicPr>
          <p:nvPr/>
        </p:nvPicPr>
        <p:blipFill>
          <a:blip r:embed="rId33"/>
          <a:stretch>
            <a:fillRect/>
          </a:stretch>
        </p:blipFill>
        <p:spPr>
          <a:xfrm>
            <a:off x="8486775" y="1428750"/>
            <a:ext cx="285750" cy="304800"/>
          </a:xfrm>
          <a:prstGeom prst="rect">
            <a:avLst/>
          </a:prstGeom>
        </p:spPr>
      </p:pic>
      <p:pic>
        <p:nvPicPr>
          <p:cNvPr id="35" name="Image 33" descr="preencoded.png">    </p:cNvPr>
          <p:cNvPicPr>
            <a:picLocks noChangeAspect="1"/>
          </p:cNvPicPr>
          <p:nvPr/>
        </p:nvPicPr>
        <p:blipFill>
          <a:blip r:embed="rId34"/>
          <a:stretch>
            <a:fillRect/>
          </a:stretch>
        </p:blipFill>
        <p:spPr>
          <a:xfrm>
            <a:off x="8343900" y="2019300"/>
            <a:ext cx="3276600" cy="1219200"/>
          </a:xfrm>
          <a:prstGeom prst="rect">
            <a:avLst/>
          </a:prstGeom>
        </p:spPr>
      </p:pic>
      <p:pic>
        <p:nvPicPr>
          <p:cNvPr id="36" name="Image 34" descr="preencoded.png">    </p:cNvPr>
          <p:cNvPicPr>
            <a:picLocks noChangeAspect="1"/>
          </p:cNvPicPr>
          <p:nvPr/>
        </p:nvPicPr>
        <p:blipFill>
          <a:blip r:embed="rId35"/>
          <a:stretch>
            <a:fillRect/>
          </a:stretch>
        </p:blipFill>
        <p:spPr>
          <a:xfrm>
            <a:off x="8343900" y="2019300"/>
            <a:ext cx="3276600" cy="1219200"/>
          </a:xfrm>
          <a:prstGeom prst="rect">
            <a:avLst/>
          </a:prstGeom>
        </p:spPr>
      </p:pic>
      <p:pic>
        <p:nvPicPr>
          <p:cNvPr id="37" name="Image 35" descr="preencoded.png">    </p:cNvPr>
          <p:cNvPicPr>
            <a:picLocks noChangeAspect="1"/>
          </p:cNvPicPr>
          <p:nvPr/>
        </p:nvPicPr>
        <p:blipFill>
          <a:blip r:embed="rId36"/>
          <a:stretch>
            <a:fillRect/>
          </a:stretch>
        </p:blipFill>
        <p:spPr>
          <a:xfrm>
            <a:off x="8343900" y="2425601"/>
            <a:ext cx="3276600" cy="38100"/>
          </a:xfrm>
          <a:prstGeom prst="rect">
            <a:avLst/>
          </a:prstGeom>
        </p:spPr>
      </p:pic>
      <p:pic>
        <p:nvPicPr>
          <p:cNvPr id="38" name="Image 36" descr="preencoded.png">    </p:cNvPr>
          <p:cNvPicPr>
            <a:picLocks noChangeAspect="1"/>
          </p:cNvPicPr>
          <p:nvPr/>
        </p:nvPicPr>
        <p:blipFill>
          <a:blip r:embed="rId37"/>
          <a:stretch>
            <a:fillRect/>
          </a:stretch>
        </p:blipFill>
        <p:spPr>
          <a:xfrm>
            <a:off x="8343900" y="2832050"/>
            <a:ext cx="3276600" cy="38100"/>
          </a:xfrm>
          <a:prstGeom prst="rect">
            <a:avLst/>
          </a:prstGeom>
        </p:spPr>
      </p:pic>
      <p:pic>
        <p:nvPicPr>
          <p:cNvPr id="39" name="Image 37" descr="preencoded.png">    </p:cNvPr>
          <p:cNvPicPr>
            <a:picLocks noChangeAspect="1"/>
          </p:cNvPicPr>
          <p:nvPr/>
        </p:nvPicPr>
        <p:blipFill>
          <a:blip r:embed="rId38"/>
          <a:stretch>
            <a:fillRect/>
          </a:stretch>
        </p:blipFill>
        <p:spPr>
          <a:xfrm>
            <a:off x="9436001" y="2019300"/>
            <a:ext cx="38100" cy="1219200"/>
          </a:xfrm>
          <a:prstGeom prst="rect">
            <a:avLst/>
          </a:prstGeom>
        </p:spPr>
      </p:pic>
      <p:pic>
        <p:nvPicPr>
          <p:cNvPr id="40" name="Image 38" descr="preencoded.png">    </p:cNvPr>
          <p:cNvPicPr>
            <a:picLocks noChangeAspect="1"/>
          </p:cNvPicPr>
          <p:nvPr/>
        </p:nvPicPr>
        <p:blipFill>
          <a:blip r:embed="rId39"/>
          <a:stretch>
            <a:fillRect/>
          </a:stretch>
        </p:blipFill>
        <p:spPr>
          <a:xfrm>
            <a:off x="10528250" y="2019300"/>
            <a:ext cx="38100" cy="1219200"/>
          </a:xfrm>
          <a:prstGeom prst="rect">
            <a:avLst/>
          </a:prstGeom>
        </p:spPr>
      </p:pic>
      <p:pic>
        <p:nvPicPr>
          <p:cNvPr id="41" name="Image 39" descr="preencoded.png">    </p:cNvPr>
          <p:cNvPicPr>
            <a:picLocks noChangeAspect="1"/>
          </p:cNvPicPr>
          <p:nvPr/>
        </p:nvPicPr>
        <p:blipFill>
          <a:blip r:embed="rId40"/>
          <a:stretch>
            <a:fillRect/>
          </a:stretch>
        </p:blipFill>
        <p:spPr>
          <a:xfrm>
            <a:off x="8343900" y="2019300"/>
            <a:ext cx="228600" cy="228600"/>
          </a:xfrm>
          <a:prstGeom prst="rect">
            <a:avLst/>
          </a:prstGeom>
        </p:spPr>
      </p:pic>
      <p:pic>
        <p:nvPicPr>
          <p:cNvPr id="42" name="Image 40" descr="preencoded.png">    </p:cNvPr>
          <p:cNvPicPr>
            <a:picLocks noChangeAspect="1"/>
          </p:cNvPicPr>
          <p:nvPr/>
        </p:nvPicPr>
        <p:blipFill>
          <a:blip r:embed="rId41"/>
          <a:stretch>
            <a:fillRect/>
          </a:stretch>
        </p:blipFill>
        <p:spPr>
          <a:xfrm>
            <a:off x="8386763" y="2057400"/>
            <a:ext cx="142875" cy="152400"/>
          </a:xfrm>
          <a:prstGeom prst="rect">
            <a:avLst/>
          </a:prstGeom>
        </p:spPr>
      </p:pic>
      <p:pic>
        <p:nvPicPr>
          <p:cNvPr id="43" name="Image 41" descr="preencoded.png">    </p:cNvPr>
          <p:cNvPicPr>
            <a:picLocks noChangeAspect="1"/>
          </p:cNvPicPr>
          <p:nvPr/>
        </p:nvPicPr>
        <p:blipFill>
          <a:blip r:embed="rId42"/>
          <a:stretch>
            <a:fillRect/>
          </a:stretch>
        </p:blipFill>
        <p:spPr>
          <a:xfrm>
            <a:off x="10528250" y="2628900"/>
            <a:ext cx="228600" cy="228600"/>
          </a:xfrm>
          <a:prstGeom prst="rect">
            <a:avLst/>
          </a:prstGeom>
        </p:spPr>
      </p:pic>
      <p:pic>
        <p:nvPicPr>
          <p:cNvPr id="44" name="Image 42" descr="preencoded.png">    </p:cNvPr>
          <p:cNvPicPr>
            <a:picLocks noChangeAspect="1"/>
          </p:cNvPicPr>
          <p:nvPr/>
        </p:nvPicPr>
        <p:blipFill>
          <a:blip r:embed="rId43"/>
          <a:stretch>
            <a:fillRect/>
          </a:stretch>
        </p:blipFill>
        <p:spPr>
          <a:xfrm>
            <a:off x="10571113" y="2667000"/>
            <a:ext cx="142875" cy="152400"/>
          </a:xfrm>
          <a:prstGeom prst="rect">
            <a:avLst/>
          </a:prstGeom>
        </p:spPr>
      </p:pic>
      <p:pic>
        <p:nvPicPr>
          <p:cNvPr id="45" name="Image 43" descr="preencoded.png">    </p:cNvPr>
          <p:cNvPicPr>
            <a:picLocks noChangeAspect="1"/>
          </p:cNvPicPr>
          <p:nvPr/>
        </p:nvPicPr>
        <p:blipFill>
          <a:blip r:embed="rId44"/>
          <a:stretch>
            <a:fillRect/>
          </a:stretch>
        </p:blipFill>
        <p:spPr>
          <a:xfrm>
            <a:off x="10572750" y="2019300"/>
            <a:ext cx="228600" cy="228600"/>
          </a:xfrm>
          <a:prstGeom prst="rect">
            <a:avLst/>
          </a:prstGeom>
        </p:spPr>
      </p:pic>
      <p:pic>
        <p:nvPicPr>
          <p:cNvPr id="46" name="Image 44" descr="preencoded.png">    </p:cNvPr>
          <p:cNvPicPr>
            <a:picLocks noChangeAspect="1"/>
          </p:cNvPicPr>
          <p:nvPr/>
        </p:nvPicPr>
        <p:blipFill>
          <a:blip r:embed="rId45"/>
          <a:stretch>
            <a:fillRect/>
          </a:stretch>
        </p:blipFill>
        <p:spPr>
          <a:xfrm>
            <a:off x="10615613" y="2057400"/>
            <a:ext cx="142875" cy="152400"/>
          </a:xfrm>
          <a:prstGeom prst="rect">
            <a:avLst/>
          </a:prstGeom>
        </p:spPr>
      </p:pic>
      <p:pic>
        <p:nvPicPr>
          <p:cNvPr id="47" name="Image 45" descr="preencoded.png">    </p:cNvPr>
          <p:cNvPicPr>
            <a:picLocks noChangeAspect="1"/>
          </p:cNvPicPr>
          <p:nvPr/>
        </p:nvPicPr>
        <p:blipFill>
          <a:blip r:embed="rId46"/>
          <a:stretch>
            <a:fillRect/>
          </a:stretch>
        </p:blipFill>
        <p:spPr>
          <a:xfrm>
            <a:off x="8343900" y="3848100"/>
            <a:ext cx="228600" cy="228600"/>
          </a:xfrm>
          <a:prstGeom prst="rect">
            <a:avLst/>
          </a:prstGeom>
        </p:spPr>
      </p:pic>
      <p:pic>
        <p:nvPicPr>
          <p:cNvPr id="48" name="Image 46" descr="preencoded.png">    </p:cNvPr>
          <p:cNvPicPr>
            <a:picLocks noChangeAspect="1"/>
          </p:cNvPicPr>
          <p:nvPr/>
        </p:nvPicPr>
        <p:blipFill>
          <a:blip r:embed="rId47"/>
          <a:stretch>
            <a:fillRect/>
          </a:stretch>
        </p:blipFill>
        <p:spPr>
          <a:xfrm>
            <a:off x="8401050" y="3886200"/>
            <a:ext cx="114300" cy="152400"/>
          </a:xfrm>
          <a:prstGeom prst="rect">
            <a:avLst/>
          </a:prstGeom>
        </p:spPr>
      </p:pic>
      <p:pic>
        <p:nvPicPr>
          <p:cNvPr id="49" name="Image 47" descr="preencoded.png">    </p:cNvPr>
          <p:cNvPicPr>
            <a:picLocks noChangeAspect="1"/>
          </p:cNvPicPr>
          <p:nvPr/>
        </p:nvPicPr>
        <p:blipFill>
          <a:blip r:embed="rId48"/>
          <a:stretch>
            <a:fillRect/>
          </a:stretch>
        </p:blipFill>
        <p:spPr>
          <a:xfrm>
            <a:off x="8343900" y="4381500"/>
            <a:ext cx="228600" cy="228600"/>
          </a:xfrm>
          <a:prstGeom prst="rect">
            <a:avLst/>
          </a:prstGeom>
        </p:spPr>
      </p:pic>
      <p:pic>
        <p:nvPicPr>
          <p:cNvPr id="50" name="Image 48" descr="preencoded.png">    </p:cNvPr>
          <p:cNvPicPr>
            <a:picLocks noChangeAspect="1"/>
          </p:cNvPicPr>
          <p:nvPr/>
        </p:nvPicPr>
        <p:blipFill>
          <a:blip r:embed="rId49"/>
          <a:stretch>
            <a:fillRect/>
          </a:stretch>
        </p:blipFill>
        <p:spPr>
          <a:xfrm>
            <a:off x="8401050" y="4419600"/>
            <a:ext cx="114300" cy="152400"/>
          </a:xfrm>
          <a:prstGeom prst="rect">
            <a:avLst/>
          </a:prstGeom>
        </p:spPr>
      </p:pic>
      <p:pic>
        <p:nvPicPr>
          <p:cNvPr id="51" name="Image 49" descr="preencoded.png">    </p:cNvPr>
          <p:cNvPicPr>
            <a:picLocks noChangeAspect="1"/>
          </p:cNvPicPr>
          <p:nvPr/>
        </p:nvPicPr>
        <p:blipFill>
          <a:blip r:embed="rId50"/>
          <a:stretch>
            <a:fillRect/>
          </a:stretch>
        </p:blipFill>
        <p:spPr>
          <a:xfrm>
            <a:off x="8343900" y="4800600"/>
            <a:ext cx="228600" cy="228600"/>
          </a:xfrm>
          <a:prstGeom prst="rect">
            <a:avLst/>
          </a:prstGeom>
        </p:spPr>
      </p:pic>
      <p:pic>
        <p:nvPicPr>
          <p:cNvPr id="52" name="Image 50" descr="preencoded.png">    </p:cNvPr>
          <p:cNvPicPr>
            <a:picLocks noChangeAspect="1"/>
          </p:cNvPicPr>
          <p:nvPr/>
        </p:nvPicPr>
        <p:blipFill>
          <a:blip r:embed="rId51"/>
          <a:stretch>
            <a:fillRect/>
          </a:stretch>
        </p:blipFill>
        <p:spPr>
          <a:xfrm>
            <a:off x="8401050" y="4838700"/>
            <a:ext cx="114300" cy="152400"/>
          </a:xfrm>
          <a:prstGeom prst="rect">
            <a:avLst/>
          </a:prstGeom>
        </p:spPr>
      </p:pic>
      <p:sp>
        <p:nvSpPr>
          <p:cNvPr id="53"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應用場景分析</a:t>
            </a:r>
            <a:endParaRPr lang="en-US" sz="2700" dirty="0"/>
          </a:p>
        </p:txBody>
      </p:sp>
      <p:sp>
        <p:nvSpPr>
          <p:cNvPr id="54" name="Text 1"/>
          <p:cNvSpPr/>
          <p:nvPr/>
        </p:nvSpPr>
        <p:spPr>
          <a:xfrm>
            <a:off x="1295400" y="1428750"/>
            <a:ext cx="192024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餐廳送餐機器人</a:t>
            </a:r>
            <a:endParaRPr lang="en-US" sz="1800" dirty="0"/>
          </a:p>
        </p:txBody>
      </p:sp>
      <p:sp>
        <p:nvSpPr>
          <p:cNvPr id="55" name="Text 2"/>
          <p:cNvSpPr/>
          <p:nvPr/>
        </p:nvSpPr>
        <p:spPr>
          <a:xfrm>
            <a:off x="571500" y="3505200"/>
            <a:ext cx="3276600" cy="266700"/>
          </a:xfrm>
          <a:prstGeom prst="rect">
            <a:avLst/>
          </a:prstGeom>
          <a:noFill/>
          <a:ln/>
        </p:spPr>
        <p:txBody>
          <a:bodyPr wrap="square" lIns="0" tIns="0" rIns="0" bIns="0" rtlCol="0" anchor="t" vert="horz"/>
          <a:lstStyle/>
          <a:p>
            <a:pPr indent="0" marL="0">
              <a:lnSpc>
                <a:spcPts val="2100"/>
              </a:lnSpc>
              <a:buNone/>
            </a:pPr>
            <a:r>
              <a:rPr lang="en-US" sz="1350" b="1" dirty="0">
                <a:solidFill>
                  <a:srgbClr val="F9A8D4"/>
                </a:solidFill>
                <a:latin typeface="ui-sans-serif" pitchFamily="34" charset="0"/>
                <a:ea typeface="ui-sans-serif" pitchFamily="34" charset="-122"/>
                <a:cs typeface="ui-sans-serif" pitchFamily="34" charset="-120"/>
              </a:rPr>
              <a:t>實施效果</a:t>
            </a:r>
            <a:endParaRPr lang="en-US" sz="1350" dirty="0"/>
          </a:p>
        </p:txBody>
      </p:sp>
      <p:sp>
        <p:nvSpPr>
          <p:cNvPr id="56" name="Text 3"/>
          <p:cNvSpPr/>
          <p:nvPr/>
        </p:nvSpPr>
        <p:spPr>
          <a:xfrm>
            <a:off x="895350" y="38481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解決多品牌送餐機器人在餐廳走廊、出入口等公共區域的通行衝突</a:t>
            </a:r>
            <a:endParaRPr lang="en-US" sz="1200" dirty="0"/>
          </a:p>
        </p:txBody>
      </p:sp>
      <p:sp>
        <p:nvSpPr>
          <p:cNvPr id="57" name="Text 4"/>
          <p:cNvSpPr/>
          <p:nvPr/>
        </p:nvSpPr>
        <p:spPr>
          <a:xfrm>
            <a:off x="895350" y="43815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提升顧客體驗，避免機器人卡住導致的配送延遲</a:t>
            </a:r>
            <a:endParaRPr lang="en-US" sz="1200" dirty="0"/>
          </a:p>
        </p:txBody>
      </p:sp>
      <p:sp>
        <p:nvSpPr>
          <p:cNvPr id="58" name="Text 5"/>
          <p:cNvSpPr/>
          <p:nvPr/>
        </p:nvSpPr>
        <p:spPr>
          <a:xfrm>
            <a:off x="895350" y="4914900"/>
            <a:ext cx="274320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減少人工干預頻率，降低運營成本</a:t>
            </a:r>
            <a:endParaRPr lang="en-US" sz="1200" dirty="0"/>
          </a:p>
        </p:txBody>
      </p:sp>
      <p:sp>
        <p:nvSpPr>
          <p:cNvPr id="59" name="Text 6"/>
          <p:cNvSpPr/>
          <p:nvPr/>
        </p:nvSpPr>
        <p:spPr>
          <a:xfrm>
            <a:off x="5181600" y="1428750"/>
            <a:ext cx="164592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醫院配送系統</a:t>
            </a:r>
            <a:endParaRPr lang="en-US" sz="1800" dirty="0"/>
          </a:p>
        </p:txBody>
      </p:sp>
      <p:sp>
        <p:nvSpPr>
          <p:cNvPr id="60" name="Text 7"/>
          <p:cNvSpPr/>
          <p:nvPr/>
        </p:nvSpPr>
        <p:spPr>
          <a:xfrm>
            <a:off x="5486400" y="2362200"/>
            <a:ext cx="640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藥品配送</a:t>
            </a:r>
            <a:endParaRPr lang="en-US" sz="1050" dirty="0"/>
          </a:p>
        </p:txBody>
      </p:sp>
      <p:sp>
        <p:nvSpPr>
          <p:cNvPr id="61" name="Text 8"/>
          <p:cNvSpPr/>
          <p:nvPr/>
        </p:nvSpPr>
        <p:spPr>
          <a:xfrm>
            <a:off x="6172200" y="2362200"/>
            <a:ext cx="640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餐食配送</a:t>
            </a:r>
            <a:endParaRPr lang="en-US" sz="1050" dirty="0"/>
          </a:p>
        </p:txBody>
      </p:sp>
      <p:sp>
        <p:nvSpPr>
          <p:cNvPr id="62" name="Text 9"/>
          <p:cNvSpPr/>
          <p:nvPr/>
        </p:nvSpPr>
        <p:spPr>
          <a:xfrm>
            <a:off x="5486400" y="3238500"/>
            <a:ext cx="640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醫材配送</a:t>
            </a:r>
            <a:endParaRPr lang="en-US" sz="1050" dirty="0"/>
          </a:p>
        </p:txBody>
      </p:sp>
      <p:sp>
        <p:nvSpPr>
          <p:cNvPr id="63" name="Text 10"/>
          <p:cNvSpPr/>
          <p:nvPr/>
        </p:nvSpPr>
        <p:spPr>
          <a:xfrm>
            <a:off x="6172200" y="3238500"/>
            <a:ext cx="640080" cy="190500"/>
          </a:xfrm>
          <a:prstGeom prst="rect">
            <a:avLst/>
          </a:prstGeom>
          <a:noFill/>
          <a:ln/>
        </p:spPr>
        <p:txBody>
          <a:bodyPr wrap="square" lIns="0" tIns="0" rIns="0" bIns="0" rtlCol="0" anchor="t" vert="horz"/>
          <a:lstStyle/>
          <a:p>
            <a:pPr indent="0" marL="0">
              <a:lnSpc>
                <a:spcPts val="1500"/>
              </a:lnSpc>
              <a:buNone/>
            </a:pPr>
            <a:r>
              <a:rPr lang="en-US" sz="1050" dirty="0">
                <a:solidFill>
                  <a:srgbClr val="93C5FD"/>
                </a:solidFill>
                <a:latin typeface="ui-sans-serif" pitchFamily="34" charset="0"/>
                <a:ea typeface="ui-sans-serif" pitchFamily="34" charset="-122"/>
                <a:cs typeface="ui-sans-serif" pitchFamily="34" charset="-120"/>
              </a:rPr>
              <a:t>病房物資</a:t>
            </a:r>
            <a:endParaRPr lang="en-US" sz="1050" dirty="0"/>
          </a:p>
        </p:txBody>
      </p:sp>
      <p:sp>
        <p:nvSpPr>
          <p:cNvPr id="64" name="Text 11"/>
          <p:cNvSpPr/>
          <p:nvPr/>
        </p:nvSpPr>
        <p:spPr>
          <a:xfrm>
            <a:off x="4457700" y="3390900"/>
            <a:ext cx="3276600" cy="266700"/>
          </a:xfrm>
          <a:prstGeom prst="rect">
            <a:avLst/>
          </a:prstGeom>
          <a:noFill/>
          <a:ln/>
        </p:spPr>
        <p:txBody>
          <a:bodyPr wrap="square" lIns="0" tIns="0" rIns="0" bIns="0" rtlCol="0" anchor="t" vert="horz"/>
          <a:lstStyle/>
          <a:p>
            <a:pPr indent="0" marL="0">
              <a:lnSpc>
                <a:spcPts val="2100"/>
              </a:lnSpc>
              <a:buNone/>
            </a:pPr>
            <a:r>
              <a:rPr lang="en-US" sz="1350" b="1" dirty="0">
                <a:solidFill>
                  <a:srgbClr val="93C5FD"/>
                </a:solidFill>
                <a:latin typeface="ui-sans-serif" pitchFamily="34" charset="0"/>
                <a:ea typeface="ui-sans-serif" pitchFamily="34" charset="-122"/>
                <a:cs typeface="ui-sans-serif" pitchFamily="34" charset="-120"/>
              </a:rPr>
              <a:t>實施效果</a:t>
            </a:r>
            <a:endParaRPr lang="en-US" sz="1350" dirty="0"/>
          </a:p>
        </p:txBody>
      </p:sp>
      <p:sp>
        <p:nvSpPr>
          <p:cNvPr id="65" name="Text 12"/>
          <p:cNvSpPr/>
          <p:nvPr/>
        </p:nvSpPr>
        <p:spPr>
          <a:xfrm>
            <a:off x="4781550" y="37338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確保不同品牌醫療物資配送機器人在醫院複雜環境中的安全高效運行</a:t>
            </a:r>
            <a:endParaRPr lang="en-US" sz="1200" dirty="0"/>
          </a:p>
        </p:txBody>
      </p:sp>
      <p:sp>
        <p:nvSpPr>
          <p:cNvPr id="66" name="Text 13"/>
          <p:cNvSpPr/>
          <p:nvPr/>
        </p:nvSpPr>
        <p:spPr>
          <a:xfrm>
            <a:off x="4781550" y="42672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適用於緊急物資的優先配送，提升醫療服務效率</a:t>
            </a:r>
            <a:endParaRPr lang="en-US" sz="1200" dirty="0"/>
          </a:p>
        </p:txBody>
      </p:sp>
      <p:sp>
        <p:nvSpPr>
          <p:cNvPr id="67" name="Text 14"/>
          <p:cNvSpPr/>
          <p:nvPr/>
        </p:nvSpPr>
        <p:spPr>
          <a:xfrm>
            <a:off x="4781550" y="4800600"/>
            <a:ext cx="292608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優化醫院內物流分配，減少人力需求</a:t>
            </a:r>
            <a:endParaRPr lang="en-US" sz="1200" dirty="0"/>
          </a:p>
        </p:txBody>
      </p:sp>
      <p:sp>
        <p:nvSpPr>
          <p:cNvPr id="68" name="Text 15"/>
          <p:cNvSpPr/>
          <p:nvPr/>
        </p:nvSpPr>
        <p:spPr>
          <a:xfrm>
            <a:off x="9067800" y="1428750"/>
            <a:ext cx="1747183"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倉庫物流AGV</a:t>
            </a:r>
            <a:endParaRPr lang="en-US" sz="1800" dirty="0"/>
          </a:p>
        </p:txBody>
      </p:sp>
      <p:sp>
        <p:nvSpPr>
          <p:cNvPr id="69" name="Text 16"/>
          <p:cNvSpPr/>
          <p:nvPr/>
        </p:nvSpPr>
        <p:spPr>
          <a:xfrm>
            <a:off x="8343900" y="3390900"/>
            <a:ext cx="3276600" cy="266700"/>
          </a:xfrm>
          <a:prstGeom prst="rect">
            <a:avLst/>
          </a:prstGeom>
          <a:noFill/>
          <a:ln/>
        </p:spPr>
        <p:txBody>
          <a:bodyPr wrap="square" lIns="0" tIns="0" rIns="0" bIns="0" rtlCol="0" anchor="t" vert="horz"/>
          <a:lstStyle/>
          <a:p>
            <a:pPr indent="0" marL="0">
              <a:lnSpc>
                <a:spcPts val="2100"/>
              </a:lnSpc>
              <a:buNone/>
            </a:pPr>
            <a:r>
              <a:rPr lang="en-US" sz="1350" b="1" dirty="0">
                <a:solidFill>
                  <a:srgbClr val="86EFAC"/>
                </a:solidFill>
                <a:latin typeface="ui-sans-serif" pitchFamily="34" charset="0"/>
                <a:ea typeface="ui-sans-serif" pitchFamily="34" charset="-122"/>
                <a:cs typeface="ui-sans-serif" pitchFamily="34" charset="-120"/>
              </a:rPr>
              <a:t>實施效果</a:t>
            </a:r>
            <a:endParaRPr lang="en-US" sz="1350" dirty="0"/>
          </a:p>
        </p:txBody>
      </p:sp>
      <p:sp>
        <p:nvSpPr>
          <p:cNvPr id="70" name="Text 17"/>
          <p:cNvSpPr/>
          <p:nvPr/>
        </p:nvSpPr>
        <p:spPr>
          <a:xfrm>
            <a:off x="8667750" y="37338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協調數百台不同品牌AGV的任務分配、路徑规划和交通協調</a:t>
            </a:r>
            <a:endParaRPr lang="en-US" sz="1200" dirty="0"/>
          </a:p>
        </p:txBody>
      </p:sp>
      <p:sp>
        <p:nvSpPr>
          <p:cNvPr id="71" name="Text 18"/>
          <p:cNvSpPr/>
          <p:nvPr/>
        </p:nvSpPr>
        <p:spPr>
          <a:xfrm>
            <a:off x="8667750" y="4267200"/>
            <a:ext cx="2952750" cy="4572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實現「貨到人」揀選等複雜作業，提升物流處理能力</a:t>
            </a:r>
            <a:endParaRPr lang="en-US" sz="1200" dirty="0"/>
          </a:p>
        </p:txBody>
      </p:sp>
      <p:sp>
        <p:nvSpPr>
          <p:cNvPr id="72" name="Text 19"/>
          <p:cNvSpPr/>
          <p:nvPr/>
        </p:nvSpPr>
        <p:spPr>
          <a:xfrm>
            <a:off x="8667750" y="4800600"/>
            <a:ext cx="310896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優化倉儲空間利用，提高整體運營效率</a:t>
            </a:r>
            <a:endParaRPr lang="en-US" sz="1200" dirty="0"/>
          </a:p>
        </p:txBody>
      </p:sp>
      <p:sp>
        <p:nvSpPr>
          <p:cNvPr id="73" name="Text 20"/>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跨品牌協同系統</a:t>
            </a:r>
            <a:endParaRPr lang="en-US" sz="1200" dirty="0"/>
          </a:p>
        </p:txBody>
      </p:sp>
      <p:sp>
        <p:nvSpPr>
          <p:cNvPr id="74" name="Text 21"/>
          <p:cNvSpPr/>
          <p:nvPr/>
        </p:nvSpPr>
        <p:spPr>
          <a:xfrm>
            <a:off x="11274921" y="62484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295400"/>
            <a:ext cx="11430000" cy="38100"/>
          </a:xfrm>
          <a:prstGeom prst="rect">
            <a:avLst/>
          </a:prstGeom>
        </p:spPr>
      </p:pic>
      <p:pic>
        <p:nvPicPr>
          <p:cNvPr id="5" name="Image 3" descr="preencoded.png">    </p:cNvPr>
          <p:cNvPicPr>
            <a:picLocks noChangeAspect="1"/>
          </p:cNvPicPr>
          <p:nvPr/>
        </p:nvPicPr>
        <p:blipFill>
          <a:blip r:embed="rId4"/>
          <a:stretch>
            <a:fillRect/>
          </a:stretch>
        </p:blipFill>
        <p:spPr>
          <a:xfrm>
            <a:off x="2667000" y="1257300"/>
            <a:ext cx="114300" cy="114300"/>
          </a:xfrm>
          <a:prstGeom prst="rect">
            <a:avLst/>
          </a:prstGeom>
        </p:spPr>
      </p:pic>
      <p:pic>
        <p:nvPicPr>
          <p:cNvPr id="6" name="Image 4" descr="preencoded.png">    </p:cNvPr>
          <p:cNvPicPr>
            <a:picLocks noChangeAspect="1"/>
          </p:cNvPicPr>
          <p:nvPr/>
        </p:nvPicPr>
        <p:blipFill>
          <a:blip r:embed="rId5"/>
          <a:stretch>
            <a:fillRect/>
          </a:stretch>
        </p:blipFill>
        <p:spPr>
          <a:xfrm>
            <a:off x="6096000" y="1257300"/>
            <a:ext cx="114300" cy="114300"/>
          </a:xfrm>
          <a:prstGeom prst="rect">
            <a:avLst/>
          </a:prstGeom>
        </p:spPr>
      </p:pic>
      <p:pic>
        <p:nvPicPr>
          <p:cNvPr id="7" name="Image 5" descr="preencoded.png">    </p:cNvPr>
          <p:cNvPicPr>
            <a:picLocks noChangeAspect="1"/>
          </p:cNvPicPr>
          <p:nvPr/>
        </p:nvPicPr>
        <p:blipFill>
          <a:blip r:embed="rId6"/>
          <a:stretch>
            <a:fillRect/>
          </a:stretch>
        </p:blipFill>
        <p:spPr>
          <a:xfrm>
            <a:off x="9525000" y="1257300"/>
            <a:ext cx="114300" cy="114300"/>
          </a:xfrm>
          <a:prstGeom prst="rect">
            <a:avLst/>
          </a:prstGeom>
        </p:spPr>
      </p:pic>
      <p:pic>
        <p:nvPicPr>
          <p:cNvPr id="8" name="Image 6" descr="preencoded.png">    </p:cNvPr>
          <p:cNvPicPr>
            <a:picLocks noChangeAspect="1"/>
          </p:cNvPicPr>
          <p:nvPr/>
        </p:nvPicPr>
        <p:blipFill>
          <a:blip r:embed="rId7"/>
          <a:stretch>
            <a:fillRect/>
          </a:stretch>
        </p:blipFill>
        <p:spPr>
          <a:xfrm>
            <a:off x="381000" y="1676400"/>
            <a:ext cx="3657600" cy="2628900"/>
          </a:xfrm>
          <a:prstGeom prst="rect">
            <a:avLst/>
          </a:prstGeom>
        </p:spPr>
      </p:pic>
      <p:pic>
        <p:nvPicPr>
          <p:cNvPr id="9" name="Image 7" descr="preencoded.png">    </p:cNvPr>
          <p:cNvPicPr>
            <a:picLocks noChangeAspect="1"/>
          </p:cNvPicPr>
          <p:nvPr/>
        </p:nvPicPr>
        <p:blipFill>
          <a:blip r:embed="rId8"/>
          <a:stretch>
            <a:fillRect/>
          </a:stretch>
        </p:blipFill>
        <p:spPr>
          <a:xfrm>
            <a:off x="571500" y="1866900"/>
            <a:ext cx="381000" cy="381000"/>
          </a:xfrm>
          <a:prstGeom prst="rect">
            <a:avLst/>
          </a:prstGeom>
        </p:spPr>
      </p:pic>
      <p:pic>
        <p:nvPicPr>
          <p:cNvPr id="10" name="Image 8" descr="preencoded.png">    </p:cNvPr>
          <p:cNvPicPr>
            <a:picLocks noChangeAspect="1"/>
          </p:cNvPicPr>
          <p:nvPr/>
        </p:nvPicPr>
        <p:blipFill>
          <a:blip r:embed="rId9"/>
          <a:stretch>
            <a:fillRect/>
          </a:stretch>
        </p:blipFill>
        <p:spPr>
          <a:xfrm>
            <a:off x="685800" y="1981200"/>
            <a:ext cx="152400" cy="152400"/>
          </a:xfrm>
          <a:prstGeom prst="rect">
            <a:avLst/>
          </a:prstGeom>
        </p:spPr>
      </p:pic>
      <p:pic>
        <p:nvPicPr>
          <p:cNvPr id="11" name="Image 9" descr="preencoded.png">    </p:cNvPr>
          <p:cNvPicPr>
            <a:picLocks noChangeAspect="1"/>
          </p:cNvPicPr>
          <p:nvPr/>
        </p:nvPicPr>
        <p:blipFill>
          <a:blip r:embed="rId10"/>
          <a:stretch>
            <a:fillRect/>
          </a:stretch>
        </p:blipFill>
        <p:spPr>
          <a:xfrm>
            <a:off x="762000" y="2438400"/>
            <a:ext cx="114300" cy="152400"/>
          </a:xfrm>
          <a:prstGeom prst="rect">
            <a:avLst/>
          </a:prstGeom>
        </p:spPr>
      </p:pic>
      <p:pic>
        <p:nvPicPr>
          <p:cNvPr id="12" name="Image 10" descr="preencoded.png">    </p:cNvPr>
          <p:cNvPicPr>
            <a:picLocks noChangeAspect="1"/>
          </p:cNvPicPr>
          <p:nvPr/>
        </p:nvPicPr>
        <p:blipFill>
          <a:blip r:embed="rId11"/>
          <a:stretch>
            <a:fillRect/>
          </a:stretch>
        </p:blipFill>
        <p:spPr>
          <a:xfrm>
            <a:off x="762000" y="2781300"/>
            <a:ext cx="190500" cy="152400"/>
          </a:xfrm>
          <a:prstGeom prst="rect">
            <a:avLst/>
          </a:prstGeom>
        </p:spPr>
      </p:pic>
      <p:pic>
        <p:nvPicPr>
          <p:cNvPr id="13" name="Image 11" descr="preencoded.png">    </p:cNvPr>
          <p:cNvPicPr>
            <a:picLocks noChangeAspect="1"/>
          </p:cNvPicPr>
          <p:nvPr/>
        </p:nvPicPr>
        <p:blipFill>
          <a:blip r:embed="rId12"/>
          <a:stretch>
            <a:fillRect/>
          </a:stretch>
        </p:blipFill>
        <p:spPr>
          <a:xfrm>
            <a:off x="762000" y="3124200"/>
            <a:ext cx="152400" cy="152400"/>
          </a:xfrm>
          <a:prstGeom prst="rect">
            <a:avLst/>
          </a:prstGeom>
        </p:spPr>
      </p:pic>
      <p:pic>
        <p:nvPicPr>
          <p:cNvPr id="14" name="Image 12" descr="preencoded.png">    </p:cNvPr>
          <p:cNvPicPr>
            <a:picLocks noChangeAspect="1"/>
          </p:cNvPicPr>
          <p:nvPr/>
        </p:nvPicPr>
        <p:blipFill>
          <a:blip r:embed="rId13"/>
          <a:stretch>
            <a:fillRect/>
          </a:stretch>
        </p:blipFill>
        <p:spPr>
          <a:xfrm>
            <a:off x="762000" y="3467100"/>
            <a:ext cx="152400" cy="152400"/>
          </a:xfrm>
          <a:prstGeom prst="rect">
            <a:avLst/>
          </a:prstGeom>
        </p:spPr>
      </p:pic>
      <p:pic>
        <p:nvPicPr>
          <p:cNvPr id="15" name="Image 13" descr="preencoded.png">    </p:cNvPr>
          <p:cNvPicPr>
            <a:picLocks noChangeAspect="1"/>
          </p:cNvPicPr>
          <p:nvPr/>
        </p:nvPicPr>
        <p:blipFill>
          <a:blip r:embed="rId14"/>
          <a:stretch>
            <a:fillRect/>
          </a:stretch>
        </p:blipFill>
        <p:spPr>
          <a:xfrm>
            <a:off x="762000" y="3810000"/>
            <a:ext cx="133350" cy="152400"/>
          </a:xfrm>
          <a:prstGeom prst="rect">
            <a:avLst/>
          </a:prstGeom>
        </p:spPr>
      </p:pic>
      <p:pic>
        <p:nvPicPr>
          <p:cNvPr id="16" name="Image 14" descr="preencoded.png">    </p:cNvPr>
          <p:cNvPicPr>
            <a:picLocks noChangeAspect="1"/>
          </p:cNvPicPr>
          <p:nvPr/>
        </p:nvPicPr>
        <p:blipFill>
          <a:blip r:embed="rId15"/>
          <a:stretch>
            <a:fillRect/>
          </a:stretch>
        </p:blipFill>
        <p:spPr>
          <a:xfrm>
            <a:off x="4267200" y="1676400"/>
            <a:ext cx="3657600" cy="2628900"/>
          </a:xfrm>
          <a:prstGeom prst="rect">
            <a:avLst/>
          </a:prstGeom>
        </p:spPr>
      </p:pic>
      <p:pic>
        <p:nvPicPr>
          <p:cNvPr id="17" name="Image 15" descr="preencoded.png">    </p:cNvPr>
          <p:cNvPicPr>
            <a:picLocks noChangeAspect="1"/>
          </p:cNvPicPr>
          <p:nvPr/>
        </p:nvPicPr>
        <p:blipFill>
          <a:blip r:embed="rId16"/>
          <a:stretch>
            <a:fillRect/>
          </a:stretch>
        </p:blipFill>
        <p:spPr>
          <a:xfrm>
            <a:off x="4457700" y="1866900"/>
            <a:ext cx="381000" cy="381000"/>
          </a:xfrm>
          <a:prstGeom prst="rect">
            <a:avLst/>
          </a:prstGeom>
        </p:spPr>
      </p:pic>
      <p:pic>
        <p:nvPicPr>
          <p:cNvPr id="18" name="Image 16" descr="preencoded.png">    </p:cNvPr>
          <p:cNvPicPr>
            <a:picLocks noChangeAspect="1"/>
          </p:cNvPicPr>
          <p:nvPr/>
        </p:nvPicPr>
        <p:blipFill>
          <a:blip r:embed="rId17"/>
          <a:stretch>
            <a:fillRect/>
          </a:stretch>
        </p:blipFill>
        <p:spPr>
          <a:xfrm>
            <a:off x="4572000" y="1981200"/>
            <a:ext cx="152400" cy="152400"/>
          </a:xfrm>
          <a:prstGeom prst="rect">
            <a:avLst/>
          </a:prstGeom>
        </p:spPr>
      </p:pic>
      <p:pic>
        <p:nvPicPr>
          <p:cNvPr id="19" name="Image 17" descr="preencoded.png">    </p:cNvPr>
          <p:cNvPicPr>
            <a:picLocks noChangeAspect="1"/>
          </p:cNvPicPr>
          <p:nvPr/>
        </p:nvPicPr>
        <p:blipFill>
          <a:blip r:embed="rId18"/>
          <a:stretch>
            <a:fillRect/>
          </a:stretch>
        </p:blipFill>
        <p:spPr>
          <a:xfrm>
            <a:off x="4648200" y="2438400"/>
            <a:ext cx="190500" cy="152400"/>
          </a:xfrm>
          <a:prstGeom prst="rect">
            <a:avLst/>
          </a:prstGeom>
        </p:spPr>
      </p:pic>
      <p:pic>
        <p:nvPicPr>
          <p:cNvPr id="20" name="Image 18" descr="preencoded.png">    </p:cNvPr>
          <p:cNvPicPr>
            <a:picLocks noChangeAspect="1"/>
          </p:cNvPicPr>
          <p:nvPr/>
        </p:nvPicPr>
        <p:blipFill>
          <a:blip r:embed="rId19"/>
          <a:stretch>
            <a:fillRect/>
          </a:stretch>
        </p:blipFill>
        <p:spPr>
          <a:xfrm>
            <a:off x="4648200" y="2781300"/>
            <a:ext cx="190500" cy="152400"/>
          </a:xfrm>
          <a:prstGeom prst="rect">
            <a:avLst/>
          </a:prstGeom>
        </p:spPr>
      </p:pic>
      <p:pic>
        <p:nvPicPr>
          <p:cNvPr id="21" name="Image 19" descr="preencoded.png">    </p:cNvPr>
          <p:cNvPicPr>
            <a:picLocks noChangeAspect="1"/>
          </p:cNvPicPr>
          <p:nvPr/>
        </p:nvPicPr>
        <p:blipFill>
          <a:blip r:embed="rId20"/>
          <a:stretch>
            <a:fillRect/>
          </a:stretch>
        </p:blipFill>
        <p:spPr>
          <a:xfrm>
            <a:off x="4648200" y="3124200"/>
            <a:ext cx="171450" cy="152400"/>
          </a:xfrm>
          <a:prstGeom prst="rect">
            <a:avLst/>
          </a:prstGeom>
        </p:spPr>
      </p:pic>
      <p:pic>
        <p:nvPicPr>
          <p:cNvPr id="22" name="Image 20" descr="preencoded.png">    </p:cNvPr>
          <p:cNvPicPr>
            <a:picLocks noChangeAspect="1"/>
          </p:cNvPicPr>
          <p:nvPr/>
        </p:nvPicPr>
        <p:blipFill>
          <a:blip r:embed="rId21"/>
          <a:stretch>
            <a:fillRect/>
          </a:stretch>
        </p:blipFill>
        <p:spPr>
          <a:xfrm>
            <a:off x="4648200" y="3467100"/>
            <a:ext cx="133350" cy="152400"/>
          </a:xfrm>
          <a:prstGeom prst="rect">
            <a:avLst/>
          </a:prstGeom>
        </p:spPr>
      </p:pic>
      <p:pic>
        <p:nvPicPr>
          <p:cNvPr id="23" name="Image 21" descr="preencoded.png">    </p:cNvPr>
          <p:cNvPicPr>
            <a:picLocks noChangeAspect="1"/>
          </p:cNvPicPr>
          <p:nvPr/>
        </p:nvPicPr>
        <p:blipFill>
          <a:blip r:embed="rId22"/>
          <a:stretch>
            <a:fillRect/>
          </a:stretch>
        </p:blipFill>
        <p:spPr>
          <a:xfrm>
            <a:off x="8153400" y="1676400"/>
            <a:ext cx="3657600" cy="2628900"/>
          </a:xfrm>
          <a:prstGeom prst="rect">
            <a:avLst/>
          </a:prstGeom>
        </p:spPr>
      </p:pic>
      <p:pic>
        <p:nvPicPr>
          <p:cNvPr id="24" name="Image 22" descr="preencoded.png">    </p:cNvPr>
          <p:cNvPicPr>
            <a:picLocks noChangeAspect="1"/>
          </p:cNvPicPr>
          <p:nvPr/>
        </p:nvPicPr>
        <p:blipFill>
          <a:blip r:embed="rId23"/>
          <a:stretch>
            <a:fillRect/>
          </a:stretch>
        </p:blipFill>
        <p:spPr>
          <a:xfrm>
            <a:off x="8343900" y="1866900"/>
            <a:ext cx="381000" cy="381000"/>
          </a:xfrm>
          <a:prstGeom prst="rect">
            <a:avLst/>
          </a:prstGeom>
        </p:spPr>
      </p:pic>
      <p:pic>
        <p:nvPicPr>
          <p:cNvPr id="25" name="Image 23" descr="preencoded.png">    </p:cNvPr>
          <p:cNvPicPr>
            <a:picLocks noChangeAspect="1"/>
          </p:cNvPicPr>
          <p:nvPr/>
        </p:nvPicPr>
        <p:blipFill>
          <a:blip r:embed="rId24"/>
          <a:stretch>
            <a:fillRect/>
          </a:stretch>
        </p:blipFill>
        <p:spPr>
          <a:xfrm>
            <a:off x="8448675" y="1981200"/>
            <a:ext cx="171450" cy="152400"/>
          </a:xfrm>
          <a:prstGeom prst="rect">
            <a:avLst/>
          </a:prstGeom>
        </p:spPr>
      </p:pic>
      <p:pic>
        <p:nvPicPr>
          <p:cNvPr id="26" name="Image 24" descr="preencoded.png">    </p:cNvPr>
          <p:cNvPicPr>
            <a:picLocks noChangeAspect="1"/>
          </p:cNvPicPr>
          <p:nvPr/>
        </p:nvPicPr>
        <p:blipFill>
          <a:blip r:embed="rId25"/>
          <a:stretch>
            <a:fillRect/>
          </a:stretch>
        </p:blipFill>
        <p:spPr>
          <a:xfrm>
            <a:off x="8534400" y="2438400"/>
            <a:ext cx="133350" cy="152400"/>
          </a:xfrm>
          <a:prstGeom prst="rect">
            <a:avLst/>
          </a:prstGeom>
        </p:spPr>
      </p:pic>
      <p:pic>
        <p:nvPicPr>
          <p:cNvPr id="27" name="Image 25" descr="preencoded.png">    </p:cNvPr>
          <p:cNvPicPr>
            <a:picLocks noChangeAspect="1"/>
          </p:cNvPicPr>
          <p:nvPr/>
        </p:nvPicPr>
        <p:blipFill>
          <a:blip r:embed="rId26"/>
          <a:stretch>
            <a:fillRect/>
          </a:stretch>
        </p:blipFill>
        <p:spPr>
          <a:xfrm>
            <a:off x="8534400" y="2781300"/>
            <a:ext cx="152400" cy="152400"/>
          </a:xfrm>
          <a:prstGeom prst="rect">
            <a:avLst/>
          </a:prstGeom>
        </p:spPr>
      </p:pic>
      <p:pic>
        <p:nvPicPr>
          <p:cNvPr id="28" name="Image 26" descr="preencoded.png">    </p:cNvPr>
          <p:cNvPicPr>
            <a:picLocks noChangeAspect="1"/>
          </p:cNvPicPr>
          <p:nvPr/>
        </p:nvPicPr>
        <p:blipFill>
          <a:blip r:embed="rId27"/>
          <a:stretch>
            <a:fillRect/>
          </a:stretch>
        </p:blipFill>
        <p:spPr>
          <a:xfrm>
            <a:off x="8534400" y="3352800"/>
            <a:ext cx="114300" cy="152400"/>
          </a:xfrm>
          <a:prstGeom prst="rect">
            <a:avLst/>
          </a:prstGeom>
        </p:spPr>
      </p:pic>
      <p:pic>
        <p:nvPicPr>
          <p:cNvPr id="29" name="Image 27" descr="preencoded.png">    </p:cNvPr>
          <p:cNvPicPr>
            <a:picLocks noChangeAspect="1"/>
          </p:cNvPicPr>
          <p:nvPr/>
        </p:nvPicPr>
        <p:blipFill>
          <a:blip r:embed="rId28"/>
          <a:stretch>
            <a:fillRect/>
          </a:stretch>
        </p:blipFill>
        <p:spPr>
          <a:xfrm>
            <a:off x="8534400" y="3695700"/>
            <a:ext cx="114300" cy="152400"/>
          </a:xfrm>
          <a:prstGeom prst="rect">
            <a:avLst/>
          </a:prstGeom>
        </p:spPr>
      </p:pic>
      <p:pic>
        <p:nvPicPr>
          <p:cNvPr id="30" name="Image 28" descr="preencoded.png">    </p:cNvPr>
          <p:cNvPicPr>
            <a:picLocks noChangeAspect="1"/>
          </p:cNvPicPr>
          <p:nvPr/>
        </p:nvPicPr>
        <p:blipFill>
          <a:blip r:embed="rId29"/>
          <a:stretch>
            <a:fillRect/>
          </a:stretch>
        </p:blipFill>
        <p:spPr>
          <a:xfrm>
            <a:off x="381000" y="4533900"/>
            <a:ext cx="11430000" cy="762000"/>
          </a:xfrm>
          <a:prstGeom prst="rect">
            <a:avLst/>
          </a:prstGeom>
        </p:spPr>
      </p:pic>
      <p:pic>
        <p:nvPicPr>
          <p:cNvPr id="31" name="Image 29" descr="preencoded.png">    </p:cNvPr>
          <p:cNvPicPr>
            <a:picLocks noChangeAspect="1"/>
          </p:cNvPicPr>
          <p:nvPr/>
        </p:nvPicPr>
        <p:blipFill>
          <a:blip r:embed="rId30"/>
          <a:stretch>
            <a:fillRect/>
          </a:stretch>
        </p:blipFill>
        <p:spPr>
          <a:xfrm>
            <a:off x="533400" y="4781550"/>
            <a:ext cx="219075" cy="266700"/>
          </a:xfrm>
          <a:prstGeom prst="rect">
            <a:avLst/>
          </a:prstGeom>
        </p:spPr>
      </p:pic>
      <p:pic>
        <p:nvPicPr>
          <p:cNvPr id="32" name="Image 30" descr="preencoded.png">    </p:cNvPr>
          <p:cNvPicPr>
            <a:picLocks noChangeAspect="1"/>
          </p:cNvPicPr>
          <p:nvPr/>
        </p:nvPicPr>
        <p:blipFill>
          <a:blip r:embed="rId31"/>
          <a:stretch>
            <a:fillRect/>
          </a:stretch>
        </p:blipFill>
        <p:spPr>
          <a:xfrm>
            <a:off x="1842195" y="4686300"/>
            <a:ext cx="6796088" cy="367754"/>
          </a:xfrm>
          <a:prstGeom prst="rect">
            <a:avLst/>
          </a:prstGeom>
        </p:spPr>
      </p:pic>
      <p:pic>
        <p:nvPicPr>
          <p:cNvPr id="33" name="Image 31" descr="preencoded.png">    </p:cNvPr>
          <p:cNvPicPr>
            <a:picLocks noChangeAspect="1"/>
          </p:cNvPicPr>
          <p:nvPr/>
        </p:nvPicPr>
        <p:blipFill>
          <a:blip r:embed="rId32"/>
          <a:stretch>
            <a:fillRect/>
          </a:stretch>
        </p:blipFill>
        <p:spPr>
          <a:xfrm>
            <a:off x="8790682" y="4829175"/>
            <a:ext cx="152400" cy="152400"/>
          </a:xfrm>
          <a:prstGeom prst="rect">
            <a:avLst/>
          </a:prstGeom>
        </p:spPr>
      </p:pic>
      <p:sp>
        <p:nvSpPr>
          <p:cNvPr id="34"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開發路線图</a:t>
            </a:r>
            <a:endParaRPr lang="en-US" sz="2700" dirty="0"/>
          </a:p>
        </p:txBody>
      </p:sp>
      <p:sp>
        <p:nvSpPr>
          <p:cNvPr id="35" name="Text 1"/>
          <p:cNvSpPr/>
          <p:nvPr/>
        </p:nvSpPr>
        <p:spPr>
          <a:xfrm>
            <a:off x="1066800" y="1924050"/>
            <a:ext cx="902613"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已完成</a:t>
            </a:r>
            <a:endParaRPr lang="en-US" sz="1500" dirty="0"/>
          </a:p>
        </p:txBody>
      </p:sp>
      <p:sp>
        <p:nvSpPr>
          <p:cNvPr id="36" name="Text 2"/>
          <p:cNvSpPr/>
          <p:nvPr/>
        </p:nvSpPr>
        <p:spPr>
          <a:xfrm>
            <a:off x="952500" y="24003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協調協議设计</a:t>
            </a:r>
            <a:endParaRPr lang="en-US" sz="1200" dirty="0"/>
          </a:p>
        </p:txBody>
      </p:sp>
      <p:sp>
        <p:nvSpPr>
          <p:cNvPr id="37" name="Text 3"/>
          <p:cNvSpPr/>
          <p:nvPr/>
        </p:nvSpPr>
        <p:spPr>
          <a:xfrm>
            <a:off x="1028700" y="2743200"/>
            <a:ext cx="107067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MQTT通訊層</a:t>
            </a:r>
            <a:endParaRPr lang="en-US" sz="1200" dirty="0"/>
          </a:p>
        </p:txBody>
      </p:sp>
      <p:sp>
        <p:nvSpPr>
          <p:cNvPr id="38" name="Text 4"/>
          <p:cNvSpPr/>
          <p:nvPr/>
        </p:nvSpPr>
        <p:spPr>
          <a:xfrm>
            <a:off x="990600" y="30861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基本衝突檢測</a:t>
            </a:r>
            <a:endParaRPr lang="en-US" sz="1200" dirty="0"/>
          </a:p>
        </p:txBody>
      </p:sp>
      <p:sp>
        <p:nvSpPr>
          <p:cNvPr id="39" name="Text 5"/>
          <p:cNvSpPr/>
          <p:nvPr/>
        </p:nvSpPr>
        <p:spPr>
          <a:xfrm>
            <a:off x="990600" y="34290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仿真環境搭建</a:t>
            </a:r>
            <a:endParaRPr lang="en-US" sz="1200" dirty="0"/>
          </a:p>
        </p:txBody>
      </p:sp>
      <p:sp>
        <p:nvSpPr>
          <p:cNvPr id="40" name="Text 6"/>
          <p:cNvSpPr/>
          <p:nvPr/>
        </p:nvSpPr>
        <p:spPr>
          <a:xfrm>
            <a:off x="971550" y="37719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核心文檔撰寫</a:t>
            </a:r>
            <a:endParaRPr lang="en-US" sz="1200" dirty="0"/>
          </a:p>
        </p:txBody>
      </p:sp>
      <p:sp>
        <p:nvSpPr>
          <p:cNvPr id="41" name="Text 7"/>
          <p:cNvSpPr/>
          <p:nvPr/>
        </p:nvSpPr>
        <p:spPr>
          <a:xfrm>
            <a:off x="4953000" y="1924050"/>
            <a:ext cx="902613"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進行中</a:t>
            </a:r>
            <a:endParaRPr lang="en-US" sz="1500" dirty="0"/>
          </a:p>
        </p:txBody>
      </p:sp>
      <p:sp>
        <p:nvSpPr>
          <p:cNvPr id="42" name="Text 8"/>
          <p:cNvSpPr/>
          <p:nvPr/>
        </p:nvSpPr>
        <p:spPr>
          <a:xfrm>
            <a:off x="4914900" y="2400300"/>
            <a:ext cx="1463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普渡機器人適配器</a:t>
            </a:r>
            <a:endParaRPr lang="en-US" sz="1200" dirty="0"/>
          </a:p>
        </p:txBody>
      </p:sp>
      <p:sp>
        <p:nvSpPr>
          <p:cNvPr id="43" name="Text 9"/>
          <p:cNvSpPr/>
          <p:nvPr/>
        </p:nvSpPr>
        <p:spPr>
          <a:xfrm>
            <a:off x="4914900" y="2743200"/>
            <a:ext cx="1463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擎朗機器人適配器</a:t>
            </a:r>
            <a:endParaRPr lang="en-US" sz="1200" dirty="0"/>
          </a:p>
        </p:txBody>
      </p:sp>
      <p:sp>
        <p:nvSpPr>
          <p:cNvPr id="44" name="Text 10"/>
          <p:cNvSpPr/>
          <p:nvPr/>
        </p:nvSpPr>
        <p:spPr>
          <a:xfrm>
            <a:off x="4895850" y="3086100"/>
            <a:ext cx="11303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Web監控介面</a:t>
            </a:r>
            <a:endParaRPr lang="en-US" sz="1200" dirty="0"/>
          </a:p>
        </p:txBody>
      </p:sp>
      <p:sp>
        <p:nvSpPr>
          <p:cNvPr id="45" name="Text 11"/>
          <p:cNvSpPr/>
          <p:nvPr/>
        </p:nvSpPr>
        <p:spPr>
          <a:xfrm>
            <a:off x="4857750" y="3429000"/>
            <a:ext cx="10972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實際場景測試</a:t>
            </a:r>
            <a:endParaRPr lang="en-US" sz="1200" dirty="0"/>
          </a:p>
        </p:txBody>
      </p:sp>
      <p:sp>
        <p:nvSpPr>
          <p:cNvPr id="46" name="Text 12"/>
          <p:cNvSpPr/>
          <p:nvPr/>
        </p:nvSpPr>
        <p:spPr>
          <a:xfrm>
            <a:off x="8839200" y="1924050"/>
            <a:ext cx="1131213" cy="266700"/>
          </a:xfrm>
          <a:prstGeom prst="rect">
            <a:avLst/>
          </a:prstGeom>
          <a:noFill/>
          <a:ln/>
        </p:spPr>
        <p:txBody>
          <a:bodyPr wrap="square" lIns="0" tIns="0" rIns="0" bIns="0" rtlCol="0" anchor="t" vert="horz"/>
          <a:lstStyle/>
          <a:p>
            <a:pP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 未來規劃</a:t>
            </a:r>
            <a:endParaRPr lang="en-US" sz="1500" dirty="0"/>
          </a:p>
        </p:txBody>
      </p:sp>
      <p:sp>
        <p:nvSpPr>
          <p:cNvPr id="47" name="Text 13"/>
          <p:cNvSpPr/>
          <p:nvPr/>
        </p:nvSpPr>
        <p:spPr>
          <a:xfrm>
            <a:off x="8743950" y="2400300"/>
            <a:ext cx="3340239" cy="228600"/>
          </a:xfrm>
          <a:prstGeom prst="rect">
            <a:avLst/>
          </a:prstGeom>
          <a:noFill/>
          <a:ln/>
        </p:spPr>
        <p:txBody>
          <a:bodyPr wrap="square" lIns="0" tIns="0" rIns="0" bIns="0" rtlCol="0" anchor="t" vert="horz"/>
          <a:lstStyle/>
          <a:p>
            <a:pPr algn="l" indent="0" marL="0">
              <a:lnSpc>
                <a:spcPts val="1800"/>
              </a:lnSpc>
              <a:buNone/>
            </a:pPr>
            <a:r>
              <a:rPr lang="en-US" sz="1200" b="1" dirty="0">
                <a:solidFill>
                  <a:srgbClr val="D1D5DB"/>
                </a:solidFill>
                <a:latin typeface="ui-sans-serif" pitchFamily="34" charset="0"/>
                <a:ea typeface="ui-sans-serif" pitchFamily="34" charset="-122"/>
                <a:cs typeface="ui-sans-serif" pitchFamily="34" charset="-120"/>
              </a:rPr>
              <a:t>Q1:</a:t>
            </a:r>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完成主流品牌適配器，開始餐廳試點</a:t>
            </a:r>
            <a:endParaRPr lang="en-US" sz="1200" dirty="0"/>
          </a:p>
        </p:txBody>
      </p:sp>
      <p:sp>
        <p:nvSpPr>
          <p:cNvPr id="48" name="Text 14"/>
          <p:cNvSpPr/>
          <p:nvPr/>
        </p:nvSpPr>
        <p:spPr>
          <a:xfrm>
            <a:off x="8763000" y="2743200"/>
            <a:ext cx="2857500" cy="457200"/>
          </a:xfrm>
          <a:prstGeom prst="rect">
            <a:avLst/>
          </a:prstGeom>
          <a:noFill/>
          <a:ln/>
        </p:spPr>
        <p:txBody>
          <a:bodyPr wrap="square" lIns="0" tIns="0" rIns="0" bIns="0" rtlCol="0" anchor="t" vert="horz"/>
          <a:lstStyle/>
          <a:p>
            <a:pPr algn="l" indent="0" marL="0">
              <a:lnSpc>
                <a:spcPts val="1800"/>
              </a:lnSpc>
              <a:buNone/>
            </a:pPr>
            <a:r>
              <a:rPr lang="en-US" sz="1200" b="1" dirty="0">
                <a:solidFill>
                  <a:srgbClr val="D1D5DB"/>
                </a:solidFill>
                <a:latin typeface="ui-sans-serif" pitchFamily="34" charset="0"/>
                <a:ea typeface="ui-sans-serif" pitchFamily="34" charset="-122"/>
                <a:cs typeface="ui-sans-serif" pitchFamily="34" charset="-120"/>
              </a:rPr>
              <a:t>Q2:</a:t>
            </a:r>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機器學習增強衝突預測，提升協調智能</a:t>
            </a:r>
            <a:endParaRPr lang="en-US" sz="1200" dirty="0"/>
          </a:p>
        </p:txBody>
      </p:sp>
      <p:sp>
        <p:nvSpPr>
          <p:cNvPr id="49" name="Text 15"/>
          <p:cNvSpPr/>
          <p:nvPr/>
        </p:nvSpPr>
        <p:spPr>
          <a:xfrm>
            <a:off x="8724900" y="3314700"/>
            <a:ext cx="2975372" cy="228600"/>
          </a:xfrm>
          <a:prstGeom prst="rect">
            <a:avLst/>
          </a:prstGeom>
          <a:noFill/>
          <a:ln/>
        </p:spPr>
        <p:txBody>
          <a:bodyPr wrap="square" lIns="0" tIns="0" rIns="0" bIns="0" rtlCol="0" anchor="t" vert="horz"/>
          <a:lstStyle/>
          <a:p>
            <a:pPr algn="l" indent="0" marL="0">
              <a:lnSpc>
                <a:spcPts val="1800"/>
              </a:lnSpc>
              <a:buNone/>
            </a:pPr>
            <a:r>
              <a:rPr lang="en-US" sz="1200" b="1" dirty="0">
                <a:solidFill>
                  <a:srgbClr val="D1D5DB"/>
                </a:solidFill>
                <a:latin typeface="ui-sans-serif" pitchFamily="34" charset="0"/>
                <a:ea typeface="ui-sans-serif" pitchFamily="34" charset="-122"/>
                <a:cs typeface="ui-sans-serif" pitchFamily="34" charset="-120"/>
              </a:rPr>
              <a:t>Q3:</a:t>
            </a:r>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V2X整合，與智慧建築系統協同</a:t>
            </a:r>
            <a:endParaRPr lang="en-US" sz="1200" dirty="0"/>
          </a:p>
        </p:txBody>
      </p:sp>
      <p:sp>
        <p:nvSpPr>
          <p:cNvPr id="50" name="Text 16"/>
          <p:cNvSpPr/>
          <p:nvPr/>
        </p:nvSpPr>
        <p:spPr>
          <a:xfrm>
            <a:off x="8724900" y="3657600"/>
            <a:ext cx="2895600" cy="457200"/>
          </a:xfrm>
          <a:prstGeom prst="rect">
            <a:avLst/>
          </a:prstGeom>
          <a:noFill/>
          <a:ln/>
        </p:spPr>
        <p:txBody>
          <a:bodyPr wrap="square" lIns="0" tIns="0" rIns="0" bIns="0" rtlCol="0" anchor="t" vert="horz"/>
          <a:lstStyle/>
          <a:p>
            <a:pPr algn="l" indent="0" marL="0">
              <a:lnSpc>
                <a:spcPts val="1800"/>
              </a:lnSpc>
              <a:buNone/>
            </a:pPr>
            <a:r>
              <a:rPr lang="en-US" sz="1200" b="1" dirty="0">
                <a:solidFill>
                  <a:srgbClr val="D1D5DB"/>
                </a:solidFill>
                <a:latin typeface="ui-sans-serif" pitchFamily="34" charset="0"/>
                <a:ea typeface="ui-sans-serif" pitchFamily="34" charset="-122"/>
                <a:cs typeface="ui-sans-serif" pitchFamily="34" charset="-120"/>
              </a:rPr>
              <a:t>Q4:</a:t>
            </a:r>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 提交IEEE/ISO標準提案，推動行業標準</a:t>
            </a:r>
            <a:endParaRPr lang="en-US" sz="1200" dirty="0"/>
          </a:p>
        </p:txBody>
      </p:sp>
      <p:sp>
        <p:nvSpPr>
          <p:cNvPr id="51" name="Text 17"/>
          <p:cNvSpPr/>
          <p:nvPr/>
        </p:nvSpPr>
        <p:spPr>
          <a:xfrm>
            <a:off x="866775" y="4800600"/>
            <a:ext cx="987623" cy="228600"/>
          </a:xfrm>
          <a:prstGeom prst="rect">
            <a:avLst/>
          </a:prstGeom>
          <a:noFill/>
          <a:ln/>
        </p:spPr>
        <p:txBody>
          <a:bodyPr wrap="square" lIns="0" tIns="0" rIns="0" bIns="0" rtlCol="0" anchor="t" vert="horz"/>
          <a:lstStyle/>
          <a:p>
            <a:pPr indent="0" marL="0">
              <a:lnSpc>
                <a:spcPts val="1800"/>
              </a:lnSpc>
              <a:buNone/>
            </a:pPr>
            <a:r>
              <a:rPr lang="en-US" sz="1200" b="1" dirty="0">
                <a:solidFill>
                  <a:srgbClr val="FFFFFF"/>
                </a:solidFill>
                <a:latin typeface="ui-sans-serif" pitchFamily="34" charset="0"/>
                <a:ea typeface="ui-sans-serif" pitchFamily="34" charset="-122"/>
                <a:cs typeface="ui-sans-serif" pitchFamily="34" charset="-120"/>
              </a:rPr>
              <a:t>關鍵里程碑:</a:t>
            </a:r>
            <a:endParaRPr lang="en-US" sz="1200" dirty="0"/>
          </a:p>
        </p:txBody>
      </p:sp>
      <p:sp>
        <p:nvSpPr>
          <p:cNvPr id="52" name="Text 18"/>
          <p:cNvSpPr/>
          <p:nvPr/>
        </p:nvSpPr>
        <p:spPr>
          <a:xfrm>
            <a:off x="9067800" y="4819650"/>
            <a:ext cx="3108960" cy="180975"/>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從協議設計到行業標準的完整發展規劃</a:t>
            </a:r>
            <a:endParaRPr lang="en-US" sz="1200" dirty="0"/>
          </a:p>
        </p:txBody>
      </p:sp>
      <p:sp>
        <p:nvSpPr>
          <p:cNvPr id="53" name="Text 19"/>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54" name="Text 20"/>
          <p:cNvSpPr/>
          <p:nvPr/>
        </p:nvSpPr>
        <p:spPr>
          <a:xfrm>
            <a:off x="11274921" y="62484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702945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181100"/>
            <a:ext cx="3657600" cy="2390775"/>
          </a:xfrm>
          <a:prstGeom prst="rect">
            <a:avLst/>
          </a:prstGeom>
        </p:spPr>
      </p:pic>
      <p:pic>
        <p:nvPicPr>
          <p:cNvPr id="5" name="Image 3" descr="preencoded.png">    </p:cNvPr>
          <p:cNvPicPr>
            <a:picLocks noChangeAspect="1"/>
          </p:cNvPicPr>
          <p:nvPr/>
        </p:nvPicPr>
        <p:blipFill>
          <a:blip r:embed="rId4"/>
          <a:stretch>
            <a:fillRect/>
          </a:stretch>
        </p:blipFill>
        <p:spPr>
          <a:xfrm>
            <a:off x="1924050" y="1409700"/>
            <a:ext cx="571500" cy="571500"/>
          </a:xfrm>
          <a:prstGeom prst="rect">
            <a:avLst/>
          </a:prstGeom>
        </p:spPr>
      </p:pic>
      <p:pic>
        <p:nvPicPr>
          <p:cNvPr id="6" name="Image 4" descr="preencoded.png">    </p:cNvPr>
          <p:cNvPicPr>
            <a:picLocks noChangeAspect="1"/>
          </p:cNvPicPr>
          <p:nvPr/>
        </p:nvPicPr>
        <p:blipFill>
          <a:blip r:embed="rId5"/>
          <a:stretch>
            <a:fillRect/>
          </a:stretch>
        </p:blipFill>
        <p:spPr>
          <a:xfrm>
            <a:off x="2124075" y="1543050"/>
            <a:ext cx="171450" cy="304800"/>
          </a:xfrm>
          <a:prstGeom prst="rect">
            <a:avLst/>
          </a:prstGeom>
        </p:spPr>
      </p:pic>
      <p:pic>
        <p:nvPicPr>
          <p:cNvPr id="7" name="Image 5" descr="preencoded.png">    </p:cNvPr>
          <p:cNvPicPr>
            <a:picLocks noChangeAspect="1"/>
          </p:cNvPicPr>
          <p:nvPr/>
        </p:nvPicPr>
        <p:blipFill>
          <a:blip r:embed="rId6"/>
          <a:stretch>
            <a:fillRect/>
          </a:stretch>
        </p:blipFill>
        <p:spPr>
          <a:xfrm>
            <a:off x="609600" y="2543175"/>
            <a:ext cx="152400" cy="152400"/>
          </a:xfrm>
          <a:prstGeom prst="rect">
            <a:avLst/>
          </a:prstGeom>
        </p:spPr>
      </p:pic>
      <p:pic>
        <p:nvPicPr>
          <p:cNvPr id="8" name="Image 6" descr="preencoded.png">    </p:cNvPr>
          <p:cNvPicPr>
            <a:picLocks noChangeAspect="1"/>
          </p:cNvPicPr>
          <p:nvPr/>
        </p:nvPicPr>
        <p:blipFill>
          <a:blip r:embed="rId7"/>
          <a:stretch>
            <a:fillRect/>
          </a:stretch>
        </p:blipFill>
        <p:spPr>
          <a:xfrm>
            <a:off x="609600" y="2847975"/>
            <a:ext cx="152400" cy="152400"/>
          </a:xfrm>
          <a:prstGeom prst="rect">
            <a:avLst/>
          </a:prstGeom>
        </p:spPr>
      </p:pic>
      <p:pic>
        <p:nvPicPr>
          <p:cNvPr id="9" name="Image 7" descr="preencoded.png">    </p:cNvPr>
          <p:cNvPicPr>
            <a:picLocks noChangeAspect="1"/>
          </p:cNvPicPr>
          <p:nvPr/>
        </p:nvPicPr>
        <p:blipFill>
          <a:blip r:embed="rId8"/>
          <a:stretch>
            <a:fillRect/>
          </a:stretch>
        </p:blipFill>
        <p:spPr>
          <a:xfrm>
            <a:off x="609600" y="3152775"/>
            <a:ext cx="152400" cy="152400"/>
          </a:xfrm>
          <a:prstGeom prst="rect">
            <a:avLst/>
          </a:prstGeom>
        </p:spPr>
      </p:pic>
      <p:pic>
        <p:nvPicPr>
          <p:cNvPr id="10" name="Image 8" descr="preencoded.png">    </p:cNvPr>
          <p:cNvPicPr>
            <a:picLocks noChangeAspect="1"/>
          </p:cNvPicPr>
          <p:nvPr/>
        </p:nvPicPr>
        <p:blipFill>
          <a:blip r:embed="rId9"/>
          <a:stretch>
            <a:fillRect/>
          </a:stretch>
        </p:blipFill>
        <p:spPr>
          <a:xfrm>
            <a:off x="4267200" y="1181100"/>
            <a:ext cx="3657600" cy="2390775"/>
          </a:xfrm>
          <a:prstGeom prst="rect">
            <a:avLst/>
          </a:prstGeom>
        </p:spPr>
      </p:pic>
      <p:pic>
        <p:nvPicPr>
          <p:cNvPr id="11" name="Image 9" descr="preencoded.png">    </p:cNvPr>
          <p:cNvPicPr>
            <a:picLocks noChangeAspect="1"/>
          </p:cNvPicPr>
          <p:nvPr/>
        </p:nvPicPr>
        <p:blipFill>
          <a:blip r:embed="rId10"/>
          <a:stretch>
            <a:fillRect/>
          </a:stretch>
        </p:blipFill>
        <p:spPr>
          <a:xfrm>
            <a:off x="5810250" y="1409700"/>
            <a:ext cx="571500" cy="571500"/>
          </a:xfrm>
          <a:prstGeom prst="rect">
            <a:avLst/>
          </a:prstGeom>
        </p:spPr>
      </p:pic>
      <p:pic>
        <p:nvPicPr>
          <p:cNvPr id="12" name="Image 10" descr="preencoded.png">    </p:cNvPr>
          <p:cNvPicPr>
            <a:picLocks noChangeAspect="1"/>
          </p:cNvPicPr>
          <p:nvPr/>
        </p:nvPicPr>
        <p:blipFill>
          <a:blip r:embed="rId11"/>
          <a:stretch>
            <a:fillRect/>
          </a:stretch>
        </p:blipFill>
        <p:spPr>
          <a:xfrm>
            <a:off x="6010275" y="1543050"/>
            <a:ext cx="171450" cy="304800"/>
          </a:xfrm>
          <a:prstGeom prst="rect">
            <a:avLst/>
          </a:prstGeom>
        </p:spPr>
      </p:pic>
      <p:pic>
        <p:nvPicPr>
          <p:cNvPr id="13" name="Image 11" descr="preencoded.png">    </p:cNvPr>
          <p:cNvPicPr>
            <a:picLocks noChangeAspect="1"/>
          </p:cNvPicPr>
          <p:nvPr/>
        </p:nvPicPr>
        <p:blipFill>
          <a:blip r:embed="rId12"/>
          <a:stretch>
            <a:fillRect/>
          </a:stretch>
        </p:blipFill>
        <p:spPr>
          <a:xfrm>
            <a:off x="4495800" y="2543175"/>
            <a:ext cx="152400" cy="152400"/>
          </a:xfrm>
          <a:prstGeom prst="rect">
            <a:avLst/>
          </a:prstGeom>
        </p:spPr>
      </p:pic>
      <p:pic>
        <p:nvPicPr>
          <p:cNvPr id="14" name="Image 12" descr="preencoded.png">    </p:cNvPr>
          <p:cNvPicPr>
            <a:picLocks noChangeAspect="1"/>
          </p:cNvPicPr>
          <p:nvPr/>
        </p:nvPicPr>
        <p:blipFill>
          <a:blip r:embed="rId13"/>
          <a:stretch>
            <a:fillRect/>
          </a:stretch>
        </p:blipFill>
        <p:spPr>
          <a:xfrm>
            <a:off x="4495800" y="2847975"/>
            <a:ext cx="152400" cy="152400"/>
          </a:xfrm>
          <a:prstGeom prst="rect">
            <a:avLst/>
          </a:prstGeom>
        </p:spPr>
      </p:pic>
      <p:pic>
        <p:nvPicPr>
          <p:cNvPr id="15" name="Image 13" descr="preencoded.png">    </p:cNvPr>
          <p:cNvPicPr>
            <a:picLocks noChangeAspect="1"/>
          </p:cNvPicPr>
          <p:nvPr/>
        </p:nvPicPr>
        <p:blipFill>
          <a:blip r:embed="rId14"/>
          <a:stretch>
            <a:fillRect/>
          </a:stretch>
        </p:blipFill>
        <p:spPr>
          <a:xfrm>
            <a:off x="4495800" y="3152775"/>
            <a:ext cx="152400" cy="152400"/>
          </a:xfrm>
          <a:prstGeom prst="rect">
            <a:avLst/>
          </a:prstGeom>
        </p:spPr>
      </p:pic>
      <p:pic>
        <p:nvPicPr>
          <p:cNvPr id="16" name="Image 14" descr="preencoded.png">    </p:cNvPr>
          <p:cNvPicPr>
            <a:picLocks noChangeAspect="1"/>
          </p:cNvPicPr>
          <p:nvPr/>
        </p:nvPicPr>
        <p:blipFill>
          <a:blip r:embed="rId15"/>
          <a:stretch>
            <a:fillRect/>
          </a:stretch>
        </p:blipFill>
        <p:spPr>
          <a:xfrm>
            <a:off x="8153400" y="1181100"/>
            <a:ext cx="3657600" cy="2390775"/>
          </a:xfrm>
          <a:prstGeom prst="rect">
            <a:avLst/>
          </a:prstGeom>
        </p:spPr>
      </p:pic>
      <p:pic>
        <p:nvPicPr>
          <p:cNvPr id="17" name="Image 15" descr="preencoded.png">    </p:cNvPr>
          <p:cNvPicPr>
            <a:picLocks noChangeAspect="1"/>
          </p:cNvPicPr>
          <p:nvPr/>
        </p:nvPicPr>
        <p:blipFill>
          <a:blip r:embed="rId16"/>
          <a:stretch>
            <a:fillRect/>
          </a:stretch>
        </p:blipFill>
        <p:spPr>
          <a:xfrm>
            <a:off x="9696450" y="1409700"/>
            <a:ext cx="571500" cy="571500"/>
          </a:xfrm>
          <a:prstGeom prst="rect">
            <a:avLst/>
          </a:prstGeom>
        </p:spPr>
      </p:pic>
      <p:pic>
        <p:nvPicPr>
          <p:cNvPr id="18" name="Image 16" descr="preencoded.png">    </p:cNvPr>
          <p:cNvPicPr>
            <a:picLocks noChangeAspect="1"/>
          </p:cNvPicPr>
          <p:nvPr/>
        </p:nvPicPr>
        <p:blipFill>
          <a:blip r:embed="rId17"/>
          <a:stretch>
            <a:fillRect/>
          </a:stretch>
        </p:blipFill>
        <p:spPr>
          <a:xfrm>
            <a:off x="9853613" y="1543050"/>
            <a:ext cx="257175" cy="304800"/>
          </a:xfrm>
          <a:prstGeom prst="rect">
            <a:avLst/>
          </a:prstGeom>
        </p:spPr>
      </p:pic>
      <p:pic>
        <p:nvPicPr>
          <p:cNvPr id="19" name="Image 17" descr="preencoded.png">    </p:cNvPr>
          <p:cNvPicPr>
            <a:picLocks noChangeAspect="1"/>
          </p:cNvPicPr>
          <p:nvPr/>
        </p:nvPicPr>
        <p:blipFill>
          <a:blip r:embed="rId18"/>
          <a:stretch>
            <a:fillRect/>
          </a:stretch>
        </p:blipFill>
        <p:spPr>
          <a:xfrm>
            <a:off x="8382000" y="2543175"/>
            <a:ext cx="152400" cy="152400"/>
          </a:xfrm>
          <a:prstGeom prst="rect">
            <a:avLst/>
          </a:prstGeom>
        </p:spPr>
      </p:pic>
      <p:pic>
        <p:nvPicPr>
          <p:cNvPr id="20" name="Image 18" descr="preencoded.png">    </p:cNvPr>
          <p:cNvPicPr>
            <a:picLocks noChangeAspect="1"/>
          </p:cNvPicPr>
          <p:nvPr/>
        </p:nvPicPr>
        <p:blipFill>
          <a:blip r:embed="rId19"/>
          <a:stretch>
            <a:fillRect/>
          </a:stretch>
        </p:blipFill>
        <p:spPr>
          <a:xfrm>
            <a:off x="8382000" y="2847975"/>
            <a:ext cx="152400" cy="152400"/>
          </a:xfrm>
          <a:prstGeom prst="rect">
            <a:avLst/>
          </a:prstGeom>
        </p:spPr>
      </p:pic>
      <p:pic>
        <p:nvPicPr>
          <p:cNvPr id="21" name="Image 19" descr="preencoded.png">    </p:cNvPr>
          <p:cNvPicPr>
            <a:picLocks noChangeAspect="1"/>
          </p:cNvPicPr>
          <p:nvPr/>
        </p:nvPicPr>
        <p:blipFill>
          <a:blip r:embed="rId20"/>
          <a:stretch>
            <a:fillRect/>
          </a:stretch>
        </p:blipFill>
        <p:spPr>
          <a:xfrm>
            <a:off x="8382000" y="3152775"/>
            <a:ext cx="152400" cy="152400"/>
          </a:xfrm>
          <a:prstGeom prst="rect">
            <a:avLst/>
          </a:prstGeom>
        </p:spPr>
      </p:pic>
      <p:pic>
        <p:nvPicPr>
          <p:cNvPr id="22" name="Image 20" descr="preencoded.png">    </p:cNvPr>
          <p:cNvPicPr>
            <a:picLocks noChangeAspect="1"/>
          </p:cNvPicPr>
          <p:nvPr/>
        </p:nvPicPr>
        <p:blipFill>
          <a:blip r:embed="rId21"/>
          <a:stretch>
            <a:fillRect/>
          </a:stretch>
        </p:blipFill>
        <p:spPr>
          <a:xfrm>
            <a:off x="381000" y="3800475"/>
            <a:ext cx="3657600" cy="2390775"/>
          </a:xfrm>
          <a:prstGeom prst="rect">
            <a:avLst/>
          </a:prstGeom>
        </p:spPr>
      </p:pic>
      <p:pic>
        <p:nvPicPr>
          <p:cNvPr id="23" name="Image 21" descr="preencoded.png">    </p:cNvPr>
          <p:cNvPicPr>
            <a:picLocks noChangeAspect="1"/>
          </p:cNvPicPr>
          <p:nvPr/>
        </p:nvPicPr>
        <p:blipFill>
          <a:blip r:embed="rId22"/>
          <a:stretch>
            <a:fillRect/>
          </a:stretch>
        </p:blipFill>
        <p:spPr>
          <a:xfrm>
            <a:off x="1924050" y="4029075"/>
            <a:ext cx="571500" cy="571500"/>
          </a:xfrm>
          <a:prstGeom prst="rect">
            <a:avLst/>
          </a:prstGeom>
        </p:spPr>
      </p:pic>
      <p:pic>
        <p:nvPicPr>
          <p:cNvPr id="24" name="Image 22" descr="preencoded.png">    </p:cNvPr>
          <p:cNvPicPr>
            <a:picLocks noChangeAspect="1"/>
          </p:cNvPicPr>
          <p:nvPr/>
        </p:nvPicPr>
        <p:blipFill>
          <a:blip r:embed="rId23"/>
          <a:stretch>
            <a:fillRect/>
          </a:stretch>
        </p:blipFill>
        <p:spPr>
          <a:xfrm>
            <a:off x="2095500" y="4162425"/>
            <a:ext cx="228600" cy="304800"/>
          </a:xfrm>
          <a:prstGeom prst="rect">
            <a:avLst/>
          </a:prstGeom>
        </p:spPr>
      </p:pic>
      <p:pic>
        <p:nvPicPr>
          <p:cNvPr id="25" name="Image 23" descr="preencoded.png">    </p:cNvPr>
          <p:cNvPicPr>
            <a:picLocks noChangeAspect="1"/>
          </p:cNvPicPr>
          <p:nvPr/>
        </p:nvPicPr>
        <p:blipFill>
          <a:blip r:embed="rId24"/>
          <a:stretch>
            <a:fillRect/>
          </a:stretch>
        </p:blipFill>
        <p:spPr>
          <a:xfrm>
            <a:off x="609600" y="5162550"/>
            <a:ext cx="152400" cy="152400"/>
          </a:xfrm>
          <a:prstGeom prst="rect">
            <a:avLst/>
          </a:prstGeom>
        </p:spPr>
      </p:pic>
      <p:pic>
        <p:nvPicPr>
          <p:cNvPr id="26" name="Image 24" descr="preencoded.png">    </p:cNvPr>
          <p:cNvPicPr>
            <a:picLocks noChangeAspect="1"/>
          </p:cNvPicPr>
          <p:nvPr/>
        </p:nvPicPr>
        <p:blipFill>
          <a:blip r:embed="rId25"/>
          <a:stretch>
            <a:fillRect/>
          </a:stretch>
        </p:blipFill>
        <p:spPr>
          <a:xfrm>
            <a:off x="609600" y="5467350"/>
            <a:ext cx="152400" cy="152400"/>
          </a:xfrm>
          <a:prstGeom prst="rect">
            <a:avLst/>
          </a:prstGeom>
        </p:spPr>
      </p:pic>
      <p:pic>
        <p:nvPicPr>
          <p:cNvPr id="27" name="Image 25" descr="preencoded.png">    </p:cNvPr>
          <p:cNvPicPr>
            <a:picLocks noChangeAspect="1"/>
          </p:cNvPicPr>
          <p:nvPr/>
        </p:nvPicPr>
        <p:blipFill>
          <a:blip r:embed="rId26"/>
          <a:stretch>
            <a:fillRect/>
          </a:stretch>
        </p:blipFill>
        <p:spPr>
          <a:xfrm>
            <a:off x="609600" y="5772150"/>
            <a:ext cx="152400" cy="152400"/>
          </a:xfrm>
          <a:prstGeom prst="rect">
            <a:avLst/>
          </a:prstGeom>
        </p:spPr>
      </p:pic>
      <p:pic>
        <p:nvPicPr>
          <p:cNvPr id="28" name="Image 26" descr="preencoded.png">    </p:cNvPr>
          <p:cNvPicPr>
            <a:picLocks noChangeAspect="1"/>
          </p:cNvPicPr>
          <p:nvPr/>
        </p:nvPicPr>
        <p:blipFill>
          <a:blip r:embed="rId27"/>
          <a:stretch>
            <a:fillRect/>
          </a:stretch>
        </p:blipFill>
        <p:spPr>
          <a:xfrm>
            <a:off x="4267200" y="3800475"/>
            <a:ext cx="3657600" cy="2390775"/>
          </a:xfrm>
          <a:prstGeom prst="rect">
            <a:avLst/>
          </a:prstGeom>
        </p:spPr>
      </p:pic>
      <p:pic>
        <p:nvPicPr>
          <p:cNvPr id="29" name="Image 27" descr="preencoded.png">    </p:cNvPr>
          <p:cNvPicPr>
            <a:picLocks noChangeAspect="1"/>
          </p:cNvPicPr>
          <p:nvPr/>
        </p:nvPicPr>
        <p:blipFill>
          <a:blip r:embed="rId28"/>
          <a:stretch>
            <a:fillRect/>
          </a:stretch>
        </p:blipFill>
        <p:spPr>
          <a:xfrm>
            <a:off x="5810250" y="4029075"/>
            <a:ext cx="571500" cy="571500"/>
          </a:xfrm>
          <a:prstGeom prst="rect">
            <a:avLst/>
          </a:prstGeom>
        </p:spPr>
      </p:pic>
      <p:pic>
        <p:nvPicPr>
          <p:cNvPr id="30" name="Image 28" descr="preencoded.png">    </p:cNvPr>
          <p:cNvPicPr>
            <a:picLocks noChangeAspect="1"/>
          </p:cNvPicPr>
          <p:nvPr/>
        </p:nvPicPr>
        <p:blipFill>
          <a:blip r:embed="rId29"/>
          <a:stretch>
            <a:fillRect/>
          </a:stretch>
        </p:blipFill>
        <p:spPr>
          <a:xfrm>
            <a:off x="5981700" y="4162425"/>
            <a:ext cx="228600" cy="304800"/>
          </a:xfrm>
          <a:prstGeom prst="rect">
            <a:avLst/>
          </a:prstGeom>
        </p:spPr>
      </p:pic>
      <p:pic>
        <p:nvPicPr>
          <p:cNvPr id="31" name="Image 29" descr="preencoded.png">    </p:cNvPr>
          <p:cNvPicPr>
            <a:picLocks noChangeAspect="1"/>
          </p:cNvPicPr>
          <p:nvPr/>
        </p:nvPicPr>
        <p:blipFill>
          <a:blip r:embed="rId30"/>
          <a:stretch>
            <a:fillRect/>
          </a:stretch>
        </p:blipFill>
        <p:spPr>
          <a:xfrm>
            <a:off x="4495800" y="5162550"/>
            <a:ext cx="152400" cy="152400"/>
          </a:xfrm>
          <a:prstGeom prst="rect">
            <a:avLst/>
          </a:prstGeom>
        </p:spPr>
      </p:pic>
      <p:pic>
        <p:nvPicPr>
          <p:cNvPr id="32" name="Image 30" descr="preencoded.png">    </p:cNvPr>
          <p:cNvPicPr>
            <a:picLocks noChangeAspect="1"/>
          </p:cNvPicPr>
          <p:nvPr/>
        </p:nvPicPr>
        <p:blipFill>
          <a:blip r:embed="rId31"/>
          <a:stretch>
            <a:fillRect/>
          </a:stretch>
        </p:blipFill>
        <p:spPr>
          <a:xfrm>
            <a:off x="4495800" y="5467350"/>
            <a:ext cx="152400" cy="152400"/>
          </a:xfrm>
          <a:prstGeom prst="rect">
            <a:avLst/>
          </a:prstGeom>
        </p:spPr>
      </p:pic>
      <p:pic>
        <p:nvPicPr>
          <p:cNvPr id="33" name="Image 31" descr="preencoded.png">    </p:cNvPr>
          <p:cNvPicPr>
            <a:picLocks noChangeAspect="1"/>
          </p:cNvPicPr>
          <p:nvPr/>
        </p:nvPicPr>
        <p:blipFill>
          <a:blip r:embed="rId32"/>
          <a:stretch>
            <a:fillRect/>
          </a:stretch>
        </p:blipFill>
        <p:spPr>
          <a:xfrm>
            <a:off x="4495800" y="5772150"/>
            <a:ext cx="152400" cy="152400"/>
          </a:xfrm>
          <a:prstGeom prst="rect">
            <a:avLst/>
          </a:prstGeom>
        </p:spPr>
      </p:pic>
      <p:pic>
        <p:nvPicPr>
          <p:cNvPr id="34" name="Image 32" descr="preencoded.png">    </p:cNvPr>
          <p:cNvPicPr>
            <a:picLocks noChangeAspect="1"/>
          </p:cNvPicPr>
          <p:nvPr/>
        </p:nvPicPr>
        <p:blipFill>
          <a:blip r:embed="rId33"/>
          <a:stretch>
            <a:fillRect/>
          </a:stretch>
        </p:blipFill>
        <p:spPr>
          <a:xfrm>
            <a:off x="8153400" y="3800475"/>
            <a:ext cx="3657600" cy="2390775"/>
          </a:xfrm>
          <a:prstGeom prst="rect">
            <a:avLst/>
          </a:prstGeom>
        </p:spPr>
      </p:pic>
      <p:pic>
        <p:nvPicPr>
          <p:cNvPr id="35" name="Image 33" descr="preencoded.png">    </p:cNvPr>
          <p:cNvPicPr>
            <a:picLocks noChangeAspect="1"/>
          </p:cNvPicPr>
          <p:nvPr/>
        </p:nvPicPr>
        <p:blipFill>
          <a:blip r:embed="rId34"/>
          <a:stretch>
            <a:fillRect/>
          </a:stretch>
        </p:blipFill>
        <p:spPr>
          <a:xfrm>
            <a:off x="9696450" y="4029075"/>
            <a:ext cx="571500" cy="571500"/>
          </a:xfrm>
          <a:prstGeom prst="rect">
            <a:avLst/>
          </a:prstGeom>
        </p:spPr>
      </p:pic>
      <p:pic>
        <p:nvPicPr>
          <p:cNvPr id="36" name="Image 34" descr="preencoded.png">    </p:cNvPr>
          <p:cNvPicPr>
            <a:picLocks noChangeAspect="1"/>
          </p:cNvPicPr>
          <p:nvPr/>
        </p:nvPicPr>
        <p:blipFill>
          <a:blip r:embed="rId35"/>
          <a:stretch>
            <a:fillRect/>
          </a:stretch>
        </p:blipFill>
        <p:spPr>
          <a:xfrm>
            <a:off x="9867900" y="4162425"/>
            <a:ext cx="228600" cy="304800"/>
          </a:xfrm>
          <a:prstGeom prst="rect">
            <a:avLst/>
          </a:prstGeom>
        </p:spPr>
      </p:pic>
      <p:pic>
        <p:nvPicPr>
          <p:cNvPr id="37" name="Image 35" descr="preencoded.png">    </p:cNvPr>
          <p:cNvPicPr>
            <a:picLocks noChangeAspect="1"/>
          </p:cNvPicPr>
          <p:nvPr/>
        </p:nvPicPr>
        <p:blipFill>
          <a:blip r:embed="rId36"/>
          <a:stretch>
            <a:fillRect/>
          </a:stretch>
        </p:blipFill>
        <p:spPr>
          <a:xfrm>
            <a:off x="8382000" y="5162550"/>
            <a:ext cx="152400" cy="152400"/>
          </a:xfrm>
          <a:prstGeom prst="rect">
            <a:avLst/>
          </a:prstGeom>
        </p:spPr>
      </p:pic>
      <p:pic>
        <p:nvPicPr>
          <p:cNvPr id="38" name="Image 36" descr="preencoded.png">    </p:cNvPr>
          <p:cNvPicPr>
            <a:picLocks noChangeAspect="1"/>
          </p:cNvPicPr>
          <p:nvPr/>
        </p:nvPicPr>
        <p:blipFill>
          <a:blip r:embed="rId37"/>
          <a:stretch>
            <a:fillRect/>
          </a:stretch>
        </p:blipFill>
        <p:spPr>
          <a:xfrm>
            <a:off x="8382000" y="5467350"/>
            <a:ext cx="152400" cy="152400"/>
          </a:xfrm>
          <a:prstGeom prst="rect">
            <a:avLst/>
          </a:prstGeom>
        </p:spPr>
      </p:pic>
      <p:pic>
        <p:nvPicPr>
          <p:cNvPr id="39" name="Image 37" descr="preencoded.png">    </p:cNvPr>
          <p:cNvPicPr>
            <a:picLocks noChangeAspect="1"/>
          </p:cNvPicPr>
          <p:nvPr/>
        </p:nvPicPr>
        <p:blipFill>
          <a:blip r:embed="rId38"/>
          <a:stretch>
            <a:fillRect/>
          </a:stretch>
        </p:blipFill>
        <p:spPr>
          <a:xfrm>
            <a:off x="8382000" y="5772150"/>
            <a:ext cx="152400" cy="152400"/>
          </a:xfrm>
          <a:prstGeom prst="rect">
            <a:avLst/>
          </a:prstGeom>
        </p:spPr>
      </p:pic>
      <p:sp>
        <p:nvSpPr>
          <p:cNvPr id="40"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技術創新點</a:t>
            </a:r>
            <a:endParaRPr lang="en-US" sz="2700" dirty="0"/>
          </a:p>
        </p:txBody>
      </p:sp>
      <p:sp>
        <p:nvSpPr>
          <p:cNvPr id="41" name="Text 1"/>
          <p:cNvSpPr/>
          <p:nvPr/>
        </p:nvSpPr>
        <p:spPr>
          <a:xfrm>
            <a:off x="609600" y="21240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輕量級通訊協議</a:t>
            </a:r>
            <a:endParaRPr lang="en-US" sz="1500" dirty="0"/>
          </a:p>
        </p:txBody>
      </p:sp>
      <p:sp>
        <p:nvSpPr>
          <p:cNvPr id="42" name="Text 2"/>
          <p:cNvSpPr/>
          <p:nvPr/>
        </p:nvSpPr>
        <p:spPr>
          <a:xfrm>
            <a:off x="838200" y="2505075"/>
            <a:ext cx="2334042"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基於MQTT 5.0的輕量級協議</a:t>
            </a:r>
            <a:endParaRPr lang="en-US" sz="1200" dirty="0"/>
          </a:p>
        </p:txBody>
      </p:sp>
      <p:sp>
        <p:nvSpPr>
          <p:cNvPr id="43" name="Text 3"/>
          <p:cNvSpPr/>
          <p:nvPr/>
        </p:nvSpPr>
        <p:spPr>
          <a:xfrm>
            <a:off x="838200" y="2809875"/>
            <a:ext cx="2238851"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即時性低延遲（&lt;100ms）</a:t>
            </a:r>
            <a:endParaRPr lang="en-US" sz="1200" dirty="0"/>
          </a:p>
        </p:txBody>
      </p:sp>
      <p:sp>
        <p:nvSpPr>
          <p:cNvPr id="44" name="Text 4"/>
          <p:cNvSpPr/>
          <p:nvPr/>
        </p:nvSpPr>
        <p:spPr>
          <a:xfrm>
            <a:off x="838200" y="3114675"/>
            <a:ext cx="219456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支援自定義字段，高度擴展</a:t>
            </a:r>
            <a:endParaRPr lang="en-US" sz="1200" dirty="0"/>
          </a:p>
        </p:txBody>
      </p:sp>
      <p:sp>
        <p:nvSpPr>
          <p:cNvPr id="45" name="Text 5"/>
          <p:cNvSpPr/>
          <p:nvPr/>
        </p:nvSpPr>
        <p:spPr>
          <a:xfrm>
            <a:off x="4495800" y="21240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品牌適配器機制</a:t>
            </a:r>
            <a:endParaRPr lang="en-US" sz="1500" dirty="0"/>
          </a:p>
        </p:txBody>
      </p:sp>
      <p:sp>
        <p:nvSpPr>
          <p:cNvPr id="46" name="Text 6"/>
          <p:cNvSpPr/>
          <p:nvPr/>
        </p:nvSpPr>
        <p:spPr>
          <a:xfrm>
            <a:off x="4724400" y="2505075"/>
            <a:ext cx="18288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「即插即用」設計理念</a:t>
            </a:r>
            <a:endParaRPr lang="en-US" sz="1200" dirty="0"/>
          </a:p>
        </p:txBody>
      </p:sp>
      <p:sp>
        <p:nvSpPr>
          <p:cNvPr id="47" name="Text 7"/>
          <p:cNvSpPr/>
          <p:nvPr/>
        </p:nvSpPr>
        <p:spPr>
          <a:xfrm>
            <a:off x="4724400" y="2809875"/>
            <a:ext cx="25603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無需修改機器人原廠硬體或軟體</a:t>
            </a:r>
            <a:endParaRPr lang="en-US" sz="1200" dirty="0"/>
          </a:p>
        </p:txBody>
      </p:sp>
      <p:sp>
        <p:nvSpPr>
          <p:cNvPr id="48" name="Text 8"/>
          <p:cNvSpPr/>
          <p:nvPr/>
        </p:nvSpPr>
        <p:spPr>
          <a:xfrm>
            <a:off x="4724400" y="3114675"/>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模組化架構，易於擴展新品牌</a:t>
            </a:r>
            <a:endParaRPr lang="en-US" sz="1200" dirty="0"/>
          </a:p>
        </p:txBody>
      </p:sp>
      <p:sp>
        <p:nvSpPr>
          <p:cNvPr id="49" name="Text 9"/>
          <p:cNvSpPr/>
          <p:nvPr/>
        </p:nvSpPr>
        <p:spPr>
          <a:xfrm>
            <a:off x="8382000" y="21240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動態優先級系統</a:t>
            </a:r>
            <a:endParaRPr lang="en-US" sz="1500" dirty="0"/>
          </a:p>
        </p:txBody>
      </p:sp>
      <p:sp>
        <p:nvSpPr>
          <p:cNvPr id="50" name="Text 10"/>
          <p:cNvSpPr/>
          <p:nvPr/>
        </p:nvSpPr>
        <p:spPr>
          <a:xfrm>
            <a:off x="8610600" y="2505075"/>
            <a:ext cx="14630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多因素優先級評估</a:t>
            </a:r>
            <a:endParaRPr lang="en-US" sz="1200" dirty="0"/>
          </a:p>
        </p:txBody>
      </p:sp>
      <p:sp>
        <p:nvSpPr>
          <p:cNvPr id="51" name="Text 11"/>
          <p:cNvSpPr/>
          <p:nvPr/>
        </p:nvSpPr>
        <p:spPr>
          <a:xfrm>
            <a:off x="8610600" y="2809875"/>
            <a:ext cx="219456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任務類型、電量、載物狀態</a:t>
            </a:r>
            <a:endParaRPr lang="en-US" sz="1200" dirty="0"/>
          </a:p>
        </p:txBody>
      </p:sp>
      <p:sp>
        <p:nvSpPr>
          <p:cNvPr id="52" name="Text 12"/>
          <p:cNvSpPr/>
          <p:nvPr/>
        </p:nvSpPr>
        <p:spPr>
          <a:xfrm>
            <a:off x="8610600" y="3114675"/>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動態調整優先順序，智能協商</a:t>
            </a:r>
            <a:endParaRPr lang="en-US" sz="1200" dirty="0"/>
          </a:p>
        </p:txBody>
      </p:sp>
      <p:sp>
        <p:nvSpPr>
          <p:cNvPr id="53" name="Text 13"/>
          <p:cNvSpPr/>
          <p:nvPr/>
        </p:nvSpPr>
        <p:spPr>
          <a:xfrm>
            <a:off x="609600" y="4743450"/>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多層級衝突解決</a:t>
            </a:r>
            <a:endParaRPr lang="en-US" sz="1500" dirty="0"/>
          </a:p>
        </p:txBody>
      </p:sp>
      <p:sp>
        <p:nvSpPr>
          <p:cNvPr id="54" name="Text 14"/>
          <p:cNvSpPr/>
          <p:nvPr/>
        </p:nvSpPr>
        <p:spPr>
          <a:xfrm>
            <a:off x="838200" y="5124450"/>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優先級高者優先通行</a:t>
            </a:r>
            <a:endParaRPr lang="en-US" sz="1200" dirty="0"/>
          </a:p>
        </p:txBody>
      </p:sp>
      <p:sp>
        <p:nvSpPr>
          <p:cNvPr id="55" name="Text 15"/>
          <p:cNvSpPr/>
          <p:nvPr/>
        </p:nvSpPr>
        <p:spPr>
          <a:xfrm>
            <a:off x="838200" y="5429250"/>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同優先級時先預約路徑者優先</a:t>
            </a:r>
            <a:endParaRPr lang="en-US" sz="1200" dirty="0"/>
          </a:p>
        </p:txBody>
      </p:sp>
      <p:sp>
        <p:nvSpPr>
          <p:cNvPr id="56" name="Text 16"/>
          <p:cNvSpPr/>
          <p:nvPr/>
        </p:nvSpPr>
        <p:spPr>
          <a:xfrm>
            <a:off x="838200" y="5734050"/>
            <a:ext cx="25603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死鎖檢測與強制最低優先級後退</a:t>
            </a:r>
            <a:endParaRPr lang="en-US" sz="1200" dirty="0"/>
          </a:p>
        </p:txBody>
      </p:sp>
      <p:sp>
        <p:nvSpPr>
          <p:cNvPr id="57" name="Text 17"/>
          <p:cNvSpPr/>
          <p:nvPr/>
        </p:nvSpPr>
        <p:spPr>
          <a:xfrm>
            <a:off x="4495800" y="4743450"/>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智能路徑規劃</a:t>
            </a:r>
            <a:endParaRPr lang="en-US" sz="1500" dirty="0"/>
          </a:p>
        </p:txBody>
      </p:sp>
      <p:sp>
        <p:nvSpPr>
          <p:cNvPr id="58" name="Text 18"/>
          <p:cNvSpPr/>
          <p:nvPr/>
        </p:nvSpPr>
        <p:spPr>
          <a:xfrm>
            <a:off x="4724400" y="5124450"/>
            <a:ext cx="2228314"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改進型A*算法結合衝突代價</a:t>
            </a:r>
            <a:endParaRPr lang="en-US" sz="1200" dirty="0"/>
          </a:p>
        </p:txBody>
      </p:sp>
      <p:sp>
        <p:nvSpPr>
          <p:cNvPr id="59" name="Text 19"/>
          <p:cNvSpPr/>
          <p:nvPr/>
        </p:nvSpPr>
        <p:spPr>
          <a:xfrm>
            <a:off x="4724400" y="5429250"/>
            <a:ext cx="27432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避路代價概念避免感測器失效風險</a:t>
            </a:r>
            <a:endParaRPr lang="en-US" sz="1200" dirty="0"/>
          </a:p>
        </p:txBody>
      </p:sp>
      <p:sp>
        <p:nvSpPr>
          <p:cNvPr id="60" name="Text 20"/>
          <p:cNvSpPr/>
          <p:nvPr/>
        </p:nvSpPr>
        <p:spPr>
          <a:xfrm>
            <a:off x="4724400" y="5734050"/>
            <a:ext cx="201168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全局預測與局部優化結合</a:t>
            </a:r>
            <a:endParaRPr lang="en-US" sz="1200" dirty="0"/>
          </a:p>
        </p:txBody>
      </p:sp>
      <p:sp>
        <p:nvSpPr>
          <p:cNvPr id="61" name="Text 21"/>
          <p:cNvSpPr/>
          <p:nvPr/>
        </p:nvSpPr>
        <p:spPr>
          <a:xfrm>
            <a:off x="8382000" y="4743450"/>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行業標準推動</a:t>
            </a:r>
            <a:endParaRPr lang="en-US" sz="1500" dirty="0"/>
          </a:p>
        </p:txBody>
      </p:sp>
      <p:sp>
        <p:nvSpPr>
          <p:cNvPr id="62" name="Text 22"/>
          <p:cNvSpPr/>
          <p:nvPr/>
        </p:nvSpPr>
        <p:spPr>
          <a:xfrm>
            <a:off x="8610600" y="5124450"/>
            <a:ext cx="2534424"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基於專利CN112835364B技術</a:t>
            </a:r>
            <a:endParaRPr lang="en-US" sz="1200" dirty="0"/>
          </a:p>
        </p:txBody>
      </p:sp>
      <p:sp>
        <p:nvSpPr>
          <p:cNvPr id="63" name="Text 23"/>
          <p:cNvSpPr/>
          <p:nvPr/>
        </p:nvSpPr>
        <p:spPr>
          <a:xfrm>
            <a:off x="8610600" y="5429250"/>
            <a:ext cx="2422088"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為IEEE/ISO標準提案奠定基礎</a:t>
            </a:r>
            <a:endParaRPr lang="en-US" sz="1200" dirty="0"/>
          </a:p>
        </p:txBody>
      </p:sp>
      <p:sp>
        <p:nvSpPr>
          <p:cNvPr id="64" name="Text 24"/>
          <p:cNvSpPr/>
          <p:nvPr/>
        </p:nvSpPr>
        <p:spPr>
          <a:xfrm>
            <a:off x="8610600" y="5734050"/>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促進行業互聯互通與開放標準</a:t>
            </a:r>
            <a:endParaRPr lang="en-US" sz="1200" dirty="0"/>
          </a:p>
        </p:txBody>
      </p:sp>
      <p:sp>
        <p:nvSpPr>
          <p:cNvPr id="65" name="Text 25"/>
          <p:cNvSpPr/>
          <p:nvPr/>
        </p:nvSpPr>
        <p:spPr>
          <a:xfrm>
            <a:off x="381000" y="641985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66" name="Text 26"/>
          <p:cNvSpPr/>
          <p:nvPr/>
        </p:nvSpPr>
        <p:spPr>
          <a:xfrm>
            <a:off x="11274921" y="641985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381000" y="8382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381000" y="1104900"/>
            <a:ext cx="3657600" cy="4914900"/>
          </a:xfrm>
          <a:prstGeom prst="rect">
            <a:avLst/>
          </a:prstGeom>
        </p:spPr>
      </p:pic>
      <p:pic>
        <p:nvPicPr>
          <p:cNvPr id="5" name="Image 3" descr="preencoded.png">    </p:cNvPr>
          <p:cNvPicPr>
            <a:picLocks noChangeAspect="1"/>
          </p:cNvPicPr>
          <p:nvPr/>
        </p:nvPicPr>
        <p:blipFill>
          <a:blip r:embed="rId4"/>
          <a:stretch>
            <a:fillRect/>
          </a:stretch>
        </p:blipFill>
        <p:spPr>
          <a:xfrm>
            <a:off x="1924050" y="1333500"/>
            <a:ext cx="571500" cy="571500"/>
          </a:xfrm>
          <a:prstGeom prst="rect">
            <a:avLst/>
          </a:prstGeom>
        </p:spPr>
      </p:pic>
      <p:pic>
        <p:nvPicPr>
          <p:cNvPr id="6" name="Image 4" descr="preencoded.png">    </p:cNvPr>
          <p:cNvPicPr>
            <a:picLocks noChangeAspect="1"/>
          </p:cNvPicPr>
          <p:nvPr/>
        </p:nvPicPr>
        <p:blipFill>
          <a:blip r:embed="rId5"/>
          <a:stretch>
            <a:fillRect/>
          </a:stretch>
        </p:blipFill>
        <p:spPr>
          <a:xfrm>
            <a:off x="2095500" y="1466850"/>
            <a:ext cx="228600" cy="304800"/>
          </a:xfrm>
          <a:prstGeom prst="rect">
            <a:avLst/>
          </a:prstGeom>
        </p:spPr>
      </p:pic>
      <p:pic>
        <p:nvPicPr>
          <p:cNvPr id="7" name="Image 5" descr="preencoded.png">    </p:cNvPr>
          <p:cNvPicPr>
            <a:picLocks noChangeAspect="1"/>
          </p:cNvPicPr>
          <p:nvPr/>
        </p:nvPicPr>
        <p:blipFill>
          <a:blip r:embed="rId6"/>
          <a:stretch>
            <a:fillRect/>
          </a:stretch>
        </p:blipFill>
        <p:spPr>
          <a:xfrm>
            <a:off x="609600" y="2505075"/>
            <a:ext cx="152400" cy="152400"/>
          </a:xfrm>
          <a:prstGeom prst="rect">
            <a:avLst/>
          </a:prstGeom>
        </p:spPr>
      </p:pic>
      <p:pic>
        <p:nvPicPr>
          <p:cNvPr id="8" name="Image 6" descr="preencoded.png">    </p:cNvPr>
          <p:cNvPicPr>
            <a:picLocks noChangeAspect="1"/>
          </p:cNvPicPr>
          <p:nvPr/>
        </p:nvPicPr>
        <p:blipFill>
          <a:blip r:embed="rId7"/>
          <a:stretch>
            <a:fillRect/>
          </a:stretch>
        </p:blipFill>
        <p:spPr>
          <a:xfrm>
            <a:off x="609600" y="2847975"/>
            <a:ext cx="152400" cy="152400"/>
          </a:xfrm>
          <a:prstGeom prst="rect">
            <a:avLst/>
          </a:prstGeom>
        </p:spPr>
      </p:pic>
      <p:pic>
        <p:nvPicPr>
          <p:cNvPr id="9" name="Image 7" descr="preencoded.png">    </p:cNvPr>
          <p:cNvPicPr>
            <a:picLocks noChangeAspect="1"/>
          </p:cNvPicPr>
          <p:nvPr/>
        </p:nvPicPr>
        <p:blipFill>
          <a:blip r:embed="rId8"/>
          <a:stretch>
            <a:fillRect/>
          </a:stretch>
        </p:blipFill>
        <p:spPr>
          <a:xfrm>
            <a:off x="609600" y="3190875"/>
            <a:ext cx="152400" cy="152400"/>
          </a:xfrm>
          <a:prstGeom prst="rect">
            <a:avLst/>
          </a:prstGeom>
        </p:spPr>
      </p:pic>
      <p:pic>
        <p:nvPicPr>
          <p:cNvPr id="10" name="Image 8" descr="preencoded.png">    </p:cNvPr>
          <p:cNvPicPr>
            <a:picLocks noChangeAspect="1"/>
          </p:cNvPicPr>
          <p:nvPr/>
        </p:nvPicPr>
        <p:blipFill>
          <a:blip r:embed="rId9"/>
          <a:stretch>
            <a:fillRect/>
          </a:stretch>
        </p:blipFill>
        <p:spPr>
          <a:xfrm>
            <a:off x="609600" y="5372100"/>
            <a:ext cx="3200400" cy="419100"/>
          </a:xfrm>
          <a:prstGeom prst="rect">
            <a:avLst/>
          </a:prstGeom>
        </p:spPr>
      </p:pic>
      <p:pic>
        <p:nvPicPr>
          <p:cNvPr id="11" name="Image 9" descr="preencoded.png">    </p:cNvPr>
          <p:cNvPicPr>
            <a:picLocks noChangeAspect="1"/>
          </p:cNvPicPr>
          <p:nvPr/>
        </p:nvPicPr>
        <p:blipFill>
          <a:blip r:embed="rId10"/>
          <a:stretch>
            <a:fillRect/>
          </a:stretch>
        </p:blipFill>
        <p:spPr>
          <a:xfrm>
            <a:off x="723900" y="5505450"/>
            <a:ext cx="104775" cy="133350"/>
          </a:xfrm>
          <a:prstGeom prst="rect">
            <a:avLst/>
          </a:prstGeom>
        </p:spPr>
      </p:pic>
      <p:pic>
        <p:nvPicPr>
          <p:cNvPr id="12" name="Image 10" descr="preencoded.png">    </p:cNvPr>
          <p:cNvPicPr>
            <a:picLocks noChangeAspect="1"/>
          </p:cNvPicPr>
          <p:nvPr/>
        </p:nvPicPr>
        <p:blipFill>
          <a:blip r:embed="rId11"/>
          <a:stretch>
            <a:fillRect/>
          </a:stretch>
        </p:blipFill>
        <p:spPr>
          <a:xfrm>
            <a:off x="4267200" y="1104900"/>
            <a:ext cx="3657600" cy="4914900"/>
          </a:xfrm>
          <a:prstGeom prst="rect">
            <a:avLst/>
          </a:prstGeom>
        </p:spPr>
      </p:pic>
      <p:pic>
        <p:nvPicPr>
          <p:cNvPr id="13" name="Image 11" descr="preencoded.png">    </p:cNvPr>
          <p:cNvPicPr>
            <a:picLocks noChangeAspect="1"/>
          </p:cNvPicPr>
          <p:nvPr/>
        </p:nvPicPr>
        <p:blipFill>
          <a:blip r:embed="rId12"/>
          <a:stretch>
            <a:fillRect/>
          </a:stretch>
        </p:blipFill>
        <p:spPr>
          <a:xfrm>
            <a:off x="5810250" y="1333500"/>
            <a:ext cx="571500" cy="571500"/>
          </a:xfrm>
          <a:prstGeom prst="rect">
            <a:avLst/>
          </a:prstGeom>
        </p:spPr>
      </p:pic>
      <p:pic>
        <p:nvPicPr>
          <p:cNvPr id="14" name="Image 12" descr="preencoded.png">    </p:cNvPr>
          <p:cNvPicPr>
            <a:picLocks noChangeAspect="1"/>
          </p:cNvPicPr>
          <p:nvPr/>
        </p:nvPicPr>
        <p:blipFill>
          <a:blip r:embed="rId13"/>
          <a:stretch>
            <a:fillRect/>
          </a:stretch>
        </p:blipFill>
        <p:spPr>
          <a:xfrm>
            <a:off x="5953125" y="1466850"/>
            <a:ext cx="285750" cy="304800"/>
          </a:xfrm>
          <a:prstGeom prst="rect">
            <a:avLst/>
          </a:prstGeom>
        </p:spPr>
      </p:pic>
      <p:pic>
        <p:nvPicPr>
          <p:cNvPr id="15" name="Image 13" descr="preencoded.png">    </p:cNvPr>
          <p:cNvPicPr>
            <a:picLocks noChangeAspect="1"/>
          </p:cNvPicPr>
          <p:nvPr/>
        </p:nvPicPr>
        <p:blipFill>
          <a:blip r:embed="rId14"/>
          <a:stretch>
            <a:fillRect/>
          </a:stretch>
        </p:blipFill>
        <p:spPr>
          <a:xfrm>
            <a:off x="4495800" y="2505075"/>
            <a:ext cx="152400" cy="152400"/>
          </a:xfrm>
          <a:prstGeom prst="rect">
            <a:avLst/>
          </a:prstGeom>
        </p:spPr>
      </p:pic>
      <p:pic>
        <p:nvPicPr>
          <p:cNvPr id="16" name="Image 14" descr="preencoded.png">    </p:cNvPr>
          <p:cNvPicPr>
            <a:picLocks noChangeAspect="1"/>
          </p:cNvPicPr>
          <p:nvPr/>
        </p:nvPicPr>
        <p:blipFill>
          <a:blip r:embed="rId15"/>
          <a:stretch>
            <a:fillRect/>
          </a:stretch>
        </p:blipFill>
        <p:spPr>
          <a:xfrm>
            <a:off x="4495800" y="2847975"/>
            <a:ext cx="152400" cy="152400"/>
          </a:xfrm>
          <a:prstGeom prst="rect">
            <a:avLst/>
          </a:prstGeom>
        </p:spPr>
      </p:pic>
      <p:pic>
        <p:nvPicPr>
          <p:cNvPr id="17" name="Image 15" descr="preencoded.png">    </p:cNvPr>
          <p:cNvPicPr>
            <a:picLocks noChangeAspect="1"/>
          </p:cNvPicPr>
          <p:nvPr/>
        </p:nvPicPr>
        <p:blipFill>
          <a:blip r:embed="rId16"/>
          <a:stretch>
            <a:fillRect/>
          </a:stretch>
        </p:blipFill>
        <p:spPr>
          <a:xfrm>
            <a:off x="4495800" y="3190875"/>
            <a:ext cx="152400" cy="152400"/>
          </a:xfrm>
          <a:prstGeom prst="rect">
            <a:avLst/>
          </a:prstGeom>
        </p:spPr>
      </p:pic>
      <p:pic>
        <p:nvPicPr>
          <p:cNvPr id="18" name="Image 16" descr="preencoded.png">    </p:cNvPr>
          <p:cNvPicPr>
            <a:picLocks noChangeAspect="1"/>
          </p:cNvPicPr>
          <p:nvPr/>
        </p:nvPicPr>
        <p:blipFill>
          <a:blip r:embed="rId17"/>
          <a:stretch>
            <a:fillRect/>
          </a:stretch>
        </p:blipFill>
        <p:spPr>
          <a:xfrm>
            <a:off x="4495800" y="3533775"/>
            <a:ext cx="152400" cy="152400"/>
          </a:xfrm>
          <a:prstGeom prst="rect">
            <a:avLst/>
          </a:prstGeom>
        </p:spPr>
      </p:pic>
      <p:pic>
        <p:nvPicPr>
          <p:cNvPr id="19" name="Image 17" descr="preencoded.png">    </p:cNvPr>
          <p:cNvPicPr>
            <a:picLocks noChangeAspect="1"/>
          </p:cNvPicPr>
          <p:nvPr/>
        </p:nvPicPr>
        <p:blipFill>
          <a:blip r:embed="rId18"/>
          <a:stretch>
            <a:fillRect/>
          </a:stretch>
        </p:blipFill>
        <p:spPr>
          <a:xfrm>
            <a:off x="4495800" y="5372100"/>
            <a:ext cx="3200400" cy="419100"/>
          </a:xfrm>
          <a:prstGeom prst="rect">
            <a:avLst/>
          </a:prstGeom>
        </p:spPr>
      </p:pic>
      <p:pic>
        <p:nvPicPr>
          <p:cNvPr id="20" name="Image 18" descr="preencoded.png">    </p:cNvPr>
          <p:cNvPicPr>
            <a:picLocks noChangeAspect="1"/>
          </p:cNvPicPr>
          <p:nvPr/>
        </p:nvPicPr>
        <p:blipFill>
          <a:blip r:embed="rId19"/>
          <a:stretch>
            <a:fillRect/>
          </a:stretch>
        </p:blipFill>
        <p:spPr>
          <a:xfrm>
            <a:off x="4610100" y="5505450"/>
            <a:ext cx="104775" cy="133350"/>
          </a:xfrm>
          <a:prstGeom prst="rect">
            <a:avLst/>
          </a:prstGeom>
        </p:spPr>
      </p:pic>
      <p:pic>
        <p:nvPicPr>
          <p:cNvPr id="21" name="Image 19" descr="preencoded.png">    </p:cNvPr>
          <p:cNvPicPr>
            <a:picLocks noChangeAspect="1"/>
          </p:cNvPicPr>
          <p:nvPr/>
        </p:nvPicPr>
        <p:blipFill>
          <a:blip r:embed="rId20"/>
          <a:stretch>
            <a:fillRect/>
          </a:stretch>
        </p:blipFill>
        <p:spPr>
          <a:xfrm>
            <a:off x="8153400" y="1104900"/>
            <a:ext cx="3657600" cy="4914900"/>
          </a:xfrm>
          <a:prstGeom prst="rect">
            <a:avLst/>
          </a:prstGeom>
        </p:spPr>
      </p:pic>
      <p:pic>
        <p:nvPicPr>
          <p:cNvPr id="22" name="Image 20" descr="preencoded.png">    </p:cNvPr>
          <p:cNvPicPr>
            <a:picLocks noChangeAspect="1"/>
          </p:cNvPicPr>
          <p:nvPr/>
        </p:nvPicPr>
        <p:blipFill>
          <a:blip r:embed="rId21"/>
          <a:stretch>
            <a:fillRect/>
          </a:stretch>
        </p:blipFill>
        <p:spPr>
          <a:xfrm>
            <a:off x="9696450" y="1333500"/>
            <a:ext cx="571500" cy="571500"/>
          </a:xfrm>
          <a:prstGeom prst="rect">
            <a:avLst/>
          </a:prstGeom>
        </p:spPr>
      </p:pic>
      <p:pic>
        <p:nvPicPr>
          <p:cNvPr id="23" name="Image 21" descr="preencoded.png">    </p:cNvPr>
          <p:cNvPicPr>
            <a:picLocks noChangeAspect="1"/>
          </p:cNvPicPr>
          <p:nvPr/>
        </p:nvPicPr>
        <p:blipFill>
          <a:blip r:embed="rId22"/>
          <a:stretch>
            <a:fillRect/>
          </a:stretch>
        </p:blipFill>
        <p:spPr>
          <a:xfrm>
            <a:off x="9867900" y="1466850"/>
            <a:ext cx="228600" cy="304800"/>
          </a:xfrm>
          <a:prstGeom prst="rect">
            <a:avLst/>
          </a:prstGeom>
        </p:spPr>
      </p:pic>
      <p:pic>
        <p:nvPicPr>
          <p:cNvPr id="24" name="Image 22" descr="preencoded.png">    </p:cNvPr>
          <p:cNvPicPr>
            <a:picLocks noChangeAspect="1"/>
          </p:cNvPicPr>
          <p:nvPr/>
        </p:nvPicPr>
        <p:blipFill>
          <a:blip r:embed="rId23"/>
          <a:stretch>
            <a:fillRect/>
          </a:stretch>
        </p:blipFill>
        <p:spPr>
          <a:xfrm>
            <a:off x="8382000" y="2466975"/>
            <a:ext cx="3200400" cy="742950"/>
          </a:xfrm>
          <a:prstGeom prst="rect">
            <a:avLst/>
          </a:prstGeom>
        </p:spPr>
      </p:pic>
      <p:pic>
        <p:nvPicPr>
          <p:cNvPr id="25" name="Image 23" descr="preencoded.png">    </p:cNvPr>
          <p:cNvPicPr>
            <a:picLocks noChangeAspect="1"/>
          </p:cNvPicPr>
          <p:nvPr/>
        </p:nvPicPr>
        <p:blipFill>
          <a:blip r:embed="rId24"/>
          <a:stretch>
            <a:fillRect/>
          </a:stretch>
        </p:blipFill>
        <p:spPr>
          <a:xfrm>
            <a:off x="8382000" y="3362325"/>
            <a:ext cx="3200400" cy="742950"/>
          </a:xfrm>
          <a:prstGeom prst="rect">
            <a:avLst/>
          </a:prstGeom>
        </p:spPr>
      </p:pic>
      <p:pic>
        <p:nvPicPr>
          <p:cNvPr id="26" name="Image 24" descr="preencoded.png">    </p:cNvPr>
          <p:cNvPicPr>
            <a:picLocks noChangeAspect="1"/>
          </p:cNvPicPr>
          <p:nvPr/>
        </p:nvPicPr>
        <p:blipFill>
          <a:blip r:embed="rId25"/>
          <a:stretch>
            <a:fillRect/>
          </a:stretch>
        </p:blipFill>
        <p:spPr>
          <a:xfrm>
            <a:off x="8382000" y="4257675"/>
            <a:ext cx="3200400" cy="742950"/>
          </a:xfrm>
          <a:prstGeom prst="rect">
            <a:avLst/>
          </a:prstGeom>
        </p:spPr>
      </p:pic>
      <p:pic>
        <p:nvPicPr>
          <p:cNvPr id="27" name="Image 25" descr="preencoded.png">    </p:cNvPr>
          <p:cNvPicPr>
            <a:picLocks noChangeAspect="1"/>
          </p:cNvPicPr>
          <p:nvPr/>
        </p:nvPicPr>
        <p:blipFill>
          <a:blip r:embed="rId26"/>
          <a:stretch>
            <a:fillRect/>
          </a:stretch>
        </p:blipFill>
        <p:spPr>
          <a:xfrm>
            <a:off x="8382000" y="5372100"/>
            <a:ext cx="3200400" cy="419100"/>
          </a:xfrm>
          <a:prstGeom prst="rect">
            <a:avLst/>
          </a:prstGeom>
        </p:spPr>
      </p:pic>
      <p:pic>
        <p:nvPicPr>
          <p:cNvPr id="28" name="Image 26" descr="preencoded.png">    </p:cNvPr>
          <p:cNvPicPr>
            <a:picLocks noChangeAspect="1"/>
          </p:cNvPicPr>
          <p:nvPr/>
        </p:nvPicPr>
        <p:blipFill>
          <a:blip r:embed="rId27"/>
          <a:stretch>
            <a:fillRect/>
          </a:stretch>
        </p:blipFill>
        <p:spPr>
          <a:xfrm>
            <a:off x="8496300" y="5505450"/>
            <a:ext cx="104775" cy="133350"/>
          </a:xfrm>
          <a:prstGeom prst="rect">
            <a:avLst/>
          </a:prstGeom>
        </p:spPr>
      </p:pic>
      <p:sp>
        <p:nvSpPr>
          <p:cNvPr id="29" name="Text 0"/>
          <p:cNvSpPr/>
          <p:nvPr/>
        </p:nvSpPr>
        <p:spPr>
          <a:xfrm>
            <a:off x="381000" y="381000"/>
            <a:ext cx="114300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市場前景與商業價值</a:t>
            </a:r>
            <a:endParaRPr lang="en-US" sz="2700" dirty="0"/>
          </a:p>
        </p:txBody>
      </p:sp>
      <p:sp>
        <p:nvSpPr>
          <p:cNvPr id="30" name="Text 1"/>
          <p:cNvSpPr/>
          <p:nvPr/>
        </p:nvSpPr>
        <p:spPr>
          <a:xfrm>
            <a:off x="609600" y="20478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市場潛力</a:t>
            </a:r>
            <a:endParaRPr lang="en-US" sz="1500" dirty="0"/>
          </a:p>
        </p:txBody>
      </p:sp>
      <p:sp>
        <p:nvSpPr>
          <p:cNvPr id="31" name="Text 2"/>
          <p:cNvSpPr/>
          <p:nvPr/>
        </p:nvSpPr>
        <p:spPr>
          <a:xfrm>
            <a:off x="838200" y="2466975"/>
            <a:ext cx="237744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餐廳送餐機器人市場快速增長</a:t>
            </a:r>
            <a:endParaRPr lang="en-US" sz="1200" dirty="0"/>
          </a:p>
        </p:txBody>
      </p:sp>
      <p:sp>
        <p:nvSpPr>
          <p:cNvPr id="32" name="Text 3"/>
          <p:cNvSpPr/>
          <p:nvPr/>
        </p:nvSpPr>
        <p:spPr>
          <a:xfrm>
            <a:off x="838200" y="2809875"/>
            <a:ext cx="182880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醫院配送系統需求急增</a:t>
            </a:r>
            <a:endParaRPr lang="en-US" sz="1200" dirty="0"/>
          </a:p>
        </p:txBody>
      </p:sp>
      <p:sp>
        <p:nvSpPr>
          <p:cNvPr id="33" name="Text 4"/>
          <p:cNvSpPr/>
          <p:nvPr/>
        </p:nvSpPr>
        <p:spPr>
          <a:xfrm>
            <a:off x="838200" y="3152775"/>
            <a:ext cx="25603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智慧倉儲對多品牌協同需求提升</a:t>
            </a:r>
            <a:endParaRPr lang="en-US" sz="1200" dirty="0"/>
          </a:p>
        </p:txBody>
      </p:sp>
      <p:sp>
        <p:nvSpPr>
          <p:cNvPr id="34" name="Text 5"/>
          <p:cNvSpPr/>
          <p:nvPr/>
        </p:nvSpPr>
        <p:spPr>
          <a:xfrm>
            <a:off x="904875" y="5486400"/>
            <a:ext cx="3566160" cy="190500"/>
          </a:xfrm>
          <a:prstGeom prst="rect">
            <a:avLst/>
          </a:prstGeom>
          <a:noFill/>
          <a:ln/>
        </p:spPr>
        <p:txBody>
          <a:bodyPr wrap="square" lIns="0" tIns="0" rIns="0" bIns="0" rtlCol="0" anchor="t" vert="horz"/>
          <a:lstStyle/>
          <a:p>
            <a:pPr indent="0" marL="0">
              <a:lnSpc>
                <a:spcPts val="1500"/>
              </a:lnSpc>
              <a:buNone/>
            </a:pPr>
            <a:r>
              <a:rPr lang="en-US" sz="1050" i="1" dirty="0">
                <a:solidFill>
                  <a:srgbClr val="93C5FD"/>
                </a:solidFill>
                <a:latin typeface="ui-sans-serif" pitchFamily="34" charset="0"/>
                <a:ea typeface="ui-sans-serif" pitchFamily="34" charset="-122"/>
                <a:cs typeface="ui-sans-serif" pitchFamily="34" charset="-120"/>
              </a:rPr>
              <a:t> 行業標準建立的先驅將獲得顯著市場優勢</a:t>
            </a:r>
            <a:endParaRPr lang="en-US" sz="1050" dirty="0"/>
          </a:p>
        </p:txBody>
      </p:sp>
      <p:sp>
        <p:nvSpPr>
          <p:cNvPr id="35" name="Text 6"/>
          <p:cNvSpPr/>
          <p:nvPr/>
        </p:nvSpPr>
        <p:spPr>
          <a:xfrm>
            <a:off x="4495800" y="20478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商業模式</a:t>
            </a:r>
            <a:endParaRPr lang="en-US" sz="1500" dirty="0"/>
          </a:p>
        </p:txBody>
      </p:sp>
      <p:sp>
        <p:nvSpPr>
          <p:cNvPr id="36" name="Text 7"/>
          <p:cNvSpPr/>
          <p:nvPr/>
        </p:nvSpPr>
        <p:spPr>
          <a:xfrm>
            <a:off x="4724400" y="2466975"/>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系統實施與授權模式</a:t>
            </a:r>
            <a:endParaRPr lang="en-US" sz="1200" dirty="0"/>
          </a:p>
        </p:txBody>
      </p:sp>
      <p:sp>
        <p:nvSpPr>
          <p:cNvPr id="37" name="Text 8"/>
          <p:cNvSpPr/>
          <p:nvPr/>
        </p:nvSpPr>
        <p:spPr>
          <a:xfrm>
            <a:off x="4724400" y="2809875"/>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訂閱服務與維護合約</a:t>
            </a:r>
            <a:endParaRPr lang="en-US" sz="1200" dirty="0"/>
          </a:p>
        </p:txBody>
      </p:sp>
      <p:sp>
        <p:nvSpPr>
          <p:cNvPr id="38" name="Text 9"/>
          <p:cNvSpPr/>
          <p:nvPr/>
        </p:nvSpPr>
        <p:spPr>
          <a:xfrm>
            <a:off x="4724400" y="3152775"/>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品牌適配器開發服務</a:t>
            </a:r>
            <a:endParaRPr lang="en-US" sz="1200" dirty="0"/>
          </a:p>
        </p:txBody>
      </p:sp>
      <p:sp>
        <p:nvSpPr>
          <p:cNvPr id="39" name="Text 10"/>
          <p:cNvSpPr/>
          <p:nvPr/>
        </p:nvSpPr>
        <p:spPr>
          <a:xfrm>
            <a:off x="4724400" y="3495675"/>
            <a:ext cx="1645920" cy="228600"/>
          </a:xfrm>
          <a:prstGeom prst="rect">
            <a:avLst/>
          </a:prstGeom>
          <a:noFill/>
          <a:ln/>
        </p:spPr>
        <p:txBody>
          <a:bodyPr wrap="square" lIns="0" tIns="0" rIns="0" bIns="0" rtlCol="0" anchor="t" vert="horz"/>
          <a:lstStyle/>
          <a:p>
            <a:pPr algn="l"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技術諮詢與培训服務</a:t>
            </a:r>
            <a:endParaRPr lang="en-US" sz="1200" dirty="0"/>
          </a:p>
        </p:txBody>
      </p:sp>
      <p:sp>
        <p:nvSpPr>
          <p:cNvPr id="40" name="Text 11"/>
          <p:cNvSpPr/>
          <p:nvPr/>
        </p:nvSpPr>
        <p:spPr>
          <a:xfrm>
            <a:off x="4791075" y="5486400"/>
            <a:ext cx="3566160" cy="190500"/>
          </a:xfrm>
          <a:prstGeom prst="rect">
            <a:avLst/>
          </a:prstGeom>
          <a:noFill/>
          <a:ln/>
        </p:spPr>
        <p:txBody>
          <a:bodyPr wrap="square" lIns="0" tIns="0" rIns="0" bIns="0" rtlCol="0" anchor="t" vert="horz"/>
          <a:lstStyle/>
          <a:p>
            <a:pPr indent="0" marL="0">
              <a:lnSpc>
                <a:spcPts val="1500"/>
              </a:lnSpc>
              <a:buNone/>
            </a:pPr>
            <a:r>
              <a:rPr lang="en-US" sz="1050" i="1" dirty="0">
                <a:solidFill>
                  <a:srgbClr val="86EFAC"/>
                </a:solidFill>
                <a:latin typeface="ui-sans-serif" pitchFamily="34" charset="0"/>
                <a:ea typeface="ui-sans-serif" pitchFamily="34" charset="-122"/>
                <a:cs typeface="ui-sans-serif" pitchFamily="34" charset="-120"/>
              </a:rPr>
              <a:t> 與機器人品牌合作，建立生態系結盟</a:t>
            </a:r>
            <a:endParaRPr lang="en-US" sz="1050" dirty="0"/>
          </a:p>
        </p:txBody>
      </p:sp>
      <p:sp>
        <p:nvSpPr>
          <p:cNvPr id="41" name="Text 12"/>
          <p:cNvSpPr/>
          <p:nvPr/>
        </p:nvSpPr>
        <p:spPr>
          <a:xfrm>
            <a:off x="8382000" y="2047875"/>
            <a:ext cx="320040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投資回報分析</a:t>
            </a:r>
            <a:endParaRPr lang="en-US" sz="1500" dirty="0"/>
          </a:p>
        </p:txBody>
      </p:sp>
      <p:sp>
        <p:nvSpPr>
          <p:cNvPr id="42" name="Text 13"/>
          <p:cNvSpPr/>
          <p:nvPr/>
        </p:nvSpPr>
        <p:spPr>
          <a:xfrm>
            <a:off x="8524875" y="2609850"/>
            <a:ext cx="73152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效率提升</a:t>
            </a:r>
            <a:endParaRPr lang="en-US" sz="1200" dirty="0"/>
          </a:p>
        </p:txBody>
      </p:sp>
      <p:sp>
        <p:nvSpPr>
          <p:cNvPr id="43" name="Text 14"/>
          <p:cNvSpPr/>
          <p:nvPr/>
        </p:nvSpPr>
        <p:spPr>
          <a:xfrm>
            <a:off x="11074747" y="2609850"/>
            <a:ext cx="437733" cy="228600"/>
          </a:xfrm>
          <a:prstGeom prst="rect">
            <a:avLst/>
          </a:prstGeom>
          <a:noFill/>
          <a:ln/>
        </p:spPr>
        <p:txBody>
          <a:bodyPr wrap="square" lIns="0" tIns="0" rIns="0" bIns="0" rtlCol="0" anchor="t" vert="horz"/>
          <a:lstStyle/>
          <a:p>
            <a:pPr indent="0" marL="0">
              <a:lnSpc>
                <a:spcPts val="1800"/>
              </a:lnSpc>
              <a:buNone/>
            </a:pPr>
            <a:r>
              <a:rPr lang="en-US" sz="1200" b="1" dirty="0">
                <a:solidFill>
                  <a:srgbClr val="93C5FD"/>
                </a:solidFill>
                <a:latin typeface="ui-sans-serif" pitchFamily="34" charset="0"/>
                <a:ea typeface="ui-sans-serif" pitchFamily="34" charset="-122"/>
                <a:cs typeface="ui-sans-serif" pitchFamily="34" charset="-120"/>
              </a:rPr>
              <a:t>40%</a:t>
            </a:r>
            <a:endParaRPr lang="en-US" sz="1200" dirty="0"/>
          </a:p>
        </p:txBody>
      </p:sp>
      <p:sp>
        <p:nvSpPr>
          <p:cNvPr id="44" name="Text 15"/>
          <p:cNvSpPr/>
          <p:nvPr/>
        </p:nvSpPr>
        <p:spPr>
          <a:xfrm>
            <a:off x="8524875" y="2876550"/>
            <a:ext cx="2914650"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整體配送效率提升</a:t>
            </a:r>
            <a:endParaRPr lang="en-US" sz="1050" dirty="0"/>
          </a:p>
        </p:txBody>
      </p:sp>
      <p:sp>
        <p:nvSpPr>
          <p:cNvPr id="45" name="Text 16"/>
          <p:cNvSpPr/>
          <p:nvPr/>
        </p:nvSpPr>
        <p:spPr>
          <a:xfrm>
            <a:off x="8524875" y="3505200"/>
            <a:ext cx="109728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人工介入減少</a:t>
            </a:r>
            <a:endParaRPr lang="en-US" sz="1200" dirty="0"/>
          </a:p>
        </p:txBody>
      </p:sp>
      <p:sp>
        <p:nvSpPr>
          <p:cNvPr id="46" name="Text 17"/>
          <p:cNvSpPr/>
          <p:nvPr/>
        </p:nvSpPr>
        <p:spPr>
          <a:xfrm>
            <a:off x="11074747" y="3505200"/>
            <a:ext cx="437733" cy="228600"/>
          </a:xfrm>
          <a:prstGeom prst="rect">
            <a:avLst/>
          </a:prstGeom>
          <a:noFill/>
          <a:ln/>
        </p:spPr>
        <p:txBody>
          <a:bodyPr wrap="square" lIns="0" tIns="0" rIns="0" bIns="0" rtlCol="0" anchor="t" vert="horz"/>
          <a:lstStyle/>
          <a:p>
            <a:pPr indent="0" marL="0">
              <a:lnSpc>
                <a:spcPts val="1800"/>
              </a:lnSpc>
              <a:buNone/>
            </a:pPr>
            <a:r>
              <a:rPr lang="en-US" sz="1200" b="1" dirty="0">
                <a:solidFill>
                  <a:srgbClr val="86EFAC"/>
                </a:solidFill>
                <a:latin typeface="ui-sans-serif" pitchFamily="34" charset="0"/>
                <a:ea typeface="ui-sans-serif" pitchFamily="34" charset="-122"/>
                <a:cs typeface="ui-sans-serif" pitchFamily="34" charset="-120"/>
              </a:rPr>
              <a:t>60%</a:t>
            </a:r>
            <a:endParaRPr lang="en-US" sz="1200" dirty="0"/>
          </a:p>
        </p:txBody>
      </p:sp>
      <p:sp>
        <p:nvSpPr>
          <p:cNvPr id="47" name="Text 18"/>
          <p:cNvSpPr/>
          <p:nvPr/>
        </p:nvSpPr>
        <p:spPr>
          <a:xfrm>
            <a:off x="8524875" y="3771900"/>
            <a:ext cx="2914650"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降低運營干預需求</a:t>
            </a:r>
            <a:endParaRPr lang="en-US" sz="1050" dirty="0"/>
          </a:p>
        </p:txBody>
      </p:sp>
      <p:sp>
        <p:nvSpPr>
          <p:cNvPr id="48" name="Text 19"/>
          <p:cNvSpPr/>
          <p:nvPr/>
        </p:nvSpPr>
        <p:spPr>
          <a:xfrm>
            <a:off x="8524875" y="4400550"/>
            <a:ext cx="1097280" cy="228600"/>
          </a:xfrm>
          <a:prstGeom prst="rect">
            <a:avLst/>
          </a:prstGeom>
          <a:noFill/>
          <a:ln/>
        </p:spPr>
        <p:txBody>
          <a:bodyPr wrap="square" lIns="0" tIns="0" rIns="0" bIns="0" rtlCol="0" anchor="t" vert="horz"/>
          <a:lstStyle/>
          <a:p>
            <a:pPr indent="0" marL="0">
              <a:lnSpc>
                <a:spcPts val="1800"/>
              </a:lnSpc>
              <a:buNone/>
            </a:pPr>
            <a:r>
              <a:rPr lang="en-US" sz="1200" dirty="0">
                <a:solidFill>
                  <a:srgbClr val="D1D5DB"/>
                </a:solidFill>
                <a:latin typeface="ui-sans-serif" pitchFamily="34" charset="0"/>
                <a:ea typeface="ui-sans-serif" pitchFamily="34" charset="-122"/>
                <a:cs typeface="ui-sans-serif" pitchFamily="34" charset="-120"/>
              </a:rPr>
              <a:t>卡住事件減少</a:t>
            </a:r>
            <a:endParaRPr lang="en-US" sz="1200" dirty="0"/>
          </a:p>
        </p:txBody>
      </p:sp>
      <p:sp>
        <p:nvSpPr>
          <p:cNvPr id="49" name="Text 20"/>
          <p:cNvSpPr/>
          <p:nvPr/>
        </p:nvSpPr>
        <p:spPr>
          <a:xfrm>
            <a:off x="11074747" y="4400550"/>
            <a:ext cx="437733" cy="228600"/>
          </a:xfrm>
          <a:prstGeom prst="rect">
            <a:avLst/>
          </a:prstGeom>
          <a:noFill/>
          <a:ln/>
        </p:spPr>
        <p:txBody>
          <a:bodyPr wrap="square" lIns="0" tIns="0" rIns="0" bIns="0" rtlCol="0" anchor="t" vert="horz"/>
          <a:lstStyle/>
          <a:p>
            <a:pPr indent="0" marL="0">
              <a:lnSpc>
                <a:spcPts val="1800"/>
              </a:lnSpc>
              <a:buNone/>
            </a:pPr>
            <a:r>
              <a:rPr lang="en-US" sz="1200" b="1" dirty="0">
                <a:solidFill>
                  <a:srgbClr val="D8B4FE"/>
                </a:solidFill>
                <a:latin typeface="ui-sans-serif" pitchFamily="34" charset="0"/>
                <a:ea typeface="ui-sans-serif" pitchFamily="34" charset="-122"/>
                <a:cs typeface="ui-sans-serif" pitchFamily="34" charset="-120"/>
              </a:rPr>
              <a:t>80%</a:t>
            </a:r>
            <a:endParaRPr lang="en-US" sz="1200" dirty="0"/>
          </a:p>
        </p:txBody>
      </p:sp>
      <p:sp>
        <p:nvSpPr>
          <p:cNvPr id="50" name="Text 21"/>
          <p:cNvSpPr/>
          <p:nvPr/>
        </p:nvSpPr>
        <p:spPr>
          <a:xfrm>
            <a:off x="8524875" y="4667250"/>
            <a:ext cx="2914650" cy="190500"/>
          </a:xfrm>
          <a:prstGeom prst="rect">
            <a:avLst/>
          </a:prstGeom>
          <a:noFill/>
          <a:ln/>
        </p:spPr>
        <p:txBody>
          <a:bodyPr wrap="square" lIns="0" tIns="0" rIns="0" bIns="0" rtlCol="0" anchor="t" vert="horz"/>
          <a:lstStyle/>
          <a:p>
            <a:pPr indent="0" marL="0">
              <a:lnSpc>
                <a:spcPts val="1500"/>
              </a:lnSpc>
              <a:buNone/>
            </a:pPr>
            <a:r>
              <a:rPr lang="en-US" sz="1050" dirty="0">
                <a:solidFill>
                  <a:srgbClr val="9CA3AF"/>
                </a:solidFill>
                <a:latin typeface="ui-sans-serif" pitchFamily="34" charset="0"/>
                <a:ea typeface="ui-sans-serif" pitchFamily="34" charset="-122"/>
                <a:cs typeface="ui-sans-serif" pitchFamily="34" charset="-120"/>
              </a:rPr>
              <a:t>走廊卡住事件減少</a:t>
            </a:r>
            <a:endParaRPr lang="en-US" sz="1050" dirty="0"/>
          </a:p>
        </p:txBody>
      </p:sp>
      <p:sp>
        <p:nvSpPr>
          <p:cNvPr id="51" name="Text 22"/>
          <p:cNvSpPr/>
          <p:nvPr/>
        </p:nvSpPr>
        <p:spPr>
          <a:xfrm>
            <a:off x="8677275" y="5486400"/>
            <a:ext cx="3566160" cy="190500"/>
          </a:xfrm>
          <a:prstGeom prst="rect">
            <a:avLst/>
          </a:prstGeom>
          <a:noFill/>
          <a:ln/>
        </p:spPr>
        <p:txBody>
          <a:bodyPr wrap="square" lIns="0" tIns="0" rIns="0" bIns="0" rtlCol="0" anchor="t" vert="horz"/>
          <a:lstStyle/>
          <a:p>
            <a:pPr indent="0" marL="0">
              <a:lnSpc>
                <a:spcPts val="1500"/>
              </a:lnSpc>
              <a:buNone/>
            </a:pPr>
            <a:r>
              <a:rPr lang="en-US" sz="1050" i="1" dirty="0">
                <a:solidFill>
                  <a:srgbClr val="D8B4FE"/>
                </a:solidFill>
                <a:latin typeface="ui-sans-serif" pitchFamily="34" charset="0"/>
                <a:ea typeface="ui-sans-serif" pitchFamily="34" charset="-122"/>
                <a:cs typeface="ui-sans-serif" pitchFamily="34" charset="-120"/>
              </a:rPr>
              <a:t> 無需更換現有設備，降低總體擁有成本</a:t>
            </a:r>
            <a:endParaRPr lang="en-US" sz="1050" dirty="0"/>
          </a:p>
        </p:txBody>
      </p:sp>
      <p:sp>
        <p:nvSpPr>
          <p:cNvPr id="52" name="Text 23"/>
          <p:cNvSpPr/>
          <p:nvPr/>
        </p:nvSpPr>
        <p:spPr>
          <a:xfrm>
            <a:off x="381000" y="62484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53" name="Text 24"/>
          <p:cNvSpPr/>
          <p:nvPr/>
        </p:nvSpPr>
        <p:spPr>
          <a:xfrm>
            <a:off x="11274921" y="62484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228600" y="685800"/>
            <a:ext cx="914400" cy="38100"/>
          </a:xfrm>
          <a:prstGeom prst="rect">
            <a:avLst/>
          </a:prstGeom>
        </p:spPr>
      </p:pic>
      <p:pic>
        <p:nvPicPr>
          <p:cNvPr id="4" name="Image 2" descr="preencoded.png">    </p:cNvPr>
          <p:cNvPicPr>
            <a:picLocks noChangeAspect="1"/>
          </p:cNvPicPr>
          <p:nvPr/>
        </p:nvPicPr>
        <p:blipFill>
          <a:blip r:embed="rId3"/>
          <a:stretch>
            <a:fillRect/>
          </a:stretch>
        </p:blipFill>
        <p:spPr>
          <a:xfrm>
            <a:off x="228600" y="1295400"/>
            <a:ext cx="3810000" cy="1352550"/>
          </a:xfrm>
          <a:prstGeom prst="rect">
            <a:avLst/>
          </a:prstGeom>
        </p:spPr>
      </p:pic>
      <p:pic>
        <p:nvPicPr>
          <p:cNvPr id="5" name="Image 3" descr="preencoded.png">    </p:cNvPr>
          <p:cNvPicPr>
            <a:picLocks noChangeAspect="1"/>
          </p:cNvPicPr>
          <p:nvPr/>
        </p:nvPicPr>
        <p:blipFill>
          <a:blip r:embed="rId4"/>
          <a:stretch>
            <a:fillRect/>
          </a:stretch>
        </p:blipFill>
        <p:spPr>
          <a:xfrm>
            <a:off x="1895475" y="1438275"/>
            <a:ext cx="476250" cy="476250"/>
          </a:xfrm>
          <a:prstGeom prst="rect">
            <a:avLst/>
          </a:prstGeom>
        </p:spPr>
      </p:pic>
      <p:pic>
        <p:nvPicPr>
          <p:cNvPr id="6" name="Image 4" descr="preencoded.png">    </p:cNvPr>
          <p:cNvPicPr>
            <a:picLocks noChangeAspect="1"/>
          </p:cNvPicPr>
          <p:nvPr/>
        </p:nvPicPr>
        <p:blipFill>
          <a:blip r:embed="rId5"/>
          <a:stretch>
            <a:fillRect/>
          </a:stretch>
        </p:blipFill>
        <p:spPr>
          <a:xfrm>
            <a:off x="2014538" y="1543050"/>
            <a:ext cx="238125" cy="266700"/>
          </a:xfrm>
          <a:prstGeom prst="rect">
            <a:avLst/>
          </a:prstGeom>
        </p:spPr>
      </p:pic>
      <p:pic>
        <p:nvPicPr>
          <p:cNvPr id="7" name="Image 5" descr="preencoded.png">    </p:cNvPr>
          <p:cNvPicPr>
            <a:picLocks noChangeAspect="1"/>
          </p:cNvPicPr>
          <p:nvPr/>
        </p:nvPicPr>
        <p:blipFill>
          <a:blip r:embed="rId6"/>
          <a:stretch>
            <a:fillRect/>
          </a:stretch>
        </p:blipFill>
        <p:spPr>
          <a:xfrm>
            <a:off x="4191000" y="1295400"/>
            <a:ext cx="3810000" cy="1352550"/>
          </a:xfrm>
          <a:prstGeom prst="rect">
            <a:avLst/>
          </a:prstGeom>
        </p:spPr>
      </p:pic>
      <p:pic>
        <p:nvPicPr>
          <p:cNvPr id="8" name="Image 6" descr="preencoded.png">    </p:cNvPr>
          <p:cNvPicPr>
            <a:picLocks noChangeAspect="1"/>
          </p:cNvPicPr>
          <p:nvPr/>
        </p:nvPicPr>
        <p:blipFill>
          <a:blip r:embed="rId7"/>
          <a:stretch>
            <a:fillRect/>
          </a:stretch>
        </p:blipFill>
        <p:spPr>
          <a:xfrm>
            <a:off x="5857875" y="1438275"/>
            <a:ext cx="476250" cy="476250"/>
          </a:xfrm>
          <a:prstGeom prst="rect">
            <a:avLst/>
          </a:prstGeom>
        </p:spPr>
      </p:pic>
      <p:pic>
        <p:nvPicPr>
          <p:cNvPr id="9" name="Image 7" descr="preencoded.png">    </p:cNvPr>
          <p:cNvPicPr>
            <a:picLocks noChangeAspect="1"/>
          </p:cNvPicPr>
          <p:nvPr/>
        </p:nvPicPr>
        <p:blipFill>
          <a:blip r:embed="rId8"/>
          <a:stretch>
            <a:fillRect/>
          </a:stretch>
        </p:blipFill>
        <p:spPr>
          <a:xfrm>
            <a:off x="6000750" y="1543050"/>
            <a:ext cx="190500" cy="266700"/>
          </a:xfrm>
          <a:prstGeom prst="rect">
            <a:avLst/>
          </a:prstGeom>
        </p:spPr>
      </p:pic>
      <p:pic>
        <p:nvPicPr>
          <p:cNvPr id="10" name="Image 8" descr="preencoded.png">    </p:cNvPr>
          <p:cNvPicPr>
            <a:picLocks noChangeAspect="1"/>
          </p:cNvPicPr>
          <p:nvPr/>
        </p:nvPicPr>
        <p:blipFill>
          <a:blip r:embed="rId9"/>
          <a:stretch>
            <a:fillRect/>
          </a:stretch>
        </p:blipFill>
        <p:spPr>
          <a:xfrm>
            <a:off x="8153400" y="1295400"/>
            <a:ext cx="3810000" cy="1352550"/>
          </a:xfrm>
          <a:prstGeom prst="rect">
            <a:avLst/>
          </a:prstGeom>
        </p:spPr>
      </p:pic>
      <p:pic>
        <p:nvPicPr>
          <p:cNvPr id="11" name="Image 9" descr="preencoded.png">    </p:cNvPr>
          <p:cNvPicPr>
            <a:picLocks noChangeAspect="1"/>
          </p:cNvPicPr>
          <p:nvPr/>
        </p:nvPicPr>
        <p:blipFill>
          <a:blip r:embed="rId10"/>
          <a:stretch>
            <a:fillRect/>
          </a:stretch>
        </p:blipFill>
        <p:spPr>
          <a:xfrm>
            <a:off x="9820275" y="1438275"/>
            <a:ext cx="476250" cy="476250"/>
          </a:xfrm>
          <a:prstGeom prst="rect">
            <a:avLst/>
          </a:prstGeom>
        </p:spPr>
      </p:pic>
      <p:pic>
        <p:nvPicPr>
          <p:cNvPr id="12" name="Image 10" descr="preencoded.png">    </p:cNvPr>
          <p:cNvPicPr>
            <a:picLocks noChangeAspect="1"/>
          </p:cNvPicPr>
          <p:nvPr/>
        </p:nvPicPr>
        <p:blipFill>
          <a:blip r:embed="rId11"/>
          <a:stretch>
            <a:fillRect/>
          </a:stretch>
        </p:blipFill>
        <p:spPr>
          <a:xfrm>
            <a:off x="9963150" y="1543050"/>
            <a:ext cx="190500" cy="266700"/>
          </a:xfrm>
          <a:prstGeom prst="rect">
            <a:avLst/>
          </a:prstGeom>
        </p:spPr>
      </p:pic>
      <p:pic>
        <p:nvPicPr>
          <p:cNvPr id="13" name="Image 11" descr="preencoded.png">    </p:cNvPr>
          <p:cNvPicPr>
            <a:picLocks noChangeAspect="1"/>
          </p:cNvPicPr>
          <p:nvPr/>
        </p:nvPicPr>
        <p:blipFill>
          <a:blip r:embed="rId12"/>
          <a:stretch>
            <a:fillRect/>
          </a:stretch>
        </p:blipFill>
        <p:spPr>
          <a:xfrm>
            <a:off x="228600" y="2838450"/>
            <a:ext cx="11734800" cy="2743200"/>
          </a:xfrm>
          <a:prstGeom prst="rect">
            <a:avLst/>
          </a:prstGeom>
        </p:spPr>
      </p:pic>
      <p:pic>
        <p:nvPicPr>
          <p:cNvPr id="14" name="Image 12" descr="preencoded.png">    </p:cNvPr>
          <p:cNvPicPr>
            <a:picLocks noChangeAspect="1"/>
          </p:cNvPicPr>
          <p:nvPr/>
        </p:nvPicPr>
        <p:blipFill>
          <a:blip r:embed="rId13"/>
          <a:stretch>
            <a:fillRect/>
          </a:stretch>
        </p:blipFill>
        <p:spPr>
          <a:xfrm>
            <a:off x="10139363" y="3409950"/>
            <a:ext cx="428625" cy="381000"/>
          </a:xfrm>
          <a:prstGeom prst="rect">
            <a:avLst/>
          </a:prstGeom>
        </p:spPr>
      </p:pic>
      <p:pic>
        <p:nvPicPr>
          <p:cNvPr id="15" name="Image 13" descr="preencoded.png">    </p:cNvPr>
          <p:cNvPicPr>
            <a:picLocks noChangeAspect="1"/>
          </p:cNvPicPr>
          <p:nvPr/>
        </p:nvPicPr>
        <p:blipFill>
          <a:blip r:embed="rId14"/>
          <a:stretch>
            <a:fillRect/>
          </a:stretch>
        </p:blipFill>
        <p:spPr>
          <a:xfrm>
            <a:off x="10272713" y="3867150"/>
            <a:ext cx="161925" cy="266700"/>
          </a:xfrm>
          <a:prstGeom prst="rect">
            <a:avLst/>
          </a:prstGeom>
        </p:spPr>
      </p:pic>
      <p:pic>
        <p:nvPicPr>
          <p:cNvPr id="16" name="Image 14" descr="preencoded.png">    </p:cNvPr>
          <p:cNvPicPr>
            <a:picLocks noChangeAspect="1"/>
          </p:cNvPicPr>
          <p:nvPr/>
        </p:nvPicPr>
        <p:blipFill>
          <a:blip r:embed="rId15"/>
          <a:stretch>
            <a:fillRect/>
          </a:stretch>
        </p:blipFill>
        <p:spPr>
          <a:xfrm>
            <a:off x="10139363" y="4210050"/>
            <a:ext cx="428625" cy="381000"/>
          </a:xfrm>
          <a:prstGeom prst="rect">
            <a:avLst/>
          </a:prstGeom>
        </p:spPr>
      </p:pic>
      <p:pic>
        <p:nvPicPr>
          <p:cNvPr id="17" name="Image 15" descr="preencoded.png">    </p:cNvPr>
          <p:cNvPicPr>
            <a:picLocks noChangeAspect="1"/>
          </p:cNvPicPr>
          <p:nvPr/>
        </p:nvPicPr>
        <p:blipFill>
          <a:blip r:embed="rId16"/>
          <a:stretch>
            <a:fillRect/>
          </a:stretch>
        </p:blipFill>
        <p:spPr>
          <a:xfrm>
            <a:off x="10272713" y="4667250"/>
            <a:ext cx="161925" cy="266700"/>
          </a:xfrm>
          <a:prstGeom prst="rect">
            <a:avLst/>
          </a:prstGeom>
        </p:spPr>
      </p:pic>
      <p:pic>
        <p:nvPicPr>
          <p:cNvPr id="18" name="Image 16" descr="preencoded.png">    </p:cNvPr>
          <p:cNvPicPr>
            <a:picLocks noChangeAspect="1"/>
          </p:cNvPicPr>
          <p:nvPr/>
        </p:nvPicPr>
        <p:blipFill>
          <a:blip r:embed="rId17"/>
          <a:stretch>
            <a:fillRect/>
          </a:stretch>
        </p:blipFill>
        <p:spPr>
          <a:xfrm>
            <a:off x="10139363" y="5010150"/>
            <a:ext cx="428625" cy="381000"/>
          </a:xfrm>
          <a:prstGeom prst="rect">
            <a:avLst/>
          </a:prstGeom>
        </p:spPr>
      </p:pic>
      <p:pic>
        <p:nvPicPr>
          <p:cNvPr id="19" name="Image 17" descr="preencoded.png">    </p:cNvPr>
          <p:cNvPicPr>
            <a:picLocks noChangeAspect="1"/>
          </p:cNvPicPr>
          <p:nvPr/>
        </p:nvPicPr>
        <p:blipFill>
          <a:blip r:embed="rId18"/>
          <a:stretch>
            <a:fillRect/>
          </a:stretch>
        </p:blipFill>
        <p:spPr>
          <a:xfrm>
            <a:off x="1964043" y="2620651"/>
            <a:ext cx="834414" cy="492748"/>
          </a:xfrm>
          <a:prstGeom prst="rect">
            <a:avLst/>
          </a:prstGeom>
        </p:spPr>
      </p:pic>
      <p:pic>
        <p:nvPicPr>
          <p:cNvPr id="20" name="Image 18" descr="preencoded.png">    </p:cNvPr>
          <p:cNvPicPr>
            <a:picLocks noChangeAspect="1"/>
          </p:cNvPicPr>
          <p:nvPr/>
        </p:nvPicPr>
        <p:blipFill>
          <a:blip r:embed="rId19"/>
          <a:stretch>
            <a:fillRect/>
          </a:stretch>
        </p:blipFill>
        <p:spPr>
          <a:xfrm>
            <a:off x="9393543" y="2620651"/>
            <a:ext cx="834414" cy="492748"/>
          </a:xfrm>
          <a:prstGeom prst="rect">
            <a:avLst/>
          </a:prstGeom>
        </p:spPr>
      </p:pic>
      <p:sp>
        <p:nvSpPr>
          <p:cNvPr id="21" name="Text 0"/>
          <p:cNvSpPr/>
          <p:nvPr/>
        </p:nvSpPr>
        <p:spPr>
          <a:xfrm>
            <a:off x="228600" y="228600"/>
            <a:ext cx="11734800" cy="381000"/>
          </a:xfrm>
          <a:prstGeom prst="rect">
            <a:avLst/>
          </a:prstGeom>
          <a:noFill/>
          <a:ln/>
        </p:spPr>
        <p:txBody>
          <a:bodyPr wrap="square" lIns="0" tIns="0" rIns="0" bIns="0" rtlCol="0" anchor="t" vert="horz"/>
          <a:lstStyle/>
          <a:p>
            <a:pPr indent="0" marL="0">
              <a:lnSpc>
                <a:spcPts val="3000"/>
              </a:lnSpc>
              <a:buNone/>
            </a:pPr>
            <a:r>
              <a:rPr lang="en-US" sz="2700" b="1" dirty="0">
                <a:solidFill>
                  <a:srgbClr val="FFFFFF"/>
                </a:solidFill>
                <a:latin typeface="ui-sans-serif" pitchFamily="34" charset="0"/>
                <a:ea typeface="ui-sans-serif" pitchFamily="34" charset="-122"/>
                <a:cs typeface="ui-sans-serif" pitchFamily="34" charset="-120"/>
              </a:rPr>
              <a:t>總結與願景</a:t>
            </a:r>
            <a:endParaRPr lang="en-US" sz="2700" dirty="0"/>
          </a:p>
        </p:txBody>
      </p:sp>
      <p:sp>
        <p:nvSpPr>
          <p:cNvPr id="22" name="Text 1"/>
          <p:cNvSpPr/>
          <p:nvPr/>
        </p:nvSpPr>
        <p:spPr>
          <a:xfrm>
            <a:off x="228600" y="876300"/>
            <a:ext cx="117348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核心價值主張</a:t>
            </a:r>
            <a:endParaRPr lang="en-US" sz="1800" dirty="0"/>
          </a:p>
        </p:txBody>
      </p:sp>
      <p:sp>
        <p:nvSpPr>
          <p:cNvPr id="23" name="Text 2"/>
          <p:cNvSpPr/>
          <p:nvPr/>
        </p:nvSpPr>
        <p:spPr>
          <a:xfrm>
            <a:off x="371475" y="2009775"/>
            <a:ext cx="352425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打破品牌壁壘</a:t>
            </a:r>
            <a:endParaRPr lang="en-US" sz="1500" dirty="0"/>
          </a:p>
        </p:txBody>
      </p:sp>
      <p:sp>
        <p:nvSpPr>
          <p:cNvPr id="24" name="Text 3"/>
          <p:cNvSpPr/>
          <p:nvPr/>
        </p:nvSpPr>
        <p:spPr>
          <a:xfrm>
            <a:off x="19050" y="2314575"/>
            <a:ext cx="42291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實現不同品牌AGV之間的無縫協作</a:t>
            </a:r>
            <a:endParaRPr lang="en-US" sz="1050" dirty="0"/>
          </a:p>
        </p:txBody>
      </p:sp>
      <p:sp>
        <p:nvSpPr>
          <p:cNvPr id="25" name="Text 4"/>
          <p:cNvSpPr/>
          <p:nvPr/>
        </p:nvSpPr>
        <p:spPr>
          <a:xfrm>
            <a:off x="4333875" y="2009775"/>
            <a:ext cx="352425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智慧協同機制</a:t>
            </a:r>
            <a:endParaRPr lang="en-US" sz="1500" dirty="0"/>
          </a:p>
        </p:txBody>
      </p:sp>
      <p:sp>
        <p:nvSpPr>
          <p:cNvPr id="26" name="Text 5"/>
          <p:cNvSpPr/>
          <p:nvPr/>
        </p:nvSpPr>
        <p:spPr>
          <a:xfrm>
            <a:off x="4333875" y="2314575"/>
            <a:ext cx="352425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解決多機器人衝突問題</a:t>
            </a:r>
            <a:endParaRPr lang="en-US" sz="1050" dirty="0"/>
          </a:p>
        </p:txBody>
      </p:sp>
      <p:sp>
        <p:nvSpPr>
          <p:cNvPr id="27" name="Text 6"/>
          <p:cNvSpPr/>
          <p:nvPr/>
        </p:nvSpPr>
        <p:spPr>
          <a:xfrm>
            <a:off x="8296275" y="2009775"/>
            <a:ext cx="3524250" cy="266700"/>
          </a:xfrm>
          <a:prstGeom prst="rect">
            <a:avLst/>
          </a:prstGeom>
          <a:noFill/>
          <a:ln/>
        </p:spPr>
        <p:txBody>
          <a:bodyPr wrap="square" lIns="0" tIns="0" rIns="0" bIns="0" rtlCol="0" anchor="t" vert="horz"/>
          <a:lstStyle/>
          <a:p>
            <a:pPr algn="ctr" indent="0" marL="0">
              <a:lnSpc>
                <a:spcPts val="2100"/>
              </a:lnSpc>
              <a:buNone/>
            </a:pPr>
            <a:r>
              <a:rPr lang="en-US" sz="1500" b="1" dirty="0">
                <a:solidFill>
                  <a:srgbClr val="FFFFFF"/>
                </a:solidFill>
                <a:latin typeface="ui-sans-serif" pitchFamily="34" charset="0"/>
                <a:ea typeface="ui-sans-serif" pitchFamily="34" charset="-122"/>
                <a:cs typeface="ui-sans-serif" pitchFamily="34" charset="-120"/>
              </a:rPr>
              <a:t>提升整體效率</a:t>
            </a:r>
            <a:endParaRPr lang="en-US" sz="1500" dirty="0"/>
          </a:p>
        </p:txBody>
      </p:sp>
      <p:sp>
        <p:nvSpPr>
          <p:cNvPr id="28" name="Text 7"/>
          <p:cNvSpPr/>
          <p:nvPr/>
        </p:nvSpPr>
        <p:spPr>
          <a:xfrm>
            <a:off x="7943850" y="2314575"/>
            <a:ext cx="4229100" cy="190500"/>
          </a:xfrm>
          <a:prstGeom prst="rect">
            <a:avLst/>
          </a:prstGeom>
          <a:noFill/>
          <a:ln/>
        </p:spPr>
        <p:txBody>
          <a:bodyPr wrap="square" lIns="0" tIns="0" rIns="0" bIns="0" rtlCol="0" anchor="t" vert="horz"/>
          <a:lstStyle/>
          <a:p>
            <a:pPr algn="ctr" indent="0" marL="0">
              <a:lnSpc>
                <a:spcPts val="1500"/>
              </a:lnSpc>
              <a:buNone/>
            </a:pPr>
            <a:r>
              <a:rPr lang="en-US" sz="1050" dirty="0">
                <a:solidFill>
                  <a:srgbClr val="D1D5DB"/>
                </a:solidFill>
                <a:latin typeface="ui-sans-serif" pitchFamily="34" charset="0"/>
                <a:ea typeface="ui-sans-serif" pitchFamily="34" charset="-122"/>
                <a:cs typeface="ui-sans-serif" pitchFamily="34" charset="-120"/>
              </a:rPr>
              <a:t>減少走廊卡住事件，降低人工介入需求</a:t>
            </a:r>
            <a:endParaRPr lang="en-US" sz="1050" dirty="0"/>
          </a:p>
        </p:txBody>
      </p:sp>
      <p:sp>
        <p:nvSpPr>
          <p:cNvPr id="29" name="Text 8"/>
          <p:cNvSpPr/>
          <p:nvPr/>
        </p:nvSpPr>
        <p:spPr>
          <a:xfrm>
            <a:off x="419100" y="3028950"/>
            <a:ext cx="11353800" cy="304800"/>
          </a:xfrm>
          <a:prstGeom prst="rect">
            <a:avLst/>
          </a:prstGeom>
          <a:noFill/>
          <a:ln/>
        </p:spPr>
        <p:txBody>
          <a:bodyPr wrap="square" lIns="0" tIns="0" rIns="0" bIns="0" rtlCol="0" anchor="t" vert="horz"/>
          <a:lstStyle/>
          <a:p>
            <a:pPr indent="0" marL="0">
              <a:lnSpc>
                <a:spcPts val="2400"/>
              </a:lnSpc>
              <a:buNone/>
            </a:pPr>
            <a:r>
              <a:rPr lang="en-US" sz="1800" b="1" dirty="0">
                <a:solidFill>
                  <a:srgbClr val="FFFFFF"/>
                </a:solidFill>
                <a:latin typeface="ui-sans-serif" pitchFamily="34" charset="0"/>
                <a:ea typeface="ui-sans-serif" pitchFamily="34" charset="-122"/>
                <a:cs typeface="ui-sans-serif" pitchFamily="34" charset="-120"/>
              </a:rPr>
              <a:t>未來願景</a:t>
            </a:r>
            <a:endParaRPr lang="en-US" sz="1800" dirty="0"/>
          </a:p>
        </p:txBody>
      </p:sp>
      <p:sp>
        <p:nvSpPr>
          <p:cNvPr id="30" name="Text 9"/>
          <p:cNvSpPr/>
          <p:nvPr/>
        </p:nvSpPr>
        <p:spPr>
          <a:xfrm>
            <a:off x="419100" y="4261247"/>
            <a:ext cx="10218420" cy="278606"/>
          </a:xfrm>
          <a:prstGeom prst="rect">
            <a:avLst/>
          </a:prstGeom>
          <a:noFill/>
          <a:ln/>
        </p:spPr>
        <p:txBody>
          <a:bodyPr wrap="square" lIns="0" tIns="0" rIns="0" bIns="0" rtlCol="0" anchor="t" vert="horz"/>
          <a:lstStyle/>
          <a:p>
            <a:pPr indent="0" marL="0">
              <a:lnSpc>
                <a:spcPts val="2194"/>
              </a:lnSpc>
              <a:buNone/>
            </a:pPr>
            <a:r>
              <a:rPr lang="en-US" sz="1350" dirty="0">
                <a:solidFill>
                  <a:srgbClr val="E5E7EB"/>
                </a:solidFill>
                <a:latin typeface="ui-sans-serif" pitchFamily="34" charset="0"/>
                <a:ea typeface="ui-sans-serif" pitchFamily="34" charset="-122"/>
                <a:cs typeface="ui-sans-serif" pitchFamily="34" charset="-120"/>
              </a:rPr>
              <a:t>從「單一品牌競爭」到「多品牌協同」的範式轉移。建立開放標準，促進行業互聯互通。</a:t>
            </a:r>
            <a:endParaRPr lang="en-US" sz="1350" dirty="0"/>
          </a:p>
        </p:txBody>
      </p:sp>
      <p:sp>
        <p:nvSpPr>
          <p:cNvPr id="31" name="Text 10"/>
          <p:cNvSpPr/>
          <p:nvPr/>
        </p:nvSpPr>
        <p:spPr>
          <a:xfrm>
            <a:off x="228600" y="6400800"/>
            <a:ext cx="1727002"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AGV 跨品牌協同系统</a:t>
            </a:r>
            <a:endParaRPr lang="en-US" sz="1200" dirty="0"/>
          </a:p>
        </p:txBody>
      </p:sp>
      <p:sp>
        <p:nvSpPr>
          <p:cNvPr id="32" name="Text 11"/>
          <p:cNvSpPr/>
          <p:nvPr/>
        </p:nvSpPr>
        <p:spPr>
          <a:xfrm>
            <a:off x="11427321" y="6400800"/>
            <a:ext cx="643295" cy="228600"/>
          </a:xfrm>
          <a:prstGeom prst="rect">
            <a:avLst/>
          </a:prstGeom>
          <a:noFill/>
          <a:ln/>
        </p:spPr>
        <p:txBody>
          <a:bodyPr wrap="square" lIns="0" tIns="0" rIns="0" bIns="0" rtlCol="0" anchor="t" vert="horz"/>
          <a:lstStyle/>
          <a:p>
            <a:pPr indent="0" marL="0">
              <a:lnSpc>
                <a:spcPts val="1800"/>
              </a:lnSpc>
              <a:buNone/>
            </a:pPr>
            <a:r>
              <a:rPr lang="en-US" sz="1200" dirty="0">
                <a:solidFill>
                  <a:srgbClr val="9CA3AF"/>
                </a:solidFill>
                <a:latin typeface="ui-sans-serif" pitchFamily="34" charset="0"/>
                <a:ea typeface="ui-sans-serif" pitchFamily="34" charset="-122"/>
                <a:cs typeface="ui-sans-serif" pitchFamily="34" charset="-120"/>
              </a:rPr>
              <a:t>16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2025-12-06T09:17:45Z</dcterms:created>
  <dcterms:modified xsi:type="dcterms:W3CDTF">2025-12-06T09:17:45Z</dcterms:modified>
</cp:coreProperties>
</file>